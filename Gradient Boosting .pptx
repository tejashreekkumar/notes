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004" y="882141"/>
            <a:ext cx="5608320" cy="741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2004" y="3743070"/>
            <a:ext cx="4109085" cy="2677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830" rIns="0" bIns="0" rtlCol="0" vert="horz">
            <a:spAutoFit/>
          </a:bodyPr>
          <a:lstStyle/>
          <a:p>
            <a:pPr marL="12700" marR="5080">
              <a:lnSpc>
                <a:spcPts val="2760"/>
              </a:lnSpc>
              <a:spcBef>
                <a:spcPts val="290"/>
              </a:spcBef>
            </a:pPr>
            <a:r>
              <a:rPr dirty="0"/>
              <a:t>Gradient</a:t>
            </a:r>
            <a:r>
              <a:rPr dirty="0" spc="-55"/>
              <a:t> </a:t>
            </a:r>
            <a:r>
              <a:rPr dirty="0"/>
              <a:t>Boosting</a:t>
            </a:r>
            <a:r>
              <a:rPr dirty="0" spc="-55"/>
              <a:t> </a:t>
            </a:r>
            <a:r>
              <a:rPr dirty="0"/>
              <a:t>Explained</a:t>
            </a:r>
            <a:r>
              <a:rPr dirty="0" spc="-60"/>
              <a:t> </a:t>
            </a:r>
            <a:r>
              <a:rPr dirty="0"/>
              <a:t>from</a:t>
            </a:r>
            <a:r>
              <a:rPr dirty="0" spc="-60"/>
              <a:t> </a:t>
            </a:r>
            <a:r>
              <a:rPr dirty="0" spc="-10"/>
              <a:t>Scratch </a:t>
            </a:r>
            <a:r>
              <a:rPr dirty="0"/>
              <a:t>(with</a:t>
            </a:r>
            <a:r>
              <a:rPr dirty="0" spc="-45"/>
              <a:t> </a:t>
            </a:r>
            <a:r>
              <a:rPr dirty="0"/>
              <a:t>Problem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 spc="-10"/>
              <a:t>Example)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770633"/>
            <a:ext cx="5211445" cy="1793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Gradient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Boosting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most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powerful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machine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learning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algorithms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for: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410"/>
              </a:lnSpc>
              <a:spcBef>
                <a:spcPts val="133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Classification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(Yes/No,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Spam/Not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Spam)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410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Regression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(Predicting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prices,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marks,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etc.)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200">
                <a:latin typeface="Times New Roman"/>
                <a:cs typeface="Times New Roman"/>
              </a:rPr>
              <a:t>Popular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algorithms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Gradient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Boosting: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410"/>
              </a:lnSpc>
              <a:spcBef>
                <a:spcPts val="134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XGBoost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380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LightGBM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410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CatBoost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14400" y="3854449"/>
            <a:ext cx="5733415" cy="20320"/>
            <a:chOff x="914400" y="3854449"/>
            <a:chExt cx="5733415" cy="20320"/>
          </a:xfrm>
        </p:grpSpPr>
        <p:sp>
          <p:nvSpPr>
            <p:cNvPr id="5" name="object 5"/>
            <p:cNvSpPr/>
            <p:nvPr/>
          </p:nvSpPr>
          <p:spPr>
            <a:xfrm>
              <a:off x="914400" y="3854449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5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644385" y="385483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14704" y="3854842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644385" y="385787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14704" y="387159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14704" y="3871594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29605" y="3048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02004" y="4052442"/>
            <a:ext cx="4791710" cy="746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Why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do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we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need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Gradient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Boosting?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1200">
                <a:latin typeface="Times New Roman"/>
                <a:cs typeface="Times New Roman"/>
              </a:rPr>
              <a:t>Suppose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want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predict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House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Prices</a:t>
            </a:r>
            <a:r>
              <a:rPr dirty="0" sz="1200" spc="-1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911910" y="5000709"/>
          <a:ext cx="2179955" cy="10210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7865"/>
                <a:gridCol w="1405890"/>
              </a:tblGrid>
              <a:tr h="190500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(sqft)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1310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Actual</a:t>
                      </a:r>
                      <a:r>
                        <a:rPr dirty="0" sz="12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Price</a:t>
                      </a:r>
                      <a:r>
                        <a:rPr dirty="0" sz="12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(Lakhs)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1000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20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27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1200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1500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30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191135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1800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40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902004" y="6206108"/>
            <a:ext cx="5633720" cy="111252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dirty="0" sz="1200">
                <a:latin typeface="Times New Roman"/>
                <a:cs typeface="Times New Roman"/>
              </a:rPr>
              <a:t>Instead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creating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big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Gradient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Boosting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builds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small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Decision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one </a:t>
            </a:r>
            <a:r>
              <a:rPr dirty="0" sz="1200">
                <a:latin typeface="Times New Roman"/>
                <a:cs typeface="Times New Roman"/>
              </a:rPr>
              <a:t>after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another.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1350" b="1">
                <a:latin typeface="Times New Roman"/>
                <a:cs typeface="Times New Roman"/>
              </a:rPr>
              <a:t>Main</a:t>
            </a:r>
            <a:r>
              <a:rPr dirty="0" sz="1350" spc="-30" b="1">
                <a:latin typeface="Times New Roman"/>
                <a:cs typeface="Times New Roman"/>
              </a:rPr>
              <a:t> </a:t>
            </a:r>
            <a:r>
              <a:rPr dirty="0" sz="1350" spc="-20" b="1">
                <a:latin typeface="Times New Roman"/>
                <a:cs typeface="Times New Roman"/>
              </a:rPr>
              <a:t>Idea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200">
                <a:latin typeface="Times New Roman"/>
                <a:cs typeface="Times New Roman"/>
              </a:rPr>
              <a:t>Each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new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tries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correct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mistakes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previous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trees.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14400" y="7609204"/>
            <a:ext cx="5733415" cy="20955"/>
            <a:chOff x="914400" y="7609204"/>
            <a:chExt cx="5733415" cy="20955"/>
          </a:xfrm>
        </p:grpSpPr>
        <p:sp>
          <p:nvSpPr>
            <p:cNvPr id="15" name="object 15"/>
            <p:cNvSpPr/>
            <p:nvPr/>
          </p:nvSpPr>
          <p:spPr>
            <a:xfrm>
              <a:off x="914400" y="760920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644385" y="761022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14704" y="7610233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644385" y="761326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14704" y="762698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14704" y="7626997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902004" y="7807832"/>
            <a:ext cx="2787650" cy="1825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Times New Roman"/>
                <a:cs typeface="Times New Roman"/>
              </a:rPr>
              <a:t>Real-</a:t>
            </a:r>
            <a:r>
              <a:rPr dirty="0" sz="2400" b="1">
                <a:latin typeface="Times New Roman"/>
                <a:cs typeface="Times New Roman"/>
              </a:rPr>
              <a:t>Life</a:t>
            </a:r>
            <a:r>
              <a:rPr dirty="0" sz="2400" spc="-9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Analogy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200">
                <a:latin typeface="Times New Roman"/>
                <a:cs typeface="Times New Roman"/>
              </a:rPr>
              <a:t>Imagine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you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teaching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student.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350" b="1">
                <a:latin typeface="Times New Roman"/>
                <a:cs typeface="Times New Roman"/>
              </a:rPr>
              <a:t>Test</a:t>
            </a:r>
            <a:r>
              <a:rPr dirty="0" sz="1350" spc="-5" b="1">
                <a:latin typeface="Times New Roman"/>
                <a:cs typeface="Times New Roman"/>
              </a:rPr>
              <a:t> </a:t>
            </a:r>
            <a:r>
              <a:rPr dirty="0" sz="1350" spc="-50" b="1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200">
                <a:latin typeface="Times New Roman"/>
                <a:cs typeface="Times New Roman"/>
              </a:rPr>
              <a:t>Student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scores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=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40/100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200">
                <a:latin typeface="Times New Roman"/>
                <a:cs typeface="Times New Roman"/>
              </a:rPr>
              <a:t>You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identify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mistakes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teach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those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topics.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507"/>
            <a:ext cx="2822575" cy="3453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latin typeface="Times New Roman"/>
                <a:cs typeface="Times New Roman"/>
              </a:rPr>
              <a:t>Test</a:t>
            </a:r>
            <a:r>
              <a:rPr dirty="0" sz="1350" spc="-5" b="1">
                <a:latin typeface="Times New Roman"/>
                <a:cs typeface="Times New Roman"/>
              </a:rPr>
              <a:t> </a:t>
            </a:r>
            <a:r>
              <a:rPr dirty="0" sz="1350" spc="-50" b="1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  <a:p>
            <a:pPr algn="just" marL="12700" marR="1308735">
              <a:lnSpc>
                <a:spcPct val="192700"/>
              </a:lnSpc>
              <a:spcBef>
                <a:spcPts val="5"/>
              </a:spcBef>
            </a:pPr>
            <a:r>
              <a:rPr dirty="0" sz="1200">
                <a:latin typeface="Times New Roman"/>
                <a:cs typeface="Times New Roman"/>
              </a:rPr>
              <a:t>Student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scores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=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60/100 </a:t>
            </a:r>
            <a:r>
              <a:rPr dirty="0" sz="1200">
                <a:latin typeface="Times New Roman"/>
                <a:cs typeface="Times New Roman"/>
              </a:rPr>
              <a:t>Again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identify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mistakes. </a:t>
            </a:r>
            <a:r>
              <a:rPr dirty="0" sz="1350" b="1">
                <a:latin typeface="Times New Roman"/>
                <a:cs typeface="Times New Roman"/>
              </a:rPr>
              <a:t>Test</a:t>
            </a:r>
            <a:r>
              <a:rPr dirty="0" sz="1350" spc="-5" b="1">
                <a:latin typeface="Times New Roman"/>
                <a:cs typeface="Times New Roman"/>
              </a:rPr>
              <a:t> </a:t>
            </a:r>
            <a:r>
              <a:rPr dirty="0" sz="1350" spc="-50" b="1">
                <a:latin typeface="Times New Roman"/>
                <a:cs typeface="Times New Roman"/>
              </a:rPr>
              <a:t>3</a:t>
            </a:r>
            <a:endParaRPr sz="1350">
              <a:latin typeface="Times New Roman"/>
              <a:cs typeface="Times New Roman"/>
            </a:endParaRPr>
          </a:p>
          <a:p>
            <a:pPr algn="just" marL="12700" marR="1332865">
              <a:lnSpc>
                <a:spcPts val="2780"/>
              </a:lnSpc>
              <a:spcBef>
                <a:spcPts val="315"/>
              </a:spcBef>
            </a:pPr>
            <a:r>
              <a:rPr dirty="0" sz="1200">
                <a:latin typeface="Times New Roman"/>
                <a:cs typeface="Times New Roman"/>
              </a:rPr>
              <a:t>Student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scores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=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80/100 </a:t>
            </a:r>
            <a:r>
              <a:rPr dirty="0" sz="1200">
                <a:latin typeface="Times New Roman"/>
                <a:cs typeface="Times New Roman"/>
              </a:rPr>
              <a:t>Again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correct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mistakes.</a:t>
            </a:r>
            <a:endParaRPr sz="12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025"/>
              </a:spcBef>
            </a:pPr>
            <a:r>
              <a:rPr dirty="0" sz="1350" b="1">
                <a:latin typeface="Times New Roman"/>
                <a:cs typeface="Times New Roman"/>
              </a:rPr>
              <a:t>Test</a:t>
            </a:r>
            <a:r>
              <a:rPr dirty="0" sz="1350" spc="-5" b="1">
                <a:latin typeface="Times New Roman"/>
                <a:cs typeface="Times New Roman"/>
              </a:rPr>
              <a:t> </a:t>
            </a:r>
            <a:r>
              <a:rPr dirty="0" sz="1350" spc="-50" b="1">
                <a:latin typeface="Times New Roman"/>
                <a:cs typeface="Times New Roman"/>
              </a:rPr>
              <a:t>4</a:t>
            </a: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40"/>
              </a:spcBef>
            </a:pPr>
            <a:r>
              <a:rPr dirty="0" sz="1200">
                <a:latin typeface="Times New Roman"/>
                <a:cs typeface="Times New Roman"/>
              </a:rPr>
              <a:t>Student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scores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=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95/100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278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exactly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how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Gradient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Boosting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works. </a:t>
            </a:r>
            <a:r>
              <a:rPr dirty="0" sz="1200">
                <a:latin typeface="Times New Roman"/>
                <a:cs typeface="Times New Roman"/>
              </a:rPr>
              <a:t>Each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new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learns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previous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errors.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14400" y="4634229"/>
            <a:ext cx="5733415" cy="20955"/>
            <a:chOff x="914400" y="4634229"/>
            <a:chExt cx="5733415" cy="20955"/>
          </a:xfrm>
        </p:grpSpPr>
        <p:sp>
          <p:nvSpPr>
            <p:cNvPr id="4" name="object 4"/>
            <p:cNvSpPr/>
            <p:nvPr/>
          </p:nvSpPr>
          <p:spPr>
            <a:xfrm>
              <a:off x="914400" y="4634229"/>
              <a:ext cx="5731510" cy="20320"/>
            </a:xfrm>
            <a:custGeom>
              <a:avLst/>
              <a:gdLst/>
              <a:ahLst/>
              <a:cxnLst/>
              <a:rect l="l" t="t" r="r" b="b"/>
              <a:pathLst>
                <a:path w="5731509" h="20320">
                  <a:moveTo>
                    <a:pt x="5731497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5731497" y="20320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644385" y="463511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14704" y="4635131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644385" y="463816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14704" y="465188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14704" y="4651882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29605" y="3048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02004" y="4832730"/>
            <a:ext cx="2929890" cy="744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latin typeface="Times New Roman"/>
                <a:cs typeface="Times New Roman"/>
              </a:rPr>
              <a:t>Step-by-</a:t>
            </a:r>
            <a:r>
              <a:rPr dirty="0" sz="2400" b="1">
                <a:latin typeface="Times New Roman"/>
                <a:cs typeface="Times New Roman"/>
              </a:rPr>
              <a:t>Step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Example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200">
                <a:latin typeface="Times New Roman"/>
                <a:cs typeface="Times New Roman"/>
              </a:rPr>
              <a:t>Suppose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actual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house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prices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are: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11910" y="5779727"/>
          <a:ext cx="1391920" cy="1019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/>
                <a:gridCol w="857250"/>
              </a:tblGrid>
              <a:tr h="190500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House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1310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Actual</a:t>
                      </a: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Price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20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27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27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30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190500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40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914400" y="6953884"/>
            <a:ext cx="5733415" cy="20955"/>
            <a:chOff x="914400" y="6953884"/>
            <a:chExt cx="5733415" cy="20955"/>
          </a:xfrm>
        </p:grpSpPr>
        <p:sp>
          <p:nvSpPr>
            <p:cNvPr id="13" name="object 13"/>
            <p:cNvSpPr/>
            <p:nvPr/>
          </p:nvSpPr>
          <p:spPr>
            <a:xfrm>
              <a:off x="914400" y="695388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644385" y="695490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14704" y="6954913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644385" y="695794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14704" y="697166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14704" y="6971677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02004" y="7157084"/>
            <a:ext cx="3396615" cy="2063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Step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1: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Initial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Prediction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regression,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Gradient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Boosting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starts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mean.</a:t>
            </a:r>
            <a:endParaRPr sz="1200">
              <a:latin typeface="Times New Roman"/>
              <a:cs typeface="Times New Roman"/>
            </a:endParaRPr>
          </a:p>
          <a:p>
            <a:pPr marL="12700" marR="2679065">
              <a:lnSpc>
                <a:spcPct val="192700"/>
              </a:lnSpc>
              <a:spcBef>
                <a:spcPts val="10"/>
              </a:spcBef>
            </a:pPr>
            <a:r>
              <a:rPr dirty="0" sz="1200">
                <a:latin typeface="Times New Roman"/>
                <a:cs typeface="Times New Roman"/>
              </a:rPr>
              <a:t>Mean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Price </a:t>
            </a:r>
            <a:r>
              <a:rPr dirty="0" sz="1200" spc="-50">
                <a:latin typeface="Times New Roman"/>
                <a:cs typeface="Times New Roman"/>
              </a:rPr>
              <a:t>[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50"/>
              </a:lnSpc>
            </a:pPr>
            <a:r>
              <a:rPr dirty="0" sz="1200" spc="-10">
                <a:latin typeface="Times New Roman"/>
                <a:cs typeface="Times New Roman"/>
              </a:rPr>
              <a:t>\frac{20+25+30+40}{4}=28.75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dirty="0" sz="1200" spc="-5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200">
                <a:latin typeface="Times New Roman"/>
                <a:cs typeface="Times New Roman"/>
              </a:rPr>
              <a:t>So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initial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prediction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every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house: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11910" y="949282"/>
          <a:ext cx="1678305" cy="1021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/>
                <a:gridCol w="469265"/>
                <a:gridCol w="675005"/>
              </a:tblGrid>
              <a:tr h="191135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House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131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Actual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131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Predicted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20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28.75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27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28.75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30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28.75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190500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40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28.75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914400" y="2122804"/>
            <a:ext cx="5733415" cy="20320"/>
            <a:chOff x="914400" y="2122804"/>
            <a:chExt cx="5733415" cy="20320"/>
          </a:xfrm>
        </p:grpSpPr>
        <p:sp>
          <p:nvSpPr>
            <p:cNvPr id="4" name="object 4"/>
            <p:cNvSpPr/>
            <p:nvPr/>
          </p:nvSpPr>
          <p:spPr>
            <a:xfrm>
              <a:off x="914400" y="212280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5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644385" y="212318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14704" y="2123198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4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4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644385" y="2126233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14704" y="213994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14704" y="2139949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29605" y="3048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02004" y="2325369"/>
            <a:ext cx="3555365" cy="1358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Step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2: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Calculate</a:t>
            </a:r>
            <a:r>
              <a:rPr dirty="0" sz="1800" spc="-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Residuals</a:t>
            </a:r>
            <a:r>
              <a:rPr dirty="0" sz="1800" spc="-10" b="1">
                <a:latin typeface="Times New Roman"/>
                <a:cs typeface="Times New Roman"/>
              </a:rPr>
              <a:t> (Errors)</a:t>
            </a:r>
            <a:endParaRPr sz="1800">
              <a:latin typeface="Times New Roman"/>
              <a:cs typeface="Times New Roman"/>
            </a:endParaRPr>
          </a:p>
          <a:p>
            <a:pPr marL="12700" marR="3001645">
              <a:lnSpc>
                <a:spcPct val="193300"/>
              </a:lnSpc>
            </a:pPr>
            <a:r>
              <a:rPr dirty="0" sz="1200" spc="-10">
                <a:latin typeface="Times New Roman"/>
                <a:cs typeface="Times New Roman"/>
              </a:rPr>
              <a:t>Residual </a:t>
            </a:r>
            <a:r>
              <a:rPr dirty="0" sz="1200" spc="-50">
                <a:latin typeface="Times New Roman"/>
                <a:cs typeface="Times New Roman"/>
              </a:rPr>
              <a:t>[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50"/>
              </a:lnSpc>
            </a:pPr>
            <a:r>
              <a:rPr dirty="0" sz="1200">
                <a:latin typeface="Times New Roman"/>
                <a:cs typeface="Times New Roman"/>
              </a:rPr>
              <a:t>Residual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=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Actual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Predicted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dirty="0" sz="1200" spc="-5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11910" y="3885141"/>
          <a:ext cx="2287270" cy="1020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/>
                <a:gridCol w="469265"/>
                <a:gridCol w="664210"/>
                <a:gridCol w="620395"/>
              </a:tblGrid>
              <a:tr h="190500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House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131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Actual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131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Predicted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ts val="131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Residual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27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20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28.75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8.75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28.75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3.75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30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28.75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1.25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190500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40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28.75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11.25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902004" y="5091810"/>
            <a:ext cx="2787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These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residuals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become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target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Tree-</a:t>
            </a:r>
            <a:r>
              <a:rPr dirty="0" sz="1200" spc="-25">
                <a:latin typeface="Times New Roman"/>
                <a:cs typeface="Times New Roman"/>
              </a:rPr>
              <a:t>1.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14400" y="5589904"/>
            <a:ext cx="5733415" cy="20955"/>
            <a:chOff x="914400" y="5589904"/>
            <a:chExt cx="5733415" cy="20955"/>
          </a:xfrm>
        </p:grpSpPr>
        <p:sp>
          <p:nvSpPr>
            <p:cNvPr id="14" name="object 14"/>
            <p:cNvSpPr/>
            <p:nvPr/>
          </p:nvSpPr>
          <p:spPr>
            <a:xfrm>
              <a:off x="914400" y="558990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5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644385" y="559066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14704" y="5590679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48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644385" y="559371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14704" y="560743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14704" y="5607443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02004" y="5793104"/>
            <a:ext cx="3462020" cy="3648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Step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3: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Train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First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Tree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on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Errors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200" spc="-10">
                <a:latin typeface="Times New Roman"/>
                <a:cs typeface="Times New Roman"/>
              </a:rPr>
              <a:t>Tree-</a:t>
            </a:r>
            <a:r>
              <a:rPr dirty="0" sz="1200">
                <a:latin typeface="Times New Roman"/>
                <a:cs typeface="Times New Roman"/>
              </a:rPr>
              <a:t>1 </a:t>
            </a:r>
            <a:r>
              <a:rPr dirty="0" sz="1200" spc="-10">
                <a:latin typeface="Times New Roman"/>
                <a:cs typeface="Times New Roman"/>
              </a:rPr>
              <a:t>learns: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410"/>
              </a:lnSpc>
              <a:spcBef>
                <a:spcPts val="134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House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H1 →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-</a:t>
            </a:r>
            <a:r>
              <a:rPr dirty="0" sz="1200" spc="-20">
                <a:latin typeface="Times New Roman"/>
                <a:cs typeface="Times New Roman"/>
              </a:rPr>
              <a:t>8.75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380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House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H2 →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-</a:t>
            </a:r>
            <a:r>
              <a:rPr dirty="0" sz="1200" spc="-20">
                <a:latin typeface="Times New Roman"/>
                <a:cs typeface="Times New Roman"/>
              </a:rPr>
              <a:t>3.75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380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House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H3 → </a:t>
            </a:r>
            <a:r>
              <a:rPr dirty="0" sz="1200" spc="-20">
                <a:latin typeface="Times New Roman"/>
                <a:cs typeface="Times New Roman"/>
              </a:rPr>
              <a:t>1.25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410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House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H4 → </a:t>
            </a:r>
            <a:r>
              <a:rPr dirty="0" sz="1200" spc="-10">
                <a:latin typeface="Times New Roman"/>
                <a:cs typeface="Times New Roman"/>
              </a:rPr>
              <a:t>11.25</a:t>
            </a:r>
            <a:endParaRPr sz="1200">
              <a:latin typeface="Times New Roman"/>
              <a:cs typeface="Times New Roman"/>
            </a:endParaRPr>
          </a:p>
          <a:p>
            <a:pPr marL="12700" marR="1768475">
              <a:lnSpc>
                <a:spcPts val="2780"/>
              </a:lnSpc>
              <a:spcBef>
                <a:spcPts val="310"/>
              </a:spcBef>
            </a:pPr>
            <a:r>
              <a:rPr dirty="0" sz="1200">
                <a:latin typeface="Times New Roman"/>
                <a:cs typeface="Times New Roman"/>
              </a:rPr>
              <a:t>Now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corrections. </a:t>
            </a:r>
            <a:r>
              <a:rPr dirty="0" sz="1200">
                <a:latin typeface="Times New Roman"/>
                <a:cs typeface="Times New Roman"/>
              </a:rPr>
              <a:t>Suppose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learning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rate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=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0.1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200" spc="-10">
                <a:latin typeface="Times New Roman"/>
                <a:cs typeface="Times New Roman"/>
              </a:rPr>
              <a:t>Formula: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30"/>
              </a:spcBef>
            </a:pPr>
            <a:r>
              <a:rPr dirty="0" sz="1200" spc="-50">
                <a:latin typeface="Times New Roman"/>
                <a:cs typeface="Times New Roman"/>
              </a:rPr>
              <a:t>[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dirty="0" sz="1200">
                <a:latin typeface="Times New Roman"/>
                <a:cs typeface="Times New Roman"/>
              </a:rPr>
              <a:t>NewPrediction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=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OldPrediction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+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0.1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\times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TreeOutput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dirty="0" sz="1200" spc="-5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H1: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1031"/>
            <a:ext cx="1550035" cy="161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dirty="0" sz="1200" spc="-50">
                <a:latin typeface="Times New Roman"/>
                <a:cs typeface="Times New Roman"/>
              </a:rPr>
              <a:t>[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dirty="0" sz="1200">
                <a:latin typeface="Times New Roman"/>
                <a:cs typeface="Times New Roman"/>
              </a:rPr>
              <a:t>28.75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+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(0.1\times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-8.75)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dirty="0" sz="1200" spc="-5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45"/>
              </a:spcBef>
            </a:pPr>
            <a:r>
              <a:rPr dirty="0" sz="1200" spc="-50">
                <a:latin typeface="Times New Roman"/>
                <a:cs typeface="Times New Roman"/>
              </a:rPr>
              <a:t>[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dirty="0" sz="1200" spc="-10">
                <a:latin typeface="Times New Roman"/>
                <a:cs typeface="Times New Roman"/>
              </a:rPr>
              <a:t>=27.875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dirty="0" sz="1200" spc="-5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200" spc="-10">
                <a:latin typeface="Times New Roman"/>
                <a:cs typeface="Times New Roman"/>
              </a:rPr>
              <a:t>Similarly: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1910" y="2709756"/>
          <a:ext cx="1586230" cy="10210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/>
                <a:gridCol w="1052195"/>
              </a:tblGrid>
              <a:tr h="190500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House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1310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Prediction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27.875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27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28.375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28.875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191135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29.875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3915282"/>
            <a:ext cx="20897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Predictions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slightly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improved.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14400" y="4415154"/>
            <a:ext cx="5733415" cy="20320"/>
            <a:chOff x="914400" y="4415154"/>
            <a:chExt cx="5733415" cy="20320"/>
          </a:xfrm>
        </p:grpSpPr>
        <p:sp>
          <p:nvSpPr>
            <p:cNvPr id="6" name="object 6"/>
            <p:cNvSpPr/>
            <p:nvPr/>
          </p:nvSpPr>
          <p:spPr>
            <a:xfrm>
              <a:off x="914400" y="441515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5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644385" y="441566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14704" y="4415662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44385" y="441871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14704" y="443242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14704" y="4432426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29605" y="3048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02004" y="4617846"/>
            <a:ext cx="3176270" cy="135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Step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4: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Calculate</a:t>
            </a:r>
            <a:r>
              <a:rPr dirty="0" sz="1800" spc="-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New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Residuals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200" spc="-10">
                <a:latin typeface="Times New Roman"/>
                <a:cs typeface="Times New Roman"/>
              </a:rPr>
              <a:t>Again: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30"/>
              </a:spcBef>
            </a:pPr>
            <a:r>
              <a:rPr dirty="0" sz="1200" spc="-50">
                <a:latin typeface="Times New Roman"/>
                <a:cs typeface="Times New Roman"/>
              </a:rPr>
              <a:t>[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dirty="0" sz="1200">
                <a:latin typeface="Times New Roman"/>
                <a:cs typeface="Times New Roman"/>
              </a:rPr>
              <a:t>Residual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=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Actual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NewPrediction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dirty="0" sz="1200" spc="-5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11910" y="6177491"/>
          <a:ext cx="2338705" cy="1020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/>
                <a:gridCol w="469265"/>
                <a:gridCol w="715644"/>
                <a:gridCol w="620394"/>
              </a:tblGrid>
              <a:tr h="190500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House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131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Actual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131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Prediction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ts val="131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Residual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27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20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27.875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-7.875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28.375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-3.375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30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28.875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1.125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190500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40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29.875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10.125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902004" y="7382636"/>
            <a:ext cx="20904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Train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another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errors.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14400" y="7882254"/>
            <a:ext cx="5733415" cy="20955"/>
            <a:chOff x="914400" y="7882254"/>
            <a:chExt cx="5733415" cy="20955"/>
          </a:xfrm>
        </p:grpSpPr>
        <p:sp>
          <p:nvSpPr>
            <p:cNvPr id="16" name="object 16"/>
            <p:cNvSpPr/>
            <p:nvPr/>
          </p:nvSpPr>
          <p:spPr>
            <a:xfrm>
              <a:off x="914400" y="788225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644385" y="788301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14704" y="7883016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644385" y="788606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14704" y="789977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14704" y="7899780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29605" y="3048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02004" y="8085581"/>
            <a:ext cx="1919605" cy="1358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Step</a:t>
            </a:r>
            <a:r>
              <a:rPr dirty="0" sz="1800" spc="-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5: </a:t>
            </a:r>
            <a:r>
              <a:rPr dirty="0" sz="1800" spc="-10" b="1">
                <a:latin typeface="Times New Roman"/>
                <a:cs typeface="Times New Roman"/>
              </a:rPr>
              <a:t>Repeat</a:t>
            </a:r>
            <a:endParaRPr sz="1800">
              <a:latin typeface="Times New Roman"/>
              <a:cs typeface="Times New Roman"/>
            </a:endParaRPr>
          </a:p>
          <a:p>
            <a:pPr algn="just" marL="12700" marR="5080">
              <a:lnSpc>
                <a:spcPts val="2780"/>
              </a:lnSpc>
              <a:spcBef>
                <a:spcPts val="105"/>
              </a:spcBef>
            </a:pPr>
            <a:r>
              <a:rPr dirty="0" sz="1200" spc="-10">
                <a:latin typeface="Times New Roman"/>
                <a:cs typeface="Times New Roman"/>
              </a:rPr>
              <a:t>Tree-</a:t>
            </a:r>
            <a:r>
              <a:rPr dirty="0" sz="1200">
                <a:latin typeface="Times New Roman"/>
                <a:cs typeface="Times New Roman"/>
              </a:rPr>
              <a:t>2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learns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remaining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errors. Tree-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learns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remaining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errors. Tree-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learns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remaining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errors.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1031"/>
            <a:ext cx="1954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Eventually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predictions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become: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1910" y="1301580"/>
          <a:ext cx="2107565" cy="1019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/>
                <a:gridCol w="469265"/>
                <a:gridCol w="1104264"/>
              </a:tblGrid>
              <a:tr h="190500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House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131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Actual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1310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dirty="0" sz="12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Prediction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20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20.1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27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24.9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27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30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30.2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190500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H4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40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39.8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2508250"/>
            <a:ext cx="170433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Very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close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actual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values.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14400" y="3006724"/>
            <a:ext cx="5733415" cy="20320"/>
            <a:chOff x="914400" y="3006724"/>
            <a:chExt cx="5733415" cy="20320"/>
          </a:xfrm>
        </p:grpSpPr>
        <p:sp>
          <p:nvSpPr>
            <p:cNvPr id="6" name="object 6"/>
            <p:cNvSpPr/>
            <p:nvPr/>
          </p:nvSpPr>
          <p:spPr>
            <a:xfrm>
              <a:off x="914400" y="300672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5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644385" y="300710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14704" y="3007105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5732780" h="17144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44385" y="3010153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14704" y="302386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14704" y="3023869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29605" y="3048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902004" y="3205098"/>
            <a:ext cx="49936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45"/>
              <a:t> </a:t>
            </a:r>
            <a:r>
              <a:rPr dirty="0"/>
              <a:t>it</a:t>
            </a:r>
            <a:r>
              <a:rPr dirty="0" spc="-45"/>
              <a:t> </a:t>
            </a:r>
            <a:r>
              <a:rPr dirty="0"/>
              <a:t>called</a:t>
            </a:r>
            <a:r>
              <a:rPr dirty="0" spc="-45"/>
              <a:t> </a:t>
            </a:r>
            <a:r>
              <a:rPr dirty="0"/>
              <a:t>"Gradient"</a:t>
            </a:r>
            <a:r>
              <a:rPr dirty="0" spc="-50"/>
              <a:t> </a:t>
            </a:r>
            <a:r>
              <a:rPr dirty="0" spc="-10"/>
              <a:t>Boosting?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40"/>
              <a:t> </a:t>
            </a:r>
            <a:r>
              <a:rPr dirty="0"/>
              <a:t>algorithm</a:t>
            </a:r>
            <a:r>
              <a:rPr dirty="0" spc="-25"/>
              <a:t> </a:t>
            </a:r>
            <a:r>
              <a:rPr dirty="0"/>
              <a:t>minimizes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Loss</a:t>
            </a:r>
            <a:r>
              <a:rPr dirty="0" spc="-25"/>
              <a:t> </a:t>
            </a:r>
            <a:r>
              <a:rPr dirty="0"/>
              <a:t>Function</a:t>
            </a:r>
            <a:r>
              <a:rPr dirty="0" spc="-30"/>
              <a:t> </a:t>
            </a:r>
            <a:r>
              <a:rPr dirty="0"/>
              <a:t>using</a:t>
            </a:r>
            <a:r>
              <a:rPr dirty="0" spc="-25"/>
              <a:t> </a:t>
            </a:r>
            <a:r>
              <a:rPr dirty="0"/>
              <a:t>Gradient</a:t>
            </a:r>
            <a:r>
              <a:rPr dirty="0" spc="-30"/>
              <a:t> </a:t>
            </a:r>
            <a:r>
              <a:rPr dirty="0" spc="-10"/>
              <a:t>Descent.</a:t>
            </a: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/>
              <a:t>For</a:t>
            </a:r>
            <a:r>
              <a:rPr dirty="0" spc="-30"/>
              <a:t> </a:t>
            </a:r>
            <a:r>
              <a:rPr dirty="0" spc="-10"/>
              <a:t>regression:</a:t>
            </a:r>
          </a:p>
          <a:p>
            <a:pPr marL="12700">
              <a:lnSpc>
                <a:spcPts val="1410"/>
              </a:lnSpc>
              <a:spcBef>
                <a:spcPts val="1345"/>
              </a:spcBef>
            </a:pPr>
            <a:r>
              <a:rPr dirty="0" spc="-50"/>
              <a:t>[</a:t>
            </a:r>
          </a:p>
          <a:p>
            <a:pPr marL="12700">
              <a:lnSpc>
                <a:spcPts val="1380"/>
              </a:lnSpc>
            </a:pPr>
            <a:r>
              <a:rPr dirty="0"/>
              <a:t>Loss</a:t>
            </a:r>
            <a:r>
              <a:rPr dirty="0" spc="-15"/>
              <a:t> </a:t>
            </a:r>
            <a:r>
              <a:rPr dirty="0"/>
              <a:t>=</a:t>
            </a:r>
            <a:r>
              <a:rPr dirty="0" spc="-15"/>
              <a:t> </a:t>
            </a:r>
            <a:r>
              <a:rPr dirty="0"/>
              <a:t>(Actual -</a:t>
            </a:r>
            <a:r>
              <a:rPr dirty="0" spc="-15"/>
              <a:t> </a:t>
            </a:r>
            <a:r>
              <a:rPr dirty="0" spc="-10"/>
              <a:t>Predicted)^2</a:t>
            </a:r>
          </a:p>
          <a:p>
            <a:pPr marL="12700">
              <a:lnSpc>
                <a:spcPts val="1410"/>
              </a:lnSpc>
            </a:pPr>
            <a:r>
              <a:rPr dirty="0" spc="-50"/>
              <a:t>]</a:t>
            </a:r>
          </a:p>
          <a:p>
            <a:pPr marL="12700" marR="5080">
              <a:lnSpc>
                <a:spcPct val="193000"/>
              </a:lnSpc>
              <a:spcBef>
                <a:spcPts val="5"/>
              </a:spcBef>
            </a:pPr>
            <a:r>
              <a:rPr dirty="0"/>
              <a:t>The</a:t>
            </a:r>
            <a:r>
              <a:rPr dirty="0" spc="-35"/>
              <a:t> </a:t>
            </a:r>
            <a:r>
              <a:rPr dirty="0"/>
              <a:t>direction</a:t>
            </a:r>
            <a:r>
              <a:rPr dirty="0" spc="-30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which</a:t>
            </a:r>
            <a:r>
              <a:rPr dirty="0" spc="-25"/>
              <a:t> </a:t>
            </a:r>
            <a:r>
              <a:rPr dirty="0"/>
              <a:t>loss</a:t>
            </a:r>
            <a:r>
              <a:rPr dirty="0" spc="-25"/>
              <a:t> </a:t>
            </a:r>
            <a:r>
              <a:rPr dirty="0"/>
              <a:t>decreases</a:t>
            </a:r>
            <a:r>
              <a:rPr dirty="0" spc="-25"/>
              <a:t> </a:t>
            </a:r>
            <a:r>
              <a:rPr dirty="0"/>
              <a:t>fastest</a:t>
            </a:r>
            <a:r>
              <a:rPr dirty="0" spc="-25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called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Gradient. </a:t>
            </a:r>
            <a:r>
              <a:rPr dirty="0"/>
              <a:t>Gradient</a:t>
            </a:r>
            <a:r>
              <a:rPr dirty="0" spc="-35"/>
              <a:t> </a:t>
            </a:r>
            <a:r>
              <a:rPr dirty="0"/>
              <a:t>Boosting</a:t>
            </a:r>
            <a:r>
              <a:rPr dirty="0" spc="-30"/>
              <a:t> </a:t>
            </a:r>
            <a:r>
              <a:rPr dirty="0"/>
              <a:t>uses</a:t>
            </a:r>
            <a:r>
              <a:rPr dirty="0" spc="-30"/>
              <a:t> </a:t>
            </a:r>
            <a:r>
              <a:rPr dirty="0"/>
              <a:t>this</a:t>
            </a:r>
            <a:r>
              <a:rPr dirty="0" spc="-30"/>
              <a:t> </a:t>
            </a:r>
            <a:r>
              <a:rPr dirty="0"/>
              <a:t>gradient</a:t>
            </a:r>
            <a:r>
              <a:rPr dirty="0" spc="-30"/>
              <a:t> </a:t>
            </a:r>
            <a:r>
              <a:rPr dirty="0"/>
              <a:t>information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/>
              <a:t>reduce</a:t>
            </a:r>
            <a:r>
              <a:rPr dirty="0" spc="-25"/>
              <a:t> </a:t>
            </a:r>
            <a:r>
              <a:rPr dirty="0" spc="-10"/>
              <a:t>errors. Think:</a:t>
            </a: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b="1">
                <a:latin typeface="Times New Roman"/>
                <a:cs typeface="Times New Roman"/>
              </a:rPr>
              <a:t>Error</a:t>
            </a:r>
            <a:r>
              <a:rPr dirty="0" spc="-2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→</a:t>
            </a:r>
            <a:r>
              <a:rPr dirty="0" spc="-2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Gradient</a:t>
            </a:r>
            <a:r>
              <a:rPr dirty="0" spc="-1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→</a:t>
            </a:r>
            <a:r>
              <a:rPr dirty="0" spc="-2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New</a:t>
            </a:r>
            <a:r>
              <a:rPr dirty="0" spc="-2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Tree</a:t>
            </a:r>
            <a:r>
              <a:rPr dirty="0" spc="-2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→</a:t>
            </a:r>
            <a:r>
              <a:rPr dirty="0" spc="-2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Better</a:t>
            </a:r>
            <a:r>
              <a:rPr dirty="0" spc="-25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Prediction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914400" y="6710044"/>
            <a:ext cx="5733415" cy="20955"/>
            <a:chOff x="914400" y="6710044"/>
            <a:chExt cx="5733415" cy="20955"/>
          </a:xfrm>
        </p:grpSpPr>
        <p:sp>
          <p:nvSpPr>
            <p:cNvPr id="15" name="object 15"/>
            <p:cNvSpPr/>
            <p:nvPr/>
          </p:nvSpPr>
          <p:spPr>
            <a:xfrm>
              <a:off x="914400" y="671004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644385" y="671106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14704" y="6711073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644385" y="671410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14704" y="672782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14704" y="6727837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902004" y="6908672"/>
            <a:ext cx="2962910" cy="1186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Important</a:t>
            </a:r>
            <a:r>
              <a:rPr dirty="0" sz="2400" spc="-12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Parameters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800" b="1">
                <a:latin typeface="Times New Roman"/>
                <a:cs typeface="Times New Roman"/>
              </a:rPr>
              <a:t>1.</a:t>
            </a:r>
            <a:r>
              <a:rPr dirty="0" sz="1800" spc="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n_estimators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200">
                <a:latin typeface="Times New Roman"/>
                <a:cs typeface="Times New Roman"/>
              </a:rPr>
              <a:t>Number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trees.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2004" y="8228838"/>
            <a:ext cx="3021965" cy="542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Courier New"/>
                <a:cs typeface="Courier New"/>
              </a:rPr>
              <a:t>n_estimators=100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More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→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better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learning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slower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training.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14400" y="9060179"/>
            <a:ext cx="5733415" cy="21590"/>
            <a:chOff x="914400" y="9060179"/>
            <a:chExt cx="5733415" cy="21590"/>
          </a:xfrm>
        </p:grpSpPr>
        <p:sp>
          <p:nvSpPr>
            <p:cNvPr id="24" name="object 24"/>
            <p:cNvSpPr/>
            <p:nvPr/>
          </p:nvSpPr>
          <p:spPr>
            <a:xfrm>
              <a:off x="914400" y="9060179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644385" y="906144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14704" y="9061462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644385" y="9064497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14704" y="907821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14704" y="9078213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29605" y="3048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902004" y="9263583"/>
            <a:ext cx="1575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2.</a:t>
            </a:r>
            <a:r>
              <a:rPr dirty="0" sz="1800" spc="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learning_rate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1031"/>
            <a:ext cx="4098925" cy="4392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Controls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correction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amount.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1000" spc="-10">
                <a:latin typeface="Courier New"/>
                <a:cs typeface="Courier New"/>
              </a:rPr>
              <a:t>learning_rate=0.1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Times New Roman"/>
                <a:cs typeface="Times New Roman"/>
              </a:rPr>
              <a:t>Formula: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30"/>
              </a:spcBef>
            </a:pPr>
            <a:r>
              <a:rPr dirty="0" sz="1200" spc="-50">
                <a:latin typeface="Times New Roman"/>
                <a:cs typeface="Times New Roman"/>
              </a:rPr>
              <a:t>[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dirty="0" sz="1200">
                <a:latin typeface="Times New Roman"/>
                <a:cs typeface="Times New Roman"/>
              </a:rPr>
              <a:t>NewPrediction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=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OldPrediction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+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LearningRate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\times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TreeOutput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dirty="0" sz="1200" spc="-5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350" b="1">
                <a:latin typeface="Times New Roman"/>
                <a:cs typeface="Times New Roman"/>
              </a:rPr>
              <a:t>Large</a:t>
            </a:r>
            <a:r>
              <a:rPr dirty="0" sz="1350" spc="-40" b="1">
                <a:latin typeface="Times New Roman"/>
                <a:cs typeface="Times New Roman"/>
              </a:rPr>
              <a:t> </a:t>
            </a:r>
            <a:r>
              <a:rPr dirty="0" sz="1350" b="1">
                <a:latin typeface="Times New Roman"/>
                <a:cs typeface="Times New Roman"/>
              </a:rPr>
              <a:t>Learning</a:t>
            </a:r>
            <a:r>
              <a:rPr dirty="0" sz="1350" spc="-20" b="1">
                <a:latin typeface="Times New Roman"/>
                <a:cs typeface="Times New Roman"/>
              </a:rPr>
              <a:t> Rate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000" spc="-10">
                <a:latin typeface="Courier New"/>
                <a:cs typeface="Courier New"/>
              </a:rPr>
              <a:t>learning_rate=1</a:t>
            </a:r>
            <a:endParaRPr sz="1000">
              <a:latin typeface="Courier New"/>
              <a:cs typeface="Courier New"/>
            </a:endParaRPr>
          </a:p>
          <a:p>
            <a:pPr marL="12700" marR="3317875">
              <a:lnSpc>
                <a:spcPct val="193500"/>
              </a:lnSpc>
              <a:spcBef>
                <a:spcPts val="70"/>
              </a:spcBef>
            </a:pPr>
            <a:r>
              <a:rPr dirty="0" sz="1200">
                <a:latin typeface="Times New Roman"/>
                <a:cs typeface="Times New Roman"/>
              </a:rPr>
              <a:t>Big</a:t>
            </a:r>
            <a:r>
              <a:rPr dirty="0" sz="1200" spc="-10">
                <a:latin typeface="Times New Roman"/>
                <a:cs typeface="Times New Roman"/>
              </a:rPr>
              <a:t> jumps. </a:t>
            </a:r>
            <a:r>
              <a:rPr dirty="0" sz="1200">
                <a:latin typeface="Times New Roman"/>
                <a:cs typeface="Times New Roman"/>
              </a:rPr>
              <a:t>May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overfit.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350" b="1">
                <a:latin typeface="Times New Roman"/>
                <a:cs typeface="Times New Roman"/>
              </a:rPr>
              <a:t>Small</a:t>
            </a:r>
            <a:r>
              <a:rPr dirty="0" sz="1350" spc="-40" b="1">
                <a:latin typeface="Times New Roman"/>
                <a:cs typeface="Times New Roman"/>
              </a:rPr>
              <a:t> </a:t>
            </a:r>
            <a:r>
              <a:rPr dirty="0" sz="1350" b="1">
                <a:latin typeface="Times New Roman"/>
                <a:cs typeface="Times New Roman"/>
              </a:rPr>
              <a:t>Learning</a:t>
            </a:r>
            <a:r>
              <a:rPr dirty="0" sz="1350" spc="-35" b="1">
                <a:latin typeface="Times New Roman"/>
                <a:cs typeface="Times New Roman"/>
              </a:rPr>
              <a:t> </a:t>
            </a:r>
            <a:r>
              <a:rPr dirty="0" sz="1350" spc="-20" b="1">
                <a:latin typeface="Times New Roman"/>
                <a:cs typeface="Times New Roman"/>
              </a:rPr>
              <a:t>Rate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000" spc="-10">
                <a:latin typeface="Courier New"/>
                <a:cs typeface="Courier New"/>
              </a:rPr>
              <a:t>learning_rate=0.01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Slow </a:t>
            </a:r>
            <a:r>
              <a:rPr dirty="0" sz="1200" spc="-10">
                <a:latin typeface="Times New Roman"/>
                <a:cs typeface="Times New Roman"/>
              </a:rPr>
              <a:t>learning.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200">
                <a:latin typeface="Times New Roman"/>
                <a:cs typeface="Times New Roman"/>
              </a:rPr>
              <a:t>Usually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accurate.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14400" y="5574664"/>
            <a:ext cx="5733415" cy="20955"/>
            <a:chOff x="914400" y="5574664"/>
            <a:chExt cx="5733415" cy="20955"/>
          </a:xfrm>
        </p:grpSpPr>
        <p:sp>
          <p:nvSpPr>
            <p:cNvPr id="4" name="object 4"/>
            <p:cNvSpPr/>
            <p:nvPr/>
          </p:nvSpPr>
          <p:spPr>
            <a:xfrm>
              <a:off x="914400" y="557466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5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644385" y="557542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14704" y="5575426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60"/>
                  </a:moveTo>
                  <a:lnTo>
                    <a:pt x="0" y="3060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60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644385" y="557847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14704" y="559219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14704" y="5592203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914400" y="7893050"/>
            <a:ext cx="5733415" cy="20955"/>
            <a:chOff x="914400" y="7893050"/>
            <a:chExt cx="5733415" cy="20955"/>
          </a:xfrm>
        </p:grpSpPr>
        <p:sp>
          <p:nvSpPr>
            <p:cNvPr id="11" name="object 11"/>
            <p:cNvSpPr/>
            <p:nvPr/>
          </p:nvSpPr>
          <p:spPr>
            <a:xfrm>
              <a:off x="914400" y="7893049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644385" y="789368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14704" y="7893697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644385" y="789673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14704" y="791044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14704" y="7910461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02004" y="5777864"/>
            <a:ext cx="4140835" cy="388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3.</a:t>
            </a:r>
            <a:r>
              <a:rPr dirty="0" sz="1800" spc="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max_depth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200">
                <a:latin typeface="Times New Roman"/>
                <a:cs typeface="Times New Roman"/>
              </a:rPr>
              <a:t>Depth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each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tree.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000" spc="-10">
                <a:latin typeface="Courier New"/>
                <a:cs typeface="Courier New"/>
              </a:rPr>
              <a:t>max_depth=3</a:t>
            </a:r>
            <a:endParaRPr sz="1000">
              <a:latin typeface="Courier New"/>
              <a:cs typeface="Courier New"/>
            </a:endParaRPr>
          </a:p>
          <a:p>
            <a:pPr marL="12700" marR="1264285">
              <a:lnSpc>
                <a:spcPct val="1925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Small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preferred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Gradient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Boosting. Usually: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dirty="0" sz="1000">
                <a:latin typeface="Courier New"/>
                <a:cs typeface="Courier New"/>
              </a:rPr>
              <a:t>max_depth</a:t>
            </a:r>
            <a:r>
              <a:rPr dirty="0" sz="1000" spc="-2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=</a:t>
            </a:r>
            <a:r>
              <a:rPr dirty="0" sz="1000" spc="-2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3</a:t>
            </a:r>
            <a:r>
              <a:rPr dirty="0" sz="1000" spc="-2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to</a:t>
            </a:r>
            <a:r>
              <a:rPr dirty="0" sz="1000" spc="-20">
                <a:latin typeface="Courier New"/>
                <a:cs typeface="Courier New"/>
              </a:rPr>
              <a:t> </a:t>
            </a:r>
            <a:r>
              <a:rPr dirty="0" sz="1000" spc="-50">
                <a:latin typeface="Courier New"/>
                <a:cs typeface="Courier New"/>
              </a:rPr>
              <a:t>8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latin typeface="Times New Roman"/>
                <a:cs typeface="Times New Roman"/>
              </a:rPr>
              <a:t>Complete</a:t>
            </a:r>
            <a:r>
              <a:rPr dirty="0" sz="2400" spc="-1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Working</a:t>
            </a:r>
            <a:r>
              <a:rPr dirty="0" sz="2400" spc="-1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Example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1170"/>
              </a:lnSpc>
              <a:spcBef>
                <a:spcPts val="1255"/>
              </a:spcBef>
            </a:pPr>
            <a:r>
              <a:rPr dirty="0" sz="1000">
                <a:latin typeface="Courier New"/>
                <a:cs typeface="Courier New"/>
              </a:rPr>
              <a:t>from</a:t>
            </a:r>
            <a:r>
              <a:rPr dirty="0" sz="1000" spc="-5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sklearn.datasets</a:t>
            </a:r>
            <a:r>
              <a:rPr dirty="0" sz="1000" spc="-5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import</a:t>
            </a:r>
            <a:r>
              <a:rPr dirty="0" sz="1000" spc="-5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load_boston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ts val="1130"/>
              </a:lnSpc>
              <a:spcBef>
                <a:spcPts val="65"/>
              </a:spcBef>
            </a:pPr>
            <a:r>
              <a:rPr dirty="0" sz="1000">
                <a:latin typeface="Courier New"/>
                <a:cs typeface="Courier New"/>
              </a:rPr>
              <a:t>from</a:t>
            </a:r>
            <a:r>
              <a:rPr dirty="0" sz="1000" spc="-5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sklearn.ensemble</a:t>
            </a:r>
            <a:r>
              <a:rPr dirty="0" sz="1000" spc="-5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import</a:t>
            </a:r>
            <a:r>
              <a:rPr dirty="0" sz="1000" spc="-5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GradientBoostingRegressor </a:t>
            </a:r>
            <a:r>
              <a:rPr dirty="0" sz="1000">
                <a:latin typeface="Courier New"/>
                <a:cs typeface="Courier New"/>
              </a:rPr>
              <a:t>from</a:t>
            </a:r>
            <a:r>
              <a:rPr dirty="0" sz="1000" spc="-7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sklearn.model_selection</a:t>
            </a:r>
            <a:r>
              <a:rPr dirty="0" sz="1000" spc="-6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import</a:t>
            </a:r>
            <a:r>
              <a:rPr dirty="0" sz="1000" spc="-6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train_test_split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000">
                <a:latin typeface="Courier New"/>
                <a:cs typeface="Courier New"/>
              </a:rPr>
              <a:t>X,</a:t>
            </a:r>
            <a:r>
              <a:rPr dirty="0" sz="1000" spc="-1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y</a:t>
            </a:r>
            <a:r>
              <a:rPr dirty="0" sz="1000" spc="-1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=</a:t>
            </a:r>
            <a:r>
              <a:rPr dirty="0" sz="1000" spc="-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load_boston(return_X_y=True)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000">
                <a:latin typeface="Courier New"/>
                <a:cs typeface="Courier New"/>
              </a:rPr>
              <a:t>X_train,</a:t>
            </a:r>
            <a:r>
              <a:rPr dirty="0" sz="1000" spc="-5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X_test,</a:t>
            </a:r>
            <a:r>
              <a:rPr dirty="0" sz="1000" spc="-3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y_train,</a:t>
            </a:r>
            <a:r>
              <a:rPr dirty="0" sz="1000" spc="-3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y_test</a:t>
            </a:r>
            <a:r>
              <a:rPr dirty="0" sz="1000" spc="-3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=</a:t>
            </a:r>
            <a:r>
              <a:rPr dirty="0" sz="1000" spc="-3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train_test_split(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0363"/>
            <a:ext cx="3073400" cy="2047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7500">
              <a:lnSpc>
                <a:spcPts val="1165"/>
              </a:lnSpc>
              <a:spcBef>
                <a:spcPts val="95"/>
              </a:spcBef>
            </a:pPr>
            <a:r>
              <a:rPr dirty="0" sz="1000">
                <a:latin typeface="Courier New"/>
                <a:cs typeface="Courier New"/>
              </a:rPr>
              <a:t>X,</a:t>
            </a:r>
            <a:r>
              <a:rPr dirty="0" sz="1000" spc="-4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y,</a:t>
            </a:r>
            <a:r>
              <a:rPr dirty="0" sz="1000" spc="-3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test_size=0.2,</a:t>
            </a:r>
            <a:r>
              <a:rPr dirty="0" sz="1000" spc="-3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random_state=42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dirty="0" sz="1000" spc="-50"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00">
              <a:latin typeface="Courier New"/>
              <a:cs typeface="Courier New"/>
            </a:endParaRPr>
          </a:p>
          <a:p>
            <a:pPr marL="317500" marR="462280" indent="-304800">
              <a:lnSpc>
                <a:spcPct val="94500"/>
              </a:lnSpc>
            </a:pPr>
            <a:r>
              <a:rPr dirty="0" sz="1000">
                <a:latin typeface="Courier New"/>
                <a:cs typeface="Courier New"/>
              </a:rPr>
              <a:t>model</a:t>
            </a:r>
            <a:r>
              <a:rPr dirty="0" sz="1000" spc="-2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=</a:t>
            </a:r>
            <a:r>
              <a:rPr dirty="0" sz="1000" spc="-20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GradientBoostingRegressor( n_estimators=100, learning_rate=0.1,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00"/>
              </a:lnSpc>
            </a:pPr>
            <a:r>
              <a:rPr dirty="0" sz="1000" spc="-10">
                <a:latin typeface="Courier New"/>
                <a:cs typeface="Courier New"/>
              </a:rPr>
              <a:t>max_depth=3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dirty="0" sz="1000" spc="-50"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L="12700" marR="919480">
              <a:lnSpc>
                <a:spcPct val="188500"/>
              </a:lnSpc>
              <a:spcBef>
                <a:spcPts val="5"/>
              </a:spcBef>
            </a:pPr>
            <a:r>
              <a:rPr dirty="0" sz="1000">
                <a:latin typeface="Courier New"/>
                <a:cs typeface="Courier New"/>
              </a:rPr>
              <a:t>model.fit(X_train,</a:t>
            </a:r>
            <a:r>
              <a:rPr dirty="0" sz="1000" spc="-110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y_train) </a:t>
            </a:r>
            <a:r>
              <a:rPr dirty="0" sz="1000">
                <a:latin typeface="Courier New"/>
                <a:cs typeface="Courier New"/>
              </a:rPr>
              <a:t>pred</a:t>
            </a:r>
            <a:r>
              <a:rPr dirty="0" sz="1000" spc="-1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=</a:t>
            </a:r>
            <a:r>
              <a:rPr dirty="0" sz="1000" spc="-1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model.predict(X_test) print(pred[:5])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14400" y="3052444"/>
            <a:ext cx="5733415" cy="20320"/>
            <a:chOff x="914400" y="3052444"/>
            <a:chExt cx="5733415" cy="20320"/>
          </a:xfrm>
        </p:grpSpPr>
        <p:sp>
          <p:nvSpPr>
            <p:cNvPr id="4" name="object 4"/>
            <p:cNvSpPr/>
            <p:nvPr/>
          </p:nvSpPr>
          <p:spPr>
            <a:xfrm>
              <a:off x="914400" y="3052457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5">
                  <a:moveTo>
                    <a:pt x="5731497" y="0"/>
                  </a:moveTo>
                  <a:lnTo>
                    <a:pt x="0" y="0"/>
                  </a:lnTo>
                  <a:lnTo>
                    <a:pt x="0" y="19672"/>
                  </a:lnTo>
                  <a:lnTo>
                    <a:pt x="5731497" y="19672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644385" y="30528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14704" y="3052825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5732780" h="17144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644385" y="3055873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14704" y="306958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14704" y="3069589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29605" y="3048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02004" y="3250818"/>
            <a:ext cx="48621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Gradient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Boosting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vs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Random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Forest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11910" y="3845517"/>
          <a:ext cx="3439160" cy="1445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1085"/>
                <a:gridCol w="1051560"/>
                <a:gridCol w="1250950"/>
              </a:tblGrid>
              <a:tr h="190500">
                <a:tc>
                  <a:txBody>
                    <a:bodyPr/>
                    <a:lstStyle/>
                    <a:p>
                      <a:pPr marL="282575">
                        <a:lnSpc>
                          <a:spcPts val="131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Feature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1310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dirty="0" sz="12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Forest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ts val="1310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Gradient</a:t>
                      </a: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Boosting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27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Trees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Built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Parallel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Sequential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Error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Correction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No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Yes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27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Speed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Fast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Slow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27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Accuracy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Good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Very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High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Overfitting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Less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Chances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  <a:tr h="190500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Complexity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Easy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ts val="1360"/>
                        </a:lnSpc>
                        <a:spcBef>
                          <a:spcPts val="4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Moderate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/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902004" y="5475858"/>
            <a:ext cx="1837055" cy="1339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latin typeface="Times New Roman"/>
                <a:cs typeface="Times New Roman"/>
              </a:rPr>
              <a:t>Random</a:t>
            </a:r>
            <a:r>
              <a:rPr dirty="0" sz="1350" spc="-35" b="1">
                <a:latin typeface="Times New Roman"/>
                <a:cs typeface="Times New Roman"/>
              </a:rPr>
              <a:t> </a:t>
            </a:r>
            <a:r>
              <a:rPr dirty="0" sz="1350" spc="-10" b="1">
                <a:latin typeface="Times New Roman"/>
                <a:cs typeface="Times New Roman"/>
              </a:rPr>
              <a:t>Forest</a:t>
            </a:r>
            <a:endParaRPr sz="1350">
              <a:latin typeface="Times New Roman"/>
              <a:cs typeface="Times New Roman"/>
            </a:endParaRPr>
          </a:p>
          <a:p>
            <a:pPr algn="just" marL="12700" marR="1435100">
              <a:lnSpc>
                <a:spcPct val="94300"/>
              </a:lnSpc>
              <a:spcBef>
                <a:spcPts val="1320"/>
              </a:spcBef>
            </a:pPr>
            <a:r>
              <a:rPr dirty="0" sz="1000" spc="-10">
                <a:latin typeface="Courier New"/>
                <a:cs typeface="Courier New"/>
              </a:rPr>
              <a:t>Tree1 Tree2 Tree3 Tree4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All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independently.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14400" y="7105015"/>
            <a:ext cx="5733415" cy="20955"/>
            <a:chOff x="914400" y="7105015"/>
            <a:chExt cx="5733415" cy="20955"/>
          </a:xfrm>
        </p:grpSpPr>
        <p:sp>
          <p:nvSpPr>
            <p:cNvPr id="14" name="object 14"/>
            <p:cNvSpPr/>
            <p:nvPr/>
          </p:nvSpPr>
          <p:spPr>
            <a:xfrm>
              <a:off x="914400" y="710501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644385" y="710577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14704" y="7105789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48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644385" y="7108825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14704" y="712254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14704" y="7122553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02004" y="7311008"/>
            <a:ext cx="2540000" cy="17697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latin typeface="Times New Roman"/>
                <a:cs typeface="Times New Roman"/>
              </a:rPr>
              <a:t>Gradient</a:t>
            </a:r>
            <a:r>
              <a:rPr dirty="0" sz="1350" spc="-15" b="1">
                <a:latin typeface="Times New Roman"/>
                <a:cs typeface="Times New Roman"/>
              </a:rPr>
              <a:t> </a:t>
            </a:r>
            <a:r>
              <a:rPr dirty="0" sz="1350" spc="-10" b="1">
                <a:latin typeface="Times New Roman"/>
                <a:cs typeface="Times New Roman"/>
              </a:rPr>
              <a:t>Boosting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ts val="1165"/>
              </a:lnSpc>
              <a:spcBef>
                <a:spcPts val="1250"/>
              </a:spcBef>
            </a:pPr>
            <a:r>
              <a:rPr dirty="0" sz="1000">
                <a:latin typeface="Courier New"/>
                <a:cs typeface="Courier New"/>
              </a:rPr>
              <a:t>Tree1</a:t>
            </a:r>
            <a:r>
              <a:rPr dirty="0" sz="1000" spc="-20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-</a:t>
            </a:r>
            <a:r>
              <a:rPr dirty="0" sz="1000">
                <a:latin typeface="Courier New"/>
                <a:cs typeface="Courier New"/>
              </a:rPr>
              <a:t>&gt;</a:t>
            </a:r>
            <a:r>
              <a:rPr dirty="0" sz="1000" spc="-1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Errors</a:t>
            </a:r>
            <a:endParaRPr sz="1000">
              <a:latin typeface="Courier New"/>
              <a:cs typeface="Courier New"/>
            </a:endParaRPr>
          </a:p>
          <a:p>
            <a:pPr marL="469265">
              <a:lnSpc>
                <a:spcPts val="1130"/>
              </a:lnSpc>
            </a:pPr>
            <a:r>
              <a:rPr dirty="0" sz="1000" spc="-50">
                <a:latin typeface="Courier New"/>
                <a:cs typeface="Courier New"/>
              </a:rPr>
              <a:t>↓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dirty="0" sz="1000">
                <a:latin typeface="Courier New"/>
                <a:cs typeface="Courier New"/>
              </a:rPr>
              <a:t>Tree2</a:t>
            </a:r>
            <a:r>
              <a:rPr dirty="0" sz="1000" spc="-2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-</a:t>
            </a:r>
            <a:r>
              <a:rPr dirty="0" sz="1000">
                <a:latin typeface="Courier New"/>
                <a:cs typeface="Courier New"/>
              </a:rPr>
              <a:t>&gt;</a:t>
            </a:r>
            <a:r>
              <a:rPr dirty="0" sz="1000" spc="-2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Correct</a:t>
            </a:r>
            <a:r>
              <a:rPr dirty="0" sz="1000" spc="-2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Errors</a:t>
            </a:r>
            <a:endParaRPr sz="1000">
              <a:latin typeface="Courier New"/>
              <a:cs typeface="Courier New"/>
            </a:endParaRPr>
          </a:p>
          <a:p>
            <a:pPr marL="469265">
              <a:lnSpc>
                <a:spcPts val="1135"/>
              </a:lnSpc>
            </a:pPr>
            <a:r>
              <a:rPr dirty="0" sz="1000" spc="-50">
                <a:latin typeface="Courier New"/>
                <a:cs typeface="Courier New"/>
              </a:rPr>
              <a:t>↓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dirty="0" sz="1000">
                <a:latin typeface="Courier New"/>
                <a:cs typeface="Courier New"/>
              </a:rPr>
              <a:t>Tree3</a:t>
            </a:r>
            <a:r>
              <a:rPr dirty="0" sz="1000" spc="-3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-</a:t>
            </a:r>
            <a:r>
              <a:rPr dirty="0" sz="1000">
                <a:latin typeface="Courier New"/>
                <a:cs typeface="Courier New"/>
              </a:rPr>
              <a:t>&gt;</a:t>
            </a:r>
            <a:r>
              <a:rPr dirty="0" sz="1000" spc="-3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Correct</a:t>
            </a:r>
            <a:r>
              <a:rPr dirty="0" sz="1000" spc="-35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Remaining</a:t>
            </a:r>
            <a:r>
              <a:rPr dirty="0" sz="1000" spc="-30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Errors</a:t>
            </a:r>
            <a:endParaRPr sz="1000">
              <a:latin typeface="Courier New"/>
              <a:cs typeface="Courier New"/>
            </a:endParaRPr>
          </a:p>
          <a:p>
            <a:pPr marL="469265">
              <a:lnSpc>
                <a:spcPts val="1135"/>
              </a:lnSpc>
            </a:pPr>
            <a:r>
              <a:rPr dirty="0" sz="1000" spc="-50">
                <a:latin typeface="Courier New"/>
                <a:cs typeface="Courier New"/>
              </a:rPr>
              <a:t>↓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dirty="0" sz="1000">
                <a:latin typeface="Courier New"/>
                <a:cs typeface="Courier New"/>
              </a:rPr>
              <a:t>Tree4</a:t>
            </a:r>
            <a:r>
              <a:rPr dirty="0" sz="1000" spc="-2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-</a:t>
            </a:r>
            <a:r>
              <a:rPr dirty="0" sz="1000">
                <a:latin typeface="Courier New"/>
                <a:cs typeface="Courier New"/>
              </a:rPr>
              <a:t>&gt;</a:t>
            </a:r>
            <a:r>
              <a:rPr dirty="0" sz="1000" spc="-20">
                <a:latin typeface="Courier New"/>
                <a:cs typeface="Courier New"/>
              </a:rPr>
              <a:t> </a:t>
            </a:r>
            <a:r>
              <a:rPr dirty="0" sz="1000">
                <a:latin typeface="Courier New"/>
                <a:cs typeface="Courier New"/>
              </a:rPr>
              <a:t>Final</a:t>
            </a:r>
            <a:r>
              <a:rPr dirty="0" sz="1000" spc="-20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Prediction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Each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learns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previous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mistakes.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14400" y="9371329"/>
            <a:ext cx="5733415" cy="20955"/>
            <a:chOff x="914400" y="9371329"/>
            <a:chExt cx="5733415" cy="20955"/>
          </a:xfrm>
        </p:grpSpPr>
        <p:sp>
          <p:nvSpPr>
            <p:cNvPr id="22" name="object 22"/>
            <p:cNvSpPr/>
            <p:nvPr/>
          </p:nvSpPr>
          <p:spPr>
            <a:xfrm>
              <a:off x="914400" y="9371329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644385" y="937234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14704" y="9372358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644385" y="9375393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14704" y="938910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14704" y="9389122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2004" y="882141"/>
            <a:ext cx="252412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Interview</a:t>
            </a:r>
            <a:r>
              <a:rPr dirty="0" spc="-75"/>
              <a:t> </a:t>
            </a:r>
            <a:r>
              <a:rPr dirty="0" spc="-1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420114"/>
            <a:ext cx="5721350" cy="2165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Q: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Why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Gradient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Boosting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performs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better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than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Decision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Tree?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30"/>
              </a:spcBef>
            </a:pPr>
            <a:r>
              <a:rPr dirty="0" sz="1200" spc="-10" b="1">
                <a:latin typeface="Times New Roman"/>
                <a:cs typeface="Times New Roman"/>
              </a:rPr>
              <a:t>Answer: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65"/>
              </a:spcBef>
            </a:pP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single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Decision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high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error.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Gradient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Boosting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combines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weak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trees </a:t>
            </a:r>
            <a:r>
              <a:rPr dirty="0" sz="1200">
                <a:latin typeface="Times New Roman"/>
                <a:cs typeface="Times New Roman"/>
              </a:rPr>
              <a:t>sequentially,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where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each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corrects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errors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previous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trees,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resulting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highly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accurate predictions.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1350" spc="-10" b="1">
                <a:latin typeface="Times New Roman"/>
                <a:cs typeface="Times New Roman"/>
              </a:rPr>
              <a:t>One-</a:t>
            </a:r>
            <a:r>
              <a:rPr dirty="0" sz="1350" b="1">
                <a:latin typeface="Times New Roman"/>
                <a:cs typeface="Times New Roman"/>
              </a:rPr>
              <a:t>line</a:t>
            </a:r>
            <a:r>
              <a:rPr dirty="0" sz="1350" spc="5" b="1">
                <a:latin typeface="Times New Roman"/>
                <a:cs typeface="Times New Roman"/>
              </a:rPr>
              <a:t> </a:t>
            </a:r>
            <a:r>
              <a:rPr dirty="0" sz="1350" spc="-10" b="1">
                <a:latin typeface="Times New Roman"/>
                <a:cs typeface="Times New Roman"/>
              </a:rPr>
              <a:t>Definition</a:t>
            </a:r>
            <a:endParaRPr sz="1350">
              <a:latin typeface="Times New Roman"/>
              <a:cs typeface="Times New Roman"/>
            </a:endParaRPr>
          </a:p>
          <a:p>
            <a:pPr marL="12700" marR="247650">
              <a:lnSpc>
                <a:spcPct val="95900"/>
              </a:lnSpc>
              <a:spcBef>
                <a:spcPts val="1395"/>
              </a:spcBef>
            </a:pPr>
            <a:r>
              <a:rPr dirty="0" sz="1200" b="1">
                <a:latin typeface="Times New Roman"/>
                <a:cs typeface="Times New Roman"/>
              </a:rPr>
              <a:t>Gradient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Boosting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ensemble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technique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that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builds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multiple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weak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decision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trees </a:t>
            </a:r>
            <a:r>
              <a:rPr dirty="0" sz="1200" b="1">
                <a:latin typeface="Times New Roman"/>
                <a:cs typeface="Times New Roman"/>
              </a:rPr>
              <a:t>sequentially,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where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each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new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tree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learns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from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the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errors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the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previous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trees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to </a:t>
            </a:r>
            <a:r>
              <a:rPr dirty="0" sz="1200" b="1">
                <a:latin typeface="Times New Roman"/>
                <a:cs typeface="Times New Roman"/>
              </a:rPr>
              <a:t>minimize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the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loss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function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improve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prediction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accuracy.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Tejashree Kumar</dc:creator>
  <dcterms:created xsi:type="dcterms:W3CDTF">2026-07-08T08:54:45Z</dcterms:created>
  <dcterms:modified xsi:type="dcterms:W3CDTF">2026-07-08T08:54:45Z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2026-07-07T00:00:00Z</vt:filetime>
  </property>
  <property fmtid="{D5CDD505-2E9C-101B-9397-08002B2CF9AE}" pid="4" name="Creator">
    <vt:lpwstr>Microsoft® Word LTSC</vt:lpwstr>
  </property>
  <property fmtid="{D5CDD505-2E9C-101B-9397-08002B2CF9AE}" pid="5" name="LastSaved">
    <vt:filetime>2026-07-08T00:00:00Z</vt:filetime>
  </property>
  <property fmtid="{D5CDD505-2E9C-101B-9397-08002B2CF9AE}" pid="6" name="Producer">
    <vt:lpwstr>Microsoft® Word LTSC</vt:lpwstr>
  </property>
</Properties>
</file>