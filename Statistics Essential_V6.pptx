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0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87467"/>
            <a:ext cx="9144000" cy="256540"/>
          </a:xfrm>
          <a:custGeom>
            <a:avLst/>
            <a:gdLst/>
            <a:ahLst/>
            <a:cxnLst/>
            <a:rect l="l" t="t" r="r" b="b"/>
            <a:pathLst>
              <a:path w="9144000" h="256539">
                <a:moveTo>
                  <a:pt x="9144000" y="0"/>
                </a:moveTo>
                <a:lnTo>
                  <a:pt x="0" y="0"/>
                </a:lnTo>
                <a:lnTo>
                  <a:pt x="0" y="256032"/>
                </a:lnTo>
                <a:lnTo>
                  <a:pt x="9144000" y="2560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28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6244" y="79959"/>
            <a:ext cx="5560847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87467"/>
            <a:ext cx="9144000" cy="256540"/>
          </a:xfrm>
          <a:custGeom>
            <a:avLst/>
            <a:gdLst/>
            <a:ahLst/>
            <a:cxnLst/>
            <a:rect l="l" t="t" r="r" b="b"/>
            <a:pathLst>
              <a:path w="9144000" h="256539">
                <a:moveTo>
                  <a:pt x="9144000" y="0"/>
                </a:moveTo>
                <a:lnTo>
                  <a:pt x="0" y="0"/>
                </a:lnTo>
                <a:lnTo>
                  <a:pt x="0" y="256032"/>
                </a:lnTo>
                <a:lnTo>
                  <a:pt x="9144000" y="2560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28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87467"/>
            <a:ext cx="9144000" cy="256540"/>
          </a:xfrm>
          <a:custGeom>
            <a:avLst/>
            <a:gdLst/>
            <a:ahLst/>
            <a:cxnLst/>
            <a:rect l="l" t="t" r="r" b="b"/>
            <a:pathLst>
              <a:path w="9144000" h="256539">
                <a:moveTo>
                  <a:pt x="9144000" y="0"/>
                </a:moveTo>
                <a:lnTo>
                  <a:pt x="0" y="0"/>
                </a:lnTo>
                <a:lnTo>
                  <a:pt x="0" y="256032"/>
                </a:lnTo>
                <a:lnTo>
                  <a:pt x="9144000" y="2560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28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67512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E2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35723" y="114300"/>
            <a:ext cx="1979676" cy="5166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401" y="15316"/>
            <a:ext cx="6550228" cy="6234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400" y="953145"/>
            <a:ext cx="4121785" cy="260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07297" y="4872939"/>
            <a:ext cx="346710" cy="281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atamites.com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datamites.com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tribe.datamites.com/po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datamites.com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datamites.com/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35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datamites.com/" TargetMode="Externa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53.jp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530" y="4913172"/>
            <a:ext cx="34232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09141" y="1672234"/>
            <a:ext cx="5413375" cy="75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800" dirty="0">
                <a:solidFill>
                  <a:srgbClr val="000000"/>
                </a:solidFill>
                <a:latin typeface="Arial"/>
                <a:cs typeface="Arial"/>
              </a:rPr>
              <a:t>Statistics</a:t>
            </a:r>
            <a:r>
              <a:rPr sz="4800" spc="-2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Arial"/>
                <a:cs typeface="Arial"/>
              </a:rPr>
              <a:t>Essentials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5723" y="114300"/>
            <a:ext cx="1979676" cy="5166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 result for machine learning robo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15" y="1083719"/>
            <a:ext cx="3511451" cy="3031003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3883914" y="1250340"/>
            <a:ext cx="45758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libri"/>
                <a:cs typeface="Calibri"/>
              </a:rPr>
              <a:t>Overview</a:t>
            </a:r>
            <a:r>
              <a:rPr sz="4000" b="1" spc="-6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of</a:t>
            </a:r>
            <a:r>
              <a:rPr sz="4000" b="1" spc="-3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Statistics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9070" y="2279345"/>
            <a:ext cx="182816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878787"/>
                </a:solidFill>
                <a:latin typeface="Calibri"/>
                <a:cs typeface="Calibri"/>
              </a:rPr>
              <a:t>Module</a:t>
            </a:r>
            <a:r>
              <a:rPr sz="3200" spc="-3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3200" spc="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Statistics</a:t>
            </a:r>
            <a:r>
              <a:rPr spc="-75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 descr="C:\Users\Jojo\Documents\2013\funny\514_400x400_Framed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816" y="1713128"/>
            <a:ext cx="2621127" cy="26211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8144" y="966292"/>
            <a:ext cx="8414385" cy="2788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66395">
              <a:lnSpc>
                <a:spcPct val="1006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The science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collecting,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describing,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interpreting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popularly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known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Statistical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leveraging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 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Science.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Calibri"/>
              <a:cs typeface="Calibri"/>
            </a:endParaRPr>
          </a:p>
          <a:p>
            <a:pPr marL="2794635">
              <a:lnSpc>
                <a:spcPct val="100000"/>
              </a:lnSpc>
            </a:pP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Two</a:t>
            </a:r>
            <a:r>
              <a:rPr sz="2400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areas</a:t>
            </a:r>
            <a:r>
              <a:rPr sz="2400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Statistics:</a:t>
            </a:r>
            <a:endParaRPr sz="2400">
              <a:latin typeface="Calibri"/>
              <a:cs typeface="Calibri"/>
            </a:endParaRPr>
          </a:p>
          <a:p>
            <a:pPr marL="2794635" marR="5080">
              <a:lnSpc>
                <a:spcPct val="100000"/>
              </a:lnSpc>
              <a:spcBef>
                <a:spcPts val="1215"/>
              </a:spcBef>
            </a:pPr>
            <a:r>
              <a:rPr sz="1800" b="1" dirty="0">
                <a:solidFill>
                  <a:srgbClr val="E26C09"/>
                </a:solidFill>
                <a:latin typeface="Calibri"/>
                <a:cs typeface="Calibri"/>
              </a:rPr>
              <a:t>Descriptive</a:t>
            </a:r>
            <a:r>
              <a:rPr sz="1800" b="1" spc="-100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26C09"/>
                </a:solidFill>
                <a:latin typeface="Calibri"/>
                <a:cs typeface="Calibri"/>
              </a:rPr>
              <a:t>statistics</a:t>
            </a:r>
            <a:r>
              <a:rPr sz="1800" b="1" spc="-45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26C09"/>
                </a:solidFill>
                <a:latin typeface="Calibri"/>
                <a:cs typeface="Calibri"/>
              </a:rPr>
              <a:t>–</a:t>
            </a:r>
            <a:r>
              <a:rPr sz="1800" spc="-25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organizing,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summarizing,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presenting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informative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way</a:t>
            </a:r>
            <a:endParaRPr sz="1800">
              <a:latin typeface="Calibri"/>
              <a:cs typeface="Calibri"/>
            </a:endParaRPr>
          </a:p>
          <a:p>
            <a:pPr marL="2794635" marR="494030">
              <a:lnSpc>
                <a:spcPct val="100000"/>
              </a:lnSpc>
              <a:spcBef>
                <a:spcPts val="1190"/>
              </a:spcBef>
            </a:pPr>
            <a:r>
              <a:rPr sz="1800" b="1" dirty="0">
                <a:solidFill>
                  <a:srgbClr val="E26C09"/>
                </a:solidFill>
                <a:latin typeface="Calibri"/>
                <a:cs typeface="Calibri"/>
              </a:rPr>
              <a:t>Inferential</a:t>
            </a:r>
            <a:r>
              <a:rPr sz="1800" b="1" spc="-55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26C09"/>
                </a:solidFill>
                <a:latin typeface="Calibri"/>
                <a:cs typeface="Calibri"/>
              </a:rPr>
              <a:t>statistics</a:t>
            </a:r>
            <a:r>
              <a:rPr sz="1800" b="1" spc="-35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26C09"/>
                </a:solidFill>
                <a:latin typeface="Calibri"/>
                <a:cs typeface="Calibri"/>
              </a:rPr>
              <a:t>–</a:t>
            </a:r>
            <a:r>
              <a:rPr sz="1800" spc="-40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methods used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determine </a:t>
            </a:r>
            <a:r>
              <a:rPr sz="1800" dirty="0">
                <a:latin typeface="Calibri"/>
                <a:cs typeface="Calibri"/>
              </a:rPr>
              <a:t>something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sample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944" y="785139"/>
            <a:ext cx="8366125" cy="383857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Descriptive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statistics</a:t>
            </a:r>
            <a:r>
              <a:rPr sz="20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organizing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summarizing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60"/>
              </a:spcBef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example,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organize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descriptive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such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average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 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summarize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  <a:spcBef>
                <a:spcPts val="465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descriptive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population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26C09"/>
                </a:solidFill>
                <a:latin typeface="Calibri"/>
                <a:cs typeface="Calibri"/>
              </a:rPr>
              <a:t>parameter</a:t>
            </a:r>
            <a:r>
              <a:rPr sz="2000" b="1" spc="-80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descriptive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sample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E26C09"/>
                </a:solidFill>
                <a:latin typeface="Calibri"/>
                <a:cs typeface="Calibri"/>
              </a:rPr>
              <a:t>statistic</a:t>
            </a:r>
            <a:r>
              <a:rPr sz="2000" spc="-10" dirty="0">
                <a:solidFill>
                  <a:srgbClr val="E26C09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584200">
              <a:lnSpc>
                <a:spcPct val="100000"/>
              </a:lnSpc>
              <a:spcBef>
                <a:spcPts val="825"/>
              </a:spcBef>
            </a:pPr>
            <a:r>
              <a:rPr sz="2000" dirty="0">
                <a:latin typeface="Calibri"/>
                <a:cs typeface="Calibri"/>
              </a:rPr>
              <a:t>Collect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1041400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latin typeface="Calibri"/>
                <a:cs typeface="Calibri"/>
              </a:rPr>
              <a:t>e.g.,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Survey</a:t>
            </a:r>
            <a:endParaRPr sz="1800">
              <a:latin typeface="Calibri"/>
              <a:cs typeface="Calibri"/>
            </a:endParaRPr>
          </a:p>
          <a:p>
            <a:pPr marL="584200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latin typeface="Calibri"/>
                <a:cs typeface="Calibri"/>
              </a:rPr>
              <a:t>Present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1041400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latin typeface="Calibri"/>
                <a:cs typeface="Calibri"/>
              </a:rPr>
              <a:t>e.g.,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graphs</a:t>
            </a:r>
            <a:endParaRPr sz="1800">
              <a:latin typeface="Calibri"/>
              <a:cs typeface="Calibri"/>
            </a:endParaRPr>
          </a:p>
          <a:p>
            <a:pPr marL="584200">
              <a:lnSpc>
                <a:spcPct val="100000"/>
              </a:lnSpc>
              <a:spcBef>
                <a:spcPts val="665"/>
              </a:spcBef>
            </a:pPr>
            <a:r>
              <a:rPr sz="2000" dirty="0">
                <a:latin typeface="Calibri"/>
                <a:cs typeface="Calibri"/>
              </a:rPr>
              <a:t>Summarize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58420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latin typeface="Calibri"/>
                <a:cs typeface="Calibri"/>
              </a:rPr>
              <a:t>e.g.,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</a:t>
            </a:r>
            <a:r>
              <a:rPr sz="1800" spc="-50" dirty="0">
                <a:latin typeface="Calibri"/>
                <a:cs typeface="Calibri"/>
              </a:rPr>
              <a:t> 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Descriptive</a:t>
            </a:r>
            <a:r>
              <a:rPr spc="-70" dirty="0"/>
              <a:t> </a:t>
            </a:r>
            <a:r>
              <a:rPr spc="-10" dirty="0"/>
              <a:t>Statistics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9976" y="4154052"/>
            <a:ext cx="677627" cy="68089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004304" y="3675888"/>
            <a:ext cx="1609725" cy="1000125"/>
            <a:chOff x="7004304" y="3675888"/>
            <a:chExt cx="1609725" cy="1000125"/>
          </a:xfrm>
        </p:grpSpPr>
        <p:sp>
          <p:nvSpPr>
            <p:cNvPr id="6" name="object 6"/>
            <p:cNvSpPr/>
            <p:nvPr/>
          </p:nvSpPr>
          <p:spPr>
            <a:xfrm>
              <a:off x="7008876" y="3680460"/>
              <a:ext cx="1600200" cy="990600"/>
            </a:xfrm>
            <a:custGeom>
              <a:avLst/>
              <a:gdLst/>
              <a:ahLst/>
              <a:cxnLst/>
              <a:rect l="l" t="t" r="r" b="b"/>
              <a:pathLst>
                <a:path w="1600200" h="990600">
                  <a:moveTo>
                    <a:pt x="0" y="0"/>
                  </a:moveTo>
                  <a:lnTo>
                    <a:pt x="1650" y="990599"/>
                  </a:lnTo>
                </a:path>
                <a:path w="1600200" h="990600">
                  <a:moveTo>
                    <a:pt x="0" y="987551"/>
                  </a:moveTo>
                  <a:lnTo>
                    <a:pt x="1600200" y="98913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7476" y="4210812"/>
              <a:ext cx="155575" cy="457200"/>
            </a:xfrm>
            <a:custGeom>
              <a:avLst/>
              <a:gdLst/>
              <a:ahLst/>
              <a:cxnLst/>
              <a:rect l="l" t="t" r="r" b="b"/>
              <a:pathLst>
                <a:path w="155575" h="457200">
                  <a:moveTo>
                    <a:pt x="155448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55448" y="457200"/>
                  </a:lnTo>
                  <a:lnTo>
                    <a:pt x="155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7476" y="4210812"/>
              <a:ext cx="155575" cy="457200"/>
            </a:xfrm>
            <a:custGeom>
              <a:avLst/>
              <a:gdLst/>
              <a:ahLst/>
              <a:cxnLst/>
              <a:rect l="l" t="t" r="r" b="b"/>
              <a:pathLst>
                <a:path w="155575" h="457200">
                  <a:moveTo>
                    <a:pt x="0" y="457200"/>
                  </a:moveTo>
                  <a:lnTo>
                    <a:pt x="155448" y="457200"/>
                  </a:lnTo>
                  <a:lnTo>
                    <a:pt x="155448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92924" y="4288536"/>
              <a:ext cx="151130" cy="379730"/>
            </a:xfrm>
            <a:custGeom>
              <a:avLst/>
              <a:gdLst/>
              <a:ahLst/>
              <a:cxnLst/>
              <a:rect l="l" t="t" r="r" b="b"/>
              <a:pathLst>
                <a:path w="151129" h="379729">
                  <a:moveTo>
                    <a:pt x="150875" y="0"/>
                  </a:moveTo>
                  <a:lnTo>
                    <a:pt x="0" y="0"/>
                  </a:lnTo>
                  <a:lnTo>
                    <a:pt x="0" y="379475"/>
                  </a:lnTo>
                  <a:lnTo>
                    <a:pt x="150875" y="379475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92924" y="4288536"/>
              <a:ext cx="151130" cy="379730"/>
            </a:xfrm>
            <a:custGeom>
              <a:avLst/>
              <a:gdLst/>
              <a:ahLst/>
              <a:cxnLst/>
              <a:rect l="l" t="t" r="r" b="b"/>
              <a:pathLst>
                <a:path w="151129" h="379729">
                  <a:moveTo>
                    <a:pt x="0" y="379475"/>
                  </a:moveTo>
                  <a:lnTo>
                    <a:pt x="150875" y="379475"/>
                  </a:lnTo>
                  <a:lnTo>
                    <a:pt x="150875" y="0"/>
                  </a:lnTo>
                  <a:lnTo>
                    <a:pt x="0" y="0"/>
                  </a:lnTo>
                  <a:lnTo>
                    <a:pt x="0" y="3794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43800" y="3982212"/>
              <a:ext cx="151130" cy="685800"/>
            </a:xfrm>
            <a:custGeom>
              <a:avLst/>
              <a:gdLst/>
              <a:ahLst/>
              <a:cxnLst/>
              <a:rect l="l" t="t" r="r" b="b"/>
              <a:pathLst>
                <a:path w="151129" h="685800">
                  <a:moveTo>
                    <a:pt x="150875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50875" y="685800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43800" y="3982212"/>
              <a:ext cx="151130" cy="685800"/>
            </a:xfrm>
            <a:custGeom>
              <a:avLst/>
              <a:gdLst/>
              <a:ahLst/>
              <a:cxnLst/>
              <a:rect l="l" t="t" r="r" b="b"/>
              <a:pathLst>
                <a:path w="151129" h="685800">
                  <a:moveTo>
                    <a:pt x="0" y="685800"/>
                  </a:moveTo>
                  <a:lnTo>
                    <a:pt x="150875" y="685800"/>
                  </a:lnTo>
                  <a:lnTo>
                    <a:pt x="150875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94676" y="4059936"/>
              <a:ext cx="155575" cy="608330"/>
            </a:xfrm>
            <a:custGeom>
              <a:avLst/>
              <a:gdLst/>
              <a:ahLst/>
              <a:cxnLst/>
              <a:rect l="l" t="t" r="r" b="b"/>
              <a:pathLst>
                <a:path w="155575" h="608329">
                  <a:moveTo>
                    <a:pt x="155448" y="0"/>
                  </a:moveTo>
                  <a:lnTo>
                    <a:pt x="0" y="0"/>
                  </a:lnTo>
                  <a:lnTo>
                    <a:pt x="0" y="608076"/>
                  </a:lnTo>
                  <a:lnTo>
                    <a:pt x="155448" y="608076"/>
                  </a:lnTo>
                  <a:lnTo>
                    <a:pt x="155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94676" y="4059936"/>
              <a:ext cx="155575" cy="608330"/>
            </a:xfrm>
            <a:custGeom>
              <a:avLst/>
              <a:gdLst/>
              <a:ahLst/>
              <a:cxnLst/>
              <a:rect l="l" t="t" r="r" b="b"/>
              <a:pathLst>
                <a:path w="155575" h="608329">
                  <a:moveTo>
                    <a:pt x="0" y="608076"/>
                  </a:moveTo>
                  <a:lnTo>
                    <a:pt x="155448" y="608076"/>
                  </a:lnTo>
                  <a:lnTo>
                    <a:pt x="155448" y="0"/>
                  </a:lnTo>
                  <a:lnTo>
                    <a:pt x="0" y="0"/>
                  </a:lnTo>
                  <a:lnTo>
                    <a:pt x="0" y="608076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50124" y="4210812"/>
              <a:ext cx="151130" cy="457200"/>
            </a:xfrm>
            <a:custGeom>
              <a:avLst/>
              <a:gdLst/>
              <a:ahLst/>
              <a:cxnLst/>
              <a:rect l="l" t="t" r="r" b="b"/>
              <a:pathLst>
                <a:path w="151129" h="457200">
                  <a:moveTo>
                    <a:pt x="1508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50875" y="457200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50124" y="4210812"/>
              <a:ext cx="151130" cy="457200"/>
            </a:xfrm>
            <a:custGeom>
              <a:avLst/>
              <a:gdLst/>
              <a:ahLst/>
              <a:cxnLst/>
              <a:rect l="l" t="t" r="r" b="b"/>
              <a:pathLst>
                <a:path w="151129" h="457200">
                  <a:moveTo>
                    <a:pt x="0" y="457200"/>
                  </a:moveTo>
                  <a:lnTo>
                    <a:pt x="150875" y="457200"/>
                  </a:lnTo>
                  <a:lnTo>
                    <a:pt x="1508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01000" y="4439412"/>
              <a:ext cx="151130" cy="228600"/>
            </a:xfrm>
            <a:custGeom>
              <a:avLst/>
              <a:gdLst/>
              <a:ahLst/>
              <a:cxnLst/>
              <a:rect l="l" t="t" r="r" b="b"/>
              <a:pathLst>
                <a:path w="151129" h="228600">
                  <a:moveTo>
                    <a:pt x="150875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50875" y="228600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01000" y="4439412"/>
              <a:ext cx="151130" cy="228600"/>
            </a:xfrm>
            <a:custGeom>
              <a:avLst/>
              <a:gdLst/>
              <a:ahLst/>
              <a:cxnLst/>
              <a:rect l="l" t="t" r="r" b="b"/>
              <a:pathLst>
                <a:path w="151129" h="228600">
                  <a:moveTo>
                    <a:pt x="0" y="228600"/>
                  </a:moveTo>
                  <a:lnTo>
                    <a:pt x="150875" y="228600"/>
                  </a:lnTo>
                  <a:lnTo>
                    <a:pt x="15087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86600" y="4439412"/>
              <a:ext cx="151130" cy="228600"/>
            </a:xfrm>
            <a:custGeom>
              <a:avLst/>
              <a:gdLst/>
              <a:ahLst/>
              <a:cxnLst/>
              <a:rect l="l" t="t" r="r" b="b"/>
              <a:pathLst>
                <a:path w="151129" h="228600">
                  <a:moveTo>
                    <a:pt x="150875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50875" y="228600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86600" y="4439412"/>
              <a:ext cx="151130" cy="228600"/>
            </a:xfrm>
            <a:custGeom>
              <a:avLst/>
              <a:gdLst/>
              <a:ahLst/>
              <a:cxnLst/>
              <a:rect l="l" t="t" r="r" b="b"/>
              <a:pathLst>
                <a:path w="151129" h="228600">
                  <a:moveTo>
                    <a:pt x="0" y="228600"/>
                  </a:moveTo>
                  <a:lnTo>
                    <a:pt x="150875" y="228600"/>
                  </a:lnTo>
                  <a:lnTo>
                    <a:pt x="15087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51876" y="4517136"/>
              <a:ext cx="155575" cy="151130"/>
            </a:xfrm>
            <a:custGeom>
              <a:avLst/>
              <a:gdLst/>
              <a:ahLst/>
              <a:cxnLst/>
              <a:rect l="l" t="t" r="r" b="b"/>
              <a:pathLst>
                <a:path w="155575" h="151129">
                  <a:moveTo>
                    <a:pt x="155448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155448" y="150875"/>
                  </a:lnTo>
                  <a:lnTo>
                    <a:pt x="155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51876" y="4517136"/>
              <a:ext cx="155575" cy="151130"/>
            </a:xfrm>
            <a:custGeom>
              <a:avLst/>
              <a:gdLst/>
              <a:ahLst/>
              <a:cxnLst/>
              <a:rect l="l" t="t" r="r" b="b"/>
              <a:pathLst>
                <a:path w="155575" h="151129">
                  <a:moveTo>
                    <a:pt x="0" y="150875"/>
                  </a:moveTo>
                  <a:lnTo>
                    <a:pt x="155448" y="150875"/>
                  </a:lnTo>
                  <a:lnTo>
                    <a:pt x="155448" y="0"/>
                  </a:lnTo>
                  <a:lnTo>
                    <a:pt x="0" y="0"/>
                  </a:lnTo>
                  <a:lnTo>
                    <a:pt x="0" y="1508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429000" y="2418588"/>
            <a:ext cx="992505" cy="965200"/>
            <a:chOff x="3429000" y="2418588"/>
            <a:chExt cx="992505" cy="965200"/>
          </a:xfrm>
        </p:grpSpPr>
        <p:pic>
          <p:nvPicPr>
            <p:cNvPr id="24" name="object 24" descr="j02835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2418588"/>
              <a:ext cx="992124" cy="964692"/>
            </a:xfrm>
            <a:prstGeom prst="rect">
              <a:avLst/>
            </a:prstGeom>
          </p:spPr>
        </p:pic>
        <p:pic>
          <p:nvPicPr>
            <p:cNvPr id="25" name="object 25" descr="check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73372" y="3058972"/>
              <a:ext cx="132283" cy="122834"/>
            </a:xfrm>
            <a:prstGeom prst="rect">
              <a:avLst/>
            </a:prstGeom>
          </p:spPr>
        </p:pic>
        <p:pic>
          <p:nvPicPr>
            <p:cNvPr id="26" name="object 26" descr="check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6829" y="3209848"/>
              <a:ext cx="136550" cy="122834"/>
            </a:xfrm>
            <a:prstGeom prst="rect">
              <a:avLst/>
            </a:prstGeom>
          </p:spPr>
        </p:pic>
        <p:pic>
          <p:nvPicPr>
            <p:cNvPr id="27" name="object 27" descr="check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5648" y="2903829"/>
              <a:ext cx="132283" cy="126796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8323" y="3259835"/>
            <a:ext cx="1305753" cy="774077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0" name="object 30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89988"/>
            <a:ext cx="9144000" cy="2954020"/>
            <a:chOff x="0" y="2189988"/>
            <a:chExt cx="9144000" cy="2954020"/>
          </a:xfrm>
        </p:grpSpPr>
        <p:sp>
          <p:nvSpPr>
            <p:cNvPr id="3" name="object 3"/>
            <p:cNvSpPr/>
            <p:nvPr/>
          </p:nvSpPr>
          <p:spPr>
            <a:xfrm>
              <a:off x="0" y="4887467"/>
              <a:ext cx="9144000" cy="256540"/>
            </a:xfrm>
            <a:custGeom>
              <a:avLst/>
              <a:gdLst/>
              <a:ahLst/>
              <a:cxnLst/>
              <a:rect l="l" t="t" r="r" b="b"/>
              <a:pathLst>
                <a:path w="9144000" h="256539">
                  <a:moveTo>
                    <a:pt x="9144000" y="0"/>
                  </a:moveTo>
                  <a:lnTo>
                    <a:pt x="0" y="0"/>
                  </a:lnTo>
                  <a:lnTo>
                    <a:pt x="0" y="256032"/>
                  </a:lnTo>
                  <a:lnTo>
                    <a:pt x="9144000" y="2560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28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2189988"/>
              <a:ext cx="2971800" cy="29535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608576"/>
              <a:ext cx="9144000" cy="274320"/>
            </a:xfrm>
            <a:custGeom>
              <a:avLst/>
              <a:gdLst/>
              <a:ahLst/>
              <a:cxnLst/>
              <a:rect l="l" t="t" r="r" b="b"/>
              <a:pathLst>
                <a:path w="9144000" h="274320">
                  <a:moveTo>
                    <a:pt x="914400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9144000" y="2743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7" name="object 7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Inferential</a:t>
            </a:r>
            <a:r>
              <a:rPr spc="-100" dirty="0"/>
              <a:t> </a:t>
            </a:r>
            <a:r>
              <a:rPr spc="-10" dirty="0"/>
              <a:t>Statistics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2" name="object 12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981" y="839470"/>
            <a:ext cx="8776335" cy="416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6260" marR="365125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56260" algn="l"/>
              </a:tabLst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Inferential</a:t>
            </a:r>
            <a:r>
              <a:rPr sz="18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statistics</a:t>
            </a:r>
            <a:r>
              <a:rPr sz="1800" b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 sample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conclusions </a:t>
            </a:r>
            <a:r>
              <a:rPr sz="1800" dirty="0">
                <a:latin typeface="Calibri"/>
                <a:cs typeface="Calibri"/>
              </a:rPr>
              <a:t>(inferences)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populations.</a:t>
            </a:r>
            <a:endParaRPr sz="1800">
              <a:latin typeface="Calibri"/>
              <a:cs typeface="Calibri"/>
            </a:endParaRPr>
          </a:p>
          <a:p>
            <a:pPr marL="556260" marR="203200" indent="-3429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556260" algn="l"/>
              </a:tabLst>
            </a:pPr>
            <a:r>
              <a:rPr sz="1800" dirty="0">
                <a:latin typeface="Calibri"/>
                <a:cs typeface="Calibri"/>
              </a:rPr>
              <a:t>Because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typically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population,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limited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population.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statistics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are </a:t>
            </a:r>
            <a:r>
              <a:rPr sz="1800" dirty="0">
                <a:latin typeface="Calibri"/>
                <a:cs typeface="Calibri"/>
              </a:rPr>
              <a:t>generally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imperfect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representatives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corresponding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 </a:t>
            </a:r>
            <a:r>
              <a:rPr sz="1800" spc="-10" dirty="0">
                <a:latin typeface="Calibri"/>
                <a:cs typeface="Calibri"/>
              </a:rPr>
              <a:t>parameters.</a:t>
            </a:r>
            <a:endParaRPr sz="1800">
              <a:latin typeface="Calibri"/>
              <a:cs typeface="Calibri"/>
            </a:endParaRPr>
          </a:p>
          <a:p>
            <a:pPr marL="600710" indent="-342900">
              <a:lnSpc>
                <a:spcPct val="100000"/>
              </a:lnSpc>
              <a:spcBef>
                <a:spcPts val="944"/>
              </a:spcBef>
              <a:buFont typeface="Arial"/>
              <a:buChar char="•"/>
              <a:tabLst>
                <a:tab pos="600710" algn="l"/>
              </a:tabLst>
            </a:pPr>
            <a:r>
              <a:rPr sz="1800" spc="-10" dirty="0">
                <a:latin typeface="Calibri"/>
                <a:cs typeface="Calibri"/>
              </a:rPr>
              <a:t>Estimation</a:t>
            </a:r>
            <a:endParaRPr sz="1800">
              <a:latin typeface="Calibri"/>
              <a:cs typeface="Calibri"/>
            </a:endParaRPr>
          </a:p>
          <a:p>
            <a:pPr marL="1003300" marR="2909570" lvl="1" indent="-288925">
              <a:lnSpc>
                <a:spcPct val="110100"/>
              </a:lnSpc>
              <a:spcBef>
                <a:spcPts val="395"/>
              </a:spcBef>
              <a:buFont typeface="Arial"/>
              <a:buChar char="–"/>
              <a:tabLst>
                <a:tab pos="1003300" algn="l"/>
              </a:tabLst>
            </a:pPr>
            <a:r>
              <a:rPr sz="1800" dirty="0">
                <a:latin typeface="Calibri"/>
                <a:cs typeface="Calibri"/>
              </a:rPr>
              <a:t>e.g.,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Estimate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weight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weight</a:t>
            </a:r>
            <a:endParaRPr sz="1800">
              <a:latin typeface="Calibri"/>
              <a:cs typeface="Calibri"/>
            </a:endParaRPr>
          </a:p>
          <a:p>
            <a:pPr marL="600710" indent="-34290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600710" algn="l"/>
              </a:tabLst>
            </a:pPr>
            <a:r>
              <a:rPr sz="1800" dirty="0">
                <a:latin typeface="Calibri"/>
                <a:cs typeface="Calibri"/>
              </a:rPr>
              <a:t>Hypothesis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testing</a:t>
            </a:r>
            <a:endParaRPr sz="1800">
              <a:latin typeface="Calibri"/>
              <a:cs typeface="Calibri"/>
            </a:endParaRPr>
          </a:p>
          <a:p>
            <a:pPr marL="1003300" marR="2891790" lvl="1" indent="-288925">
              <a:lnSpc>
                <a:spcPct val="110100"/>
              </a:lnSpc>
              <a:spcBef>
                <a:spcPts val="395"/>
              </a:spcBef>
              <a:buFont typeface="Arial"/>
              <a:buChar char="–"/>
              <a:tabLst>
                <a:tab pos="1003300" algn="l"/>
              </a:tabLst>
            </a:pPr>
            <a:r>
              <a:rPr sz="1800" dirty="0">
                <a:latin typeface="Calibri"/>
                <a:cs typeface="Calibri"/>
              </a:rPr>
              <a:t>e.g.,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claim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weight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70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800">
              <a:latin typeface="Calibri"/>
              <a:cs typeface="Calibri"/>
            </a:endParaRPr>
          </a:p>
          <a:p>
            <a:pPr marL="3571240" marR="5080" indent="-3559175">
              <a:lnSpc>
                <a:spcPct val="79300"/>
              </a:lnSpc>
            </a:pPr>
            <a:r>
              <a:rPr sz="1400" b="1" spc="105" dirty="0">
                <a:solidFill>
                  <a:srgbClr val="006FC0"/>
                </a:solidFill>
                <a:latin typeface="Cambria"/>
                <a:cs typeface="Cambria"/>
              </a:rPr>
              <a:t>Inference</a:t>
            </a:r>
            <a:r>
              <a:rPr sz="1400" b="1" spc="1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is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90" dirty="0">
                <a:latin typeface="Cambria"/>
                <a:cs typeface="Cambria"/>
              </a:rPr>
              <a:t>the</a:t>
            </a:r>
            <a:r>
              <a:rPr sz="1400" b="1" spc="75" dirty="0">
                <a:latin typeface="Cambria"/>
                <a:cs typeface="Cambria"/>
              </a:rPr>
              <a:t> process</a:t>
            </a:r>
            <a:r>
              <a:rPr sz="1400" b="1" spc="95" dirty="0">
                <a:latin typeface="Cambria"/>
                <a:cs typeface="Cambria"/>
              </a:rPr>
              <a:t> </a:t>
            </a:r>
            <a:r>
              <a:rPr sz="1400" b="1" spc="145" dirty="0">
                <a:latin typeface="Cambria"/>
                <a:cs typeface="Cambria"/>
              </a:rPr>
              <a:t>of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95" dirty="0">
                <a:latin typeface="Cambria"/>
                <a:cs typeface="Cambria"/>
              </a:rPr>
              <a:t>drawing</a:t>
            </a:r>
            <a:r>
              <a:rPr sz="1400" b="1" spc="11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conclusions</a:t>
            </a:r>
            <a:r>
              <a:rPr sz="1400" b="1" spc="2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or</a:t>
            </a:r>
            <a:r>
              <a:rPr sz="1400" b="1" spc="45" dirty="0">
                <a:latin typeface="Cambria"/>
                <a:cs typeface="Cambria"/>
              </a:rPr>
              <a:t> </a:t>
            </a:r>
            <a:r>
              <a:rPr sz="1400" b="1" spc="125" dirty="0">
                <a:latin typeface="Cambria"/>
                <a:cs typeface="Cambria"/>
              </a:rPr>
              <a:t>making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decisions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90" dirty="0">
                <a:latin typeface="Cambria"/>
                <a:cs typeface="Cambria"/>
              </a:rPr>
              <a:t>about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50" dirty="0">
                <a:latin typeface="Cambria"/>
                <a:cs typeface="Cambria"/>
              </a:rPr>
              <a:t>a</a:t>
            </a:r>
            <a:r>
              <a:rPr sz="1400" b="1" spc="130" dirty="0">
                <a:latin typeface="Cambria"/>
                <a:cs typeface="Cambria"/>
              </a:rPr>
              <a:t> </a:t>
            </a:r>
            <a:r>
              <a:rPr sz="1400" b="1" spc="100" dirty="0">
                <a:solidFill>
                  <a:srgbClr val="E26C09"/>
                </a:solidFill>
                <a:latin typeface="Cambria"/>
                <a:cs typeface="Cambria"/>
              </a:rPr>
              <a:t>population</a:t>
            </a:r>
            <a:r>
              <a:rPr sz="1400" b="1" spc="30" dirty="0">
                <a:solidFill>
                  <a:srgbClr val="E26C09"/>
                </a:solidFill>
                <a:latin typeface="Cambria"/>
                <a:cs typeface="Cambria"/>
              </a:rPr>
              <a:t> </a:t>
            </a:r>
            <a:r>
              <a:rPr sz="1400" b="1" spc="60" dirty="0">
                <a:latin typeface="Cambria"/>
                <a:cs typeface="Cambria"/>
              </a:rPr>
              <a:t>based </a:t>
            </a:r>
            <a:r>
              <a:rPr sz="1400" b="1" spc="150" dirty="0">
                <a:latin typeface="Cambria"/>
                <a:cs typeface="Cambria"/>
              </a:rPr>
              <a:t>on</a:t>
            </a:r>
            <a:r>
              <a:rPr sz="1400" b="1" spc="40" dirty="0">
                <a:latin typeface="Cambria"/>
                <a:cs typeface="Cambria"/>
              </a:rPr>
              <a:t> </a:t>
            </a:r>
            <a:r>
              <a:rPr sz="1400" b="1" spc="100" dirty="0">
                <a:solidFill>
                  <a:srgbClr val="E26C09"/>
                </a:solidFill>
                <a:latin typeface="Cambria"/>
                <a:cs typeface="Cambria"/>
              </a:rPr>
              <a:t>sample</a:t>
            </a:r>
            <a:r>
              <a:rPr sz="1400" b="1" spc="95" dirty="0">
                <a:solidFill>
                  <a:srgbClr val="E26C09"/>
                </a:solidFill>
                <a:latin typeface="Cambria"/>
                <a:cs typeface="Cambria"/>
              </a:rPr>
              <a:t> </a:t>
            </a:r>
            <a:r>
              <a:rPr sz="1400" b="1" spc="40" dirty="0">
                <a:latin typeface="Cambria"/>
                <a:cs typeface="Cambria"/>
              </a:rPr>
              <a:t>results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Definition</a:t>
            </a:r>
            <a:r>
              <a:rPr spc="-2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Basic</a:t>
            </a:r>
            <a:r>
              <a:rPr spc="-45" dirty="0"/>
              <a:t> </a:t>
            </a:r>
            <a:r>
              <a:rPr spc="-10" dirty="0"/>
              <a:t>terms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844" y="839470"/>
            <a:ext cx="8430260" cy="325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Population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00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collection,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set,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individuals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objects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events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properties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analyzed.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kinds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populations: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E26C09"/>
                </a:solidFill>
                <a:latin typeface="Calibri"/>
                <a:cs typeface="Calibri"/>
              </a:rPr>
              <a:t>finite</a:t>
            </a:r>
            <a:r>
              <a:rPr sz="1800" i="1" spc="-25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E26C09"/>
                </a:solidFill>
                <a:latin typeface="Calibri"/>
                <a:cs typeface="Calibri"/>
              </a:rPr>
              <a:t>infinite</a:t>
            </a:r>
            <a:r>
              <a:rPr sz="1800" spc="-10" dirty="0">
                <a:solidFill>
                  <a:srgbClr val="E26C09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Sample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00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subset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population.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Variable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00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characteristic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individual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element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sample.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00">
              <a:latin typeface="Calibri"/>
              <a:cs typeface="Calibri"/>
            </a:endParaRPr>
          </a:p>
          <a:p>
            <a:pPr marL="12700" marR="154305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18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(singular)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00" spc="-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variable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associated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element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sample.</a:t>
            </a:r>
            <a:r>
              <a:rPr sz="1800" spc="3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 value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number, 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word, 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symbol.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Definition</a:t>
            </a:r>
            <a:r>
              <a:rPr spc="-2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Basic</a:t>
            </a:r>
            <a:r>
              <a:rPr spc="-45" dirty="0"/>
              <a:t> </a:t>
            </a:r>
            <a:r>
              <a:rPr spc="-10" dirty="0"/>
              <a:t>terms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844" y="889457"/>
            <a:ext cx="8439785" cy="3747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18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(plural)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00" spc="-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variable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elements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belonging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sample.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Random</a:t>
            </a:r>
            <a:r>
              <a:rPr sz="18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Variable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Variable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placeholder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anything.It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number,or</a:t>
            </a:r>
            <a:endParaRPr sz="1800" dirty="0">
              <a:latin typeface="Calibri"/>
              <a:cs typeface="Calibri"/>
            </a:endParaRPr>
          </a:p>
          <a:p>
            <a:pPr marL="12700"/>
            <a:r>
              <a:rPr sz="1800" spc="-10" dirty="0">
                <a:latin typeface="Calibri"/>
                <a:cs typeface="Calibri"/>
              </a:rPr>
              <a:t>string, sentences.</a:t>
            </a:r>
            <a:r>
              <a:rPr lang="en-US" dirty="0"/>
              <a:t> </a:t>
            </a:r>
            <a:r>
              <a:rPr lang="en-US" dirty="0">
                <a:latin typeface="Calibri"/>
                <a:cs typeface="Calibri"/>
              </a:rPr>
              <a:t>A variable whose value depends on chance or randomness.</a:t>
            </a:r>
            <a:endParaRPr dirty="0">
              <a:latin typeface="Calibri"/>
              <a:cs typeface="Calibri"/>
            </a:endParaRPr>
          </a:p>
          <a:p>
            <a:pPr marL="12700">
              <a:spcBef>
                <a:spcPts val="755"/>
              </a:spcBef>
            </a:pP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Experiment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planned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activity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whose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yield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r>
              <a:rPr lang="en-US" dirty="0"/>
              <a:t> </a:t>
            </a:r>
            <a:r>
              <a:rPr lang="en-US" dirty="0">
                <a:latin typeface="Calibri"/>
                <a:cs typeface="Calibri"/>
              </a:rPr>
              <a:t>An action performed to collect observations.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Parameter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00" spc="-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numerical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summarizing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entire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population.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Statistic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0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numerical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summarizing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4617720"/>
            <a:chOff x="0" y="114300"/>
            <a:chExt cx="9144000" cy="46177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67512"/>
              <a:ext cx="9144000" cy="406450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528BD4"/>
                </a:solidFill>
              </a:rPr>
              <a:t>Examples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Types of</a:t>
            </a:r>
            <a:r>
              <a:rPr spc="-20" dirty="0">
                <a:solidFill>
                  <a:srgbClr val="528BD4"/>
                </a:solidFill>
              </a:rPr>
              <a:t> Data</a:t>
            </a:r>
          </a:p>
        </p:txBody>
      </p:sp>
      <p:pic>
        <p:nvPicPr>
          <p:cNvPr id="6" name="object 6" descr="Image result for nominal data typ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504" y="951967"/>
            <a:ext cx="6637571" cy="323960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>
              <a:lnSpc>
                <a:spcPts val="201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Examples</a:t>
            </a:r>
            <a:r>
              <a:rPr spc="-55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of</a:t>
            </a:r>
            <a:r>
              <a:rPr spc="-55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variables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32697" y="4872939"/>
            <a:ext cx="28194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0"/>
              </a:lnSpc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031189"/>
            <a:ext cx="8165465" cy="6083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90"/>
              </a:spcBef>
            </a:pPr>
            <a:r>
              <a:rPr sz="2000" i="1" dirty="0">
                <a:solidFill>
                  <a:srgbClr val="E26C09"/>
                </a:solidFill>
                <a:latin typeface="Calibri"/>
                <a:cs typeface="Calibri"/>
              </a:rPr>
              <a:t>Example</a:t>
            </a:r>
            <a:r>
              <a:rPr sz="2000" dirty="0">
                <a:solidFill>
                  <a:srgbClr val="E26C09"/>
                </a:solidFill>
                <a:latin typeface="Calibri"/>
                <a:cs typeface="Calibri"/>
              </a:rPr>
              <a:t>:</a:t>
            </a:r>
            <a:r>
              <a:rPr sz="2000" spc="-55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following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examples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qualitative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numerical variables: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44" y="1630756"/>
            <a:ext cx="21653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25" dirty="0">
                <a:latin typeface="Calibri"/>
                <a:cs typeface="Calibri"/>
              </a:rPr>
              <a:t>1.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975" y="1608795"/>
            <a:ext cx="6115050" cy="263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24180">
              <a:lnSpc>
                <a:spcPct val="1081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temperature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Barrow,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Alaska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12:00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day.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automobile.</a:t>
            </a:r>
            <a:endParaRPr sz="2000" dirty="0">
              <a:latin typeface="Calibri"/>
              <a:cs typeface="Calibri"/>
            </a:endParaRPr>
          </a:p>
          <a:p>
            <a:pPr marL="12700" marR="742950">
              <a:lnSpc>
                <a:spcPct val="106600"/>
              </a:lnSpc>
            </a:pP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 a 6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volt lantern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battery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defective.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pencil.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10660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length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billed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telephone</a:t>
            </a:r>
            <a:r>
              <a:rPr sz="2000" spc="-10" dirty="0">
                <a:latin typeface="Calibri"/>
                <a:cs typeface="Calibri"/>
              </a:rPr>
              <a:t> call.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cereal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children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breakfast.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book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library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adult.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244" y="2267925"/>
            <a:ext cx="216535" cy="19748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000" spc="-25" dirty="0">
                <a:latin typeface="Calibri"/>
                <a:cs typeface="Calibri"/>
              </a:rPr>
              <a:t>2.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2000" spc="-25" dirty="0">
                <a:latin typeface="Calibri"/>
                <a:cs typeface="Calibri"/>
              </a:rPr>
              <a:t>3.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2000" spc="-25" dirty="0">
                <a:latin typeface="Calibri"/>
                <a:cs typeface="Calibri"/>
              </a:rPr>
              <a:t>4.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2000" spc="-25" dirty="0">
                <a:latin typeface="Calibri"/>
                <a:cs typeface="Calibri"/>
              </a:rPr>
              <a:t>5.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2000" spc="-25" dirty="0">
                <a:latin typeface="Calibri"/>
                <a:cs typeface="Calibri"/>
              </a:rPr>
              <a:t>6.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2000" spc="-25" dirty="0">
                <a:latin typeface="Calibri"/>
                <a:cs typeface="Calibri"/>
              </a:rPr>
              <a:t>7.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Examples</a:t>
            </a:r>
            <a:r>
              <a:rPr spc="-55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of</a:t>
            </a:r>
            <a:r>
              <a:rPr spc="-55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variables…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32697" y="4872939"/>
            <a:ext cx="28194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0"/>
              </a:lnSpc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012901"/>
            <a:ext cx="6415405" cy="31451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260"/>
              </a:lnSpc>
              <a:spcBef>
                <a:spcPts val="110"/>
              </a:spcBef>
            </a:pPr>
            <a:r>
              <a:rPr sz="1900" i="1" dirty="0">
                <a:solidFill>
                  <a:srgbClr val="E26C09"/>
                </a:solidFill>
                <a:latin typeface="Calibri"/>
                <a:cs typeface="Calibri"/>
              </a:rPr>
              <a:t>Example</a:t>
            </a:r>
            <a:r>
              <a:rPr sz="1900" dirty="0">
                <a:solidFill>
                  <a:srgbClr val="E26C09"/>
                </a:solidFill>
                <a:latin typeface="Calibri"/>
                <a:cs typeface="Calibri"/>
              </a:rPr>
              <a:t>:</a:t>
            </a:r>
            <a:r>
              <a:rPr sz="1900" spc="-30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Identify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following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examples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</a:t>
            </a:r>
            <a:endParaRPr sz="1900" dirty="0">
              <a:latin typeface="Calibri"/>
              <a:cs typeface="Calibri"/>
            </a:endParaRPr>
          </a:p>
          <a:p>
            <a:pPr marL="469900" indent="-457200">
              <a:lnSpc>
                <a:spcPts val="2260"/>
              </a:lnSpc>
              <a:buAutoNum type="arabicParenBoth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nominal,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(2)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ordinal,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(3)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discrete,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(4)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continuous</a:t>
            </a:r>
            <a:r>
              <a:rPr sz="1900" spc="-9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variables:</a:t>
            </a:r>
            <a:endParaRPr sz="1900" dirty="0">
              <a:latin typeface="Calibri"/>
              <a:cs typeface="Calibri"/>
            </a:endParaRPr>
          </a:p>
          <a:p>
            <a:pPr marL="469900" lvl="1" indent="-457200">
              <a:lnSpc>
                <a:spcPts val="2255"/>
              </a:lnSpc>
              <a:spcBef>
                <a:spcPts val="2150"/>
              </a:spcBef>
              <a:buFont typeface="Arial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length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until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pain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reliever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begins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work.</a:t>
            </a:r>
            <a:endParaRPr sz="1900" dirty="0">
              <a:latin typeface="Calibri"/>
              <a:cs typeface="Calibri"/>
            </a:endParaRPr>
          </a:p>
          <a:p>
            <a:pPr marL="469900" lvl="1" indent="-457200">
              <a:lnSpc>
                <a:spcPts val="2235"/>
              </a:lnSpc>
              <a:buFont typeface="Arial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chocolate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chips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cookie.</a:t>
            </a:r>
            <a:endParaRPr sz="1900" dirty="0">
              <a:latin typeface="Calibri"/>
              <a:cs typeface="Calibri"/>
            </a:endParaRPr>
          </a:p>
          <a:p>
            <a:pPr marL="469900" lvl="1" indent="-457200">
              <a:lnSpc>
                <a:spcPts val="2235"/>
              </a:lnSpc>
              <a:buFont typeface="Arial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colors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statistics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textbook.</a:t>
            </a:r>
            <a:endParaRPr sz="1900" dirty="0">
              <a:latin typeface="Calibri"/>
              <a:cs typeface="Calibri"/>
            </a:endParaRPr>
          </a:p>
          <a:p>
            <a:pPr marL="469900" lvl="1" indent="-457200">
              <a:lnSpc>
                <a:spcPts val="2215"/>
              </a:lnSpc>
              <a:buFont typeface="Arial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brand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refrigerator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home.</a:t>
            </a:r>
            <a:endParaRPr sz="1900" dirty="0">
              <a:latin typeface="Calibri"/>
              <a:cs typeface="Calibri"/>
            </a:endParaRPr>
          </a:p>
          <a:p>
            <a:pPr marL="469900" lvl="1" indent="-457200">
              <a:lnSpc>
                <a:spcPts val="2215"/>
              </a:lnSpc>
              <a:buFont typeface="Arial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overall satisfaction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rating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new</a:t>
            </a:r>
            <a:r>
              <a:rPr sz="1900" spc="-20" dirty="0">
                <a:latin typeface="Calibri"/>
                <a:cs typeface="Calibri"/>
              </a:rPr>
              <a:t> car.</a:t>
            </a:r>
            <a:endParaRPr sz="1900" dirty="0">
              <a:latin typeface="Calibri"/>
              <a:cs typeface="Calibri"/>
            </a:endParaRPr>
          </a:p>
          <a:p>
            <a:pPr marL="469900" lvl="1" indent="-457200">
              <a:lnSpc>
                <a:spcPts val="2235"/>
              </a:lnSpc>
              <a:buFont typeface="Arial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files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 computer’s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hard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disk.</a:t>
            </a:r>
            <a:endParaRPr sz="1900" dirty="0">
              <a:latin typeface="Calibri"/>
              <a:cs typeface="Calibri"/>
            </a:endParaRPr>
          </a:p>
          <a:p>
            <a:pPr marL="469900" lvl="1" indent="-457200">
              <a:lnSpc>
                <a:spcPts val="2235"/>
              </a:lnSpc>
              <a:buFont typeface="Arial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level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water in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swimming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pool.</a:t>
            </a:r>
            <a:endParaRPr sz="1900" dirty="0">
              <a:latin typeface="Calibri"/>
              <a:cs typeface="Calibri"/>
            </a:endParaRPr>
          </a:p>
          <a:p>
            <a:pPr marL="469900" lvl="1" indent="-457200">
              <a:lnSpc>
                <a:spcPts val="2255"/>
              </a:lnSpc>
              <a:buFont typeface="Arial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staples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stapler.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530" y="4913172"/>
            <a:ext cx="34232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" name="object 3" descr="Image result for machine learning robot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015" y="1083719"/>
            <a:ext cx="3511451" cy="3031003"/>
          </a:xfrm>
          <a:prstGeom prst="rect">
            <a:avLst/>
          </a:prstGeom>
        </p:spPr>
      </p:pic>
      <p:sp>
        <p:nvSpPr>
          <p:cNvPr id="4" name="object 4" descr="$PPTXTitle"/>
          <p:cNvSpPr txBox="1"/>
          <p:nvPr/>
        </p:nvSpPr>
        <p:spPr>
          <a:xfrm>
            <a:off x="4272534" y="1215288"/>
            <a:ext cx="38011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dirty="0">
                <a:latin typeface="Calibri"/>
                <a:cs typeface="Calibri"/>
              </a:rPr>
              <a:t>Harnessing</a:t>
            </a:r>
            <a:r>
              <a:rPr sz="4400" b="1" spc="-135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Data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9070" y="2279345"/>
            <a:ext cx="182816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878787"/>
                </a:solidFill>
                <a:latin typeface="Calibri"/>
                <a:cs typeface="Calibri"/>
              </a:rPr>
              <a:t>Module</a:t>
            </a:r>
            <a:r>
              <a:rPr sz="3200" spc="-3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3200" spc="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2238" y="4655921"/>
            <a:ext cx="15557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893665"/>
            <a:ext cx="1737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Steps</a:t>
            </a:r>
            <a:r>
              <a:rPr sz="2800" spc="-20" dirty="0"/>
              <a:t> </a:t>
            </a:r>
            <a:r>
              <a:rPr sz="2800" dirty="0"/>
              <a:t>Involved</a:t>
            </a:r>
            <a:r>
              <a:rPr sz="2800" spc="-65" dirty="0"/>
              <a:t> </a:t>
            </a:r>
            <a:r>
              <a:rPr sz="2800" dirty="0"/>
              <a:t>In</a:t>
            </a:r>
            <a:r>
              <a:rPr sz="2800" spc="-35" dirty="0"/>
              <a:t> </a:t>
            </a:r>
            <a:r>
              <a:rPr sz="2800" dirty="0"/>
              <a:t>Descriptive</a:t>
            </a:r>
            <a:r>
              <a:rPr sz="2800" spc="-65" dirty="0"/>
              <a:t> </a:t>
            </a:r>
            <a:r>
              <a:rPr sz="2800" spc="-10" dirty="0"/>
              <a:t>Statistics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086739"/>
            <a:ext cx="7472680" cy="17138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5"/>
              </a:spcBef>
              <a:buSzPct val="131707"/>
              <a:buFont typeface="Arial"/>
              <a:buChar char="•"/>
              <a:tabLst>
                <a:tab pos="354965" algn="l"/>
              </a:tabLst>
            </a:pPr>
            <a:r>
              <a:rPr sz="2050" dirty="0">
                <a:latin typeface="Calibri"/>
                <a:cs typeface="Calibri"/>
              </a:rPr>
              <a:t>Collecting</a:t>
            </a:r>
            <a:r>
              <a:rPr sz="2050" spc="1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12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data</a:t>
            </a:r>
            <a:endParaRPr sz="2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"/>
              <a:buChar char="•"/>
            </a:pPr>
            <a:endParaRPr sz="2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SzPct val="131707"/>
              <a:buFont typeface="Arial"/>
              <a:buChar char="•"/>
              <a:tabLst>
                <a:tab pos="354965" algn="l"/>
              </a:tabLst>
            </a:pPr>
            <a:r>
              <a:rPr sz="2050" dirty="0">
                <a:latin typeface="Calibri"/>
                <a:cs typeface="Calibri"/>
              </a:rPr>
              <a:t>Presenting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9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data--&gt;Visualization</a:t>
            </a:r>
            <a:r>
              <a:rPr sz="2050" spc="1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using</a:t>
            </a:r>
            <a:r>
              <a:rPr sz="2050" spc="1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Matplotlib</a:t>
            </a:r>
            <a:r>
              <a:rPr sz="2050" spc="1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6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Seaborn.</a:t>
            </a:r>
            <a:endParaRPr sz="2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"/>
              <a:buChar char="•"/>
            </a:pPr>
            <a:endParaRPr sz="2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SzPct val="131707"/>
              <a:buFont typeface="Arial"/>
              <a:buChar char="•"/>
              <a:tabLst>
                <a:tab pos="354965" algn="l"/>
              </a:tabLst>
            </a:pPr>
            <a:r>
              <a:rPr sz="2050" dirty="0">
                <a:latin typeface="Calibri"/>
                <a:cs typeface="Calibri"/>
              </a:rPr>
              <a:t>Summarizing</a:t>
            </a:r>
            <a:r>
              <a:rPr sz="2050" spc="19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9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data--&gt;Module</a:t>
            </a:r>
            <a:r>
              <a:rPr sz="2050" spc="140" dirty="0">
                <a:latin typeface="Calibri"/>
                <a:cs typeface="Calibri"/>
              </a:rPr>
              <a:t> </a:t>
            </a:r>
            <a:r>
              <a:rPr sz="2050" spc="-50" dirty="0">
                <a:latin typeface="Calibri"/>
                <a:cs typeface="Calibri"/>
              </a:rPr>
              <a:t>3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Making</a:t>
            </a:r>
            <a:r>
              <a:rPr spc="15" dirty="0"/>
              <a:t> </a:t>
            </a:r>
            <a:r>
              <a:rPr dirty="0"/>
              <a:t>sense</a:t>
            </a:r>
            <a:r>
              <a:rPr spc="-6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20" dirty="0"/>
              <a:t>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063193"/>
            <a:ext cx="8080375" cy="2199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5"/>
              </a:spcBef>
              <a:tabLst>
                <a:tab pos="360045" algn="l"/>
                <a:tab pos="1306830" algn="l"/>
                <a:tab pos="2125345" algn="l"/>
                <a:tab pos="2487295" algn="l"/>
                <a:tab pos="3347085" algn="l"/>
                <a:tab pos="4046854" algn="l"/>
                <a:tab pos="4591050" algn="l"/>
                <a:tab pos="5922645" algn="l"/>
                <a:tab pos="6814184" algn="l"/>
                <a:tab pos="7513955" algn="l"/>
              </a:tabLst>
            </a:pPr>
            <a:r>
              <a:rPr sz="2000" spc="-5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sample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which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drawn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from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population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should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have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same </a:t>
            </a:r>
            <a:r>
              <a:rPr sz="2000" dirty="0">
                <a:latin typeface="Calibri"/>
                <a:cs typeface="Calibri"/>
              </a:rPr>
              <a:t>characteristics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population.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 dirty="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Sampling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be:</a:t>
            </a:r>
            <a:endParaRPr sz="1800" dirty="0">
              <a:latin typeface="Calibri"/>
              <a:cs typeface="Calibri"/>
            </a:endParaRPr>
          </a:p>
          <a:p>
            <a:pPr marL="469900" indent="-3429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469900" algn="l"/>
              </a:tabLst>
            </a:pPr>
            <a:r>
              <a:rPr sz="1800" b="1" dirty="0">
                <a:solidFill>
                  <a:srgbClr val="E26C09"/>
                </a:solidFill>
                <a:latin typeface="Calibri"/>
                <a:cs typeface="Calibri"/>
              </a:rPr>
              <a:t>with</a:t>
            </a:r>
            <a:r>
              <a:rPr sz="1800" b="1" spc="-25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26C09"/>
                </a:solidFill>
                <a:latin typeface="Calibri"/>
                <a:cs typeface="Calibri"/>
              </a:rPr>
              <a:t>replacement</a:t>
            </a:r>
            <a:r>
              <a:rPr sz="1800" dirty="0">
                <a:solidFill>
                  <a:srgbClr val="E26C09"/>
                </a:solidFill>
                <a:latin typeface="Calibri"/>
                <a:cs typeface="Calibri"/>
              </a:rPr>
              <a:t>:</a:t>
            </a:r>
            <a:r>
              <a:rPr sz="1800" spc="-65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chosen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once</a:t>
            </a:r>
            <a:endParaRPr sz="1800" dirty="0">
              <a:latin typeface="Calibri"/>
              <a:cs typeface="Calibri"/>
            </a:endParaRPr>
          </a:p>
          <a:p>
            <a:pPr marL="469900" marR="407670" indent="-343535">
              <a:lnSpc>
                <a:spcPct val="101800"/>
              </a:lnSpc>
              <a:spcBef>
                <a:spcPts val="355"/>
              </a:spcBef>
              <a:buChar char="•"/>
              <a:tabLst>
                <a:tab pos="469900" algn="l"/>
                <a:tab pos="520065" algn="l"/>
              </a:tabLst>
            </a:pPr>
            <a:r>
              <a:rPr sz="1800" dirty="0"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E26C09"/>
                </a:solidFill>
                <a:latin typeface="Calibri"/>
                <a:cs typeface="Calibri"/>
              </a:rPr>
              <a:t>without</a:t>
            </a:r>
            <a:r>
              <a:rPr sz="1800" b="1" spc="-30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26C09"/>
                </a:solidFill>
                <a:latin typeface="Calibri"/>
                <a:cs typeface="Calibri"/>
              </a:rPr>
              <a:t>replacement</a:t>
            </a:r>
            <a:r>
              <a:rPr sz="1800" dirty="0">
                <a:solidFill>
                  <a:srgbClr val="E26C09"/>
                </a:solidFill>
                <a:latin typeface="Calibri"/>
                <a:cs typeface="Calibri"/>
              </a:rPr>
              <a:t>:</a:t>
            </a:r>
            <a:r>
              <a:rPr sz="1800" spc="-65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chosen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once </a:t>
            </a:r>
            <a:r>
              <a:rPr sz="1800" dirty="0">
                <a:latin typeface="Calibri"/>
                <a:cs typeface="Calibri"/>
              </a:rPr>
              <a:t>(lottery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ticket)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Collecting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20" dirty="0"/>
              <a:t>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6885" y="800176"/>
            <a:ext cx="8050530" cy="38423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325"/>
              </a:lnSpc>
              <a:spcBef>
                <a:spcPts val="130"/>
              </a:spcBef>
            </a:pPr>
            <a:r>
              <a:rPr sz="1950" b="1" dirty="0">
                <a:solidFill>
                  <a:srgbClr val="F79546"/>
                </a:solidFill>
                <a:latin typeface="Calibri"/>
                <a:cs typeface="Calibri"/>
              </a:rPr>
              <a:t>Step1:-</a:t>
            </a:r>
            <a:r>
              <a:rPr sz="1950" dirty="0">
                <a:latin typeface="Calibri"/>
                <a:cs typeface="Calibri"/>
              </a:rPr>
              <a:t>Define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object</a:t>
            </a:r>
            <a:r>
              <a:rPr sz="1950" spc="8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or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aim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9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experiment.</a:t>
            </a:r>
            <a:endParaRPr sz="1950" dirty="0">
              <a:latin typeface="Calibri"/>
              <a:cs typeface="Calibri"/>
            </a:endParaRPr>
          </a:p>
          <a:p>
            <a:pPr marL="1325245">
              <a:lnSpc>
                <a:spcPts val="2325"/>
              </a:lnSpc>
            </a:pPr>
            <a:r>
              <a:rPr sz="1950" dirty="0">
                <a:latin typeface="Calibri"/>
                <a:cs typeface="Calibri"/>
              </a:rPr>
              <a:t>i.e</a:t>
            </a:r>
            <a:r>
              <a:rPr sz="1950" spc="484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Estimate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average</a:t>
            </a:r>
            <a:r>
              <a:rPr sz="1950" spc="1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life</a:t>
            </a:r>
            <a:r>
              <a:rPr sz="1950" spc="-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electronic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component</a:t>
            </a:r>
            <a:endParaRPr sz="1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1950" dirty="0">
              <a:latin typeface="Calibri"/>
              <a:cs typeface="Calibri"/>
            </a:endParaRPr>
          </a:p>
          <a:p>
            <a:pPr marL="12700">
              <a:lnSpc>
                <a:spcPts val="2325"/>
              </a:lnSpc>
            </a:pPr>
            <a:r>
              <a:rPr sz="1950" b="1" dirty="0">
                <a:solidFill>
                  <a:srgbClr val="F79546"/>
                </a:solidFill>
                <a:latin typeface="Calibri"/>
                <a:cs typeface="Calibri"/>
              </a:rPr>
              <a:t>Step2:-</a:t>
            </a:r>
            <a:r>
              <a:rPr sz="1950" dirty="0">
                <a:latin typeface="Calibri"/>
                <a:cs typeface="Calibri"/>
              </a:rPr>
              <a:t>Define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variable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population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interest.</a:t>
            </a:r>
            <a:endParaRPr sz="1950" dirty="0">
              <a:latin typeface="Calibri"/>
              <a:cs typeface="Calibri"/>
            </a:endParaRPr>
          </a:p>
          <a:p>
            <a:pPr marL="1384935">
              <a:lnSpc>
                <a:spcPts val="2325"/>
              </a:lnSpc>
            </a:pPr>
            <a:r>
              <a:rPr sz="1950" dirty="0">
                <a:latin typeface="Calibri"/>
                <a:cs typeface="Calibri"/>
              </a:rPr>
              <a:t>i.e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usage,power</a:t>
            </a:r>
            <a:r>
              <a:rPr sz="1950" spc="114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rating,battery</a:t>
            </a:r>
            <a:r>
              <a:rPr sz="1950" spc="1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life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etc</a:t>
            </a:r>
            <a:endParaRPr sz="1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1950" dirty="0">
              <a:latin typeface="Calibri"/>
              <a:cs typeface="Calibri"/>
            </a:endParaRPr>
          </a:p>
          <a:p>
            <a:pPr marR="622935" algn="r">
              <a:lnSpc>
                <a:spcPts val="2325"/>
              </a:lnSpc>
            </a:pPr>
            <a:r>
              <a:rPr sz="1950" b="1" dirty="0">
                <a:solidFill>
                  <a:srgbClr val="F79546"/>
                </a:solidFill>
                <a:latin typeface="Calibri"/>
                <a:cs typeface="Calibri"/>
              </a:rPr>
              <a:t>Step3:</a:t>
            </a:r>
            <a:r>
              <a:rPr sz="1950" b="1" dirty="0">
                <a:latin typeface="Calibri"/>
                <a:cs typeface="Calibri"/>
              </a:rPr>
              <a:t>-</a:t>
            </a:r>
            <a:r>
              <a:rPr sz="1950" dirty="0">
                <a:latin typeface="Calibri"/>
                <a:cs typeface="Calibri"/>
              </a:rPr>
              <a:t>Defining the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data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collection</a:t>
            </a:r>
            <a:r>
              <a:rPr sz="1950" spc="8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scheme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8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data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measuring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scheme.</a:t>
            </a:r>
            <a:endParaRPr sz="1950" dirty="0">
              <a:latin typeface="Calibri"/>
              <a:cs typeface="Calibri"/>
            </a:endParaRPr>
          </a:p>
          <a:p>
            <a:pPr marR="584200" algn="r">
              <a:lnSpc>
                <a:spcPts val="2325"/>
              </a:lnSpc>
            </a:pPr>
            <a:r>
              <a:rPr sz="1950" dirty="0">
                <a:latin typeface="Calibri"/>
                <a:cs typeface="Calibri"/>
              </a:rPr>
              <a:t>i.e</a:t>
            </a:r>
            <a:r>
              <a:rPr sz="1950" spc="9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sampling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procedure,sample</a:t>
            </a:r>
            <a:r>
              <a:rPr sz="1950" spc="9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size,data</a:t>
            </a:r>
            <a:r>
              <a:rPr sz="1950" spc="9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measuring</a:t>
            </a:r>
            <a:r>
              <a:rPr sz="1950" spc="8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device.</a:t>
            </a:r>
            <a:endParaRPr sz="1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50" b="1" dirty="0">
                <a:solidFill>
                  <a:srgbClr val="F79546"/>
                </a:solidFill>
                <a:latin typeface="Calibri"/>
                <a:cs typeface="Calibri"/>
              </a:rPr>
              <a:t>Step4:-</a:t>
            </a:r>
            <a:r>
              <a:rPr sz="1950" dirty="0">
                <a:latin typeface="Calibri"/>
                <a:cs typeface="Calibri"/>
              </a:rPr>
              <a:t>Defining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7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appropriate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descriptive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inferential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analysis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techniques</a:t>
            </a:r>
            <a:endParaRPr sz="1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528BD4"/>
                </a:solidFill>
              </a:rPr>
              <a:t>Methods</a:t>
            </a:r>
            <a:r>
              <a:rPr sz="3600" spc="-114" dirty="0">
                <a:solidFill>
                  <a:srgbClr val="528BD4"/>
                </a:solidFill>
              </a:rPr>
              <a:t> </a:t>
            </a:r>
            <a:r>
              <a:rPr sz="3600" dirty="0">
                <a:solidFill>
                  <a:srgbClr val="528BD4"/>
                </a:solidFill>
              </a:rPr>
              <a:t>Used</a:t>
            </a:r>
            <a:r>
              <a:rPr sz="3600" spc="-20" dirty="0">
                <a:solidFill>
                  <a:srgbClr val="528BD4"/>
                </a:solidFill>
              </a:rPr>
              <a:t> </a:t>
            </a:r>
            <a:r>
              <a:rPr sz="3600" dirty="0">
                <a:solidFill>
                  <a:srgbClr val="528BD4"/>
                </a:solidFill>
              </a:rPr>
              <a:t>To</a:t>
            </a:r>
            <a:r>
              <a:rPr sz="3600" spc="-20" dirty="0">
                <a:solidFill>
                  <a:srgbClr val="528BD4"/>
                </a:solidFill>
              </a:rPr>
              <a:t> </a:t>
            </a:r>
            <a:r>
              <a:rPr sz="3600" dirty="0">
                <a:solidFill>
                  <a:srgbClr val="528BD4"/>
                </a:solidFill>
              </a:rPr>
              <a:t>Collect</a:t>
            </a:r>
            <a:r>
              <a:rPr sz="3600" spc="-25" dirty="0">
                <a:solidFill>
                  <a:srgbClr val="528BD4"/>
                </a:solidFill>
              </a:rPr>
              <a:t> </a:t>
            </a:r>
            <a:r>
              <a:rPr sz="3600" spc="-20" dirty="0">
                <a:solidFill>
                  <a:srgbClr val="528BD4"/>
                </a:solidFill>
              </a:rPr>
              <a:t>Data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1776" y="976557"/>
            <a:ext cx="8372475" cy="371475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Experiment:</a:t>
            </a:r>
            <a:r>
              <a:rPr sz="1400" b="1" spc="-7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investigator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controls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modifies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 </a:t>
            </a:r>
            <a:r>
              <a:rPr sz="1400" spc="-10" dirty="0">
                <a:latin typeface="Arial"/>
                <a:cs typeface="Arial"/>
              </a:rPr>
              <a:t>environment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observes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effect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variable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latin typeface="Arial"/>
                <a:cs typeface="Arial"/>
              </a:rPr>
              <a:t>under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study.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400" dirty="0">
              <a:latin typeface="Arial"/>
              <a:cs typeface="Arial"/>
            </a:endParaRPr>
          </a:p>
          <a:p>
            <a:pPr marL="12700" marR="459105">
              <a:lnSpc>
                <a:spcPct val="115900"/>
              </a:lnSpc>
            </a:pP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Survey</a:t>
            </a:r>
            <a:r>
              <a:rPr sz="1400" dirty="0">
                <a:solidFill>
                  <a:srgbClr val="F79546"/>
                </a:solidFill>
                <a:latin typeface="Arial"/>
                <a:cs typeface="Arial"/>
              </a:rPr>
              <a:t>:</a:t>
            </a:r>
            <a:r>
              <a:rPr sz="1400" spc="1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obtained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sampling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some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population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interest.</a:t>
            </a:r>
            <a:r>
              <a:rPr sz="1400" spc="3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investigator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not </a:t>
            </a:r>
            <a:r>
              <a:rPr sz="1400" dirty="0">
                <a:latin typeface="Arial"/>
                <a:cs typeface="Arial"/>
              </a:rPr>
              <a:t>modify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environment.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400" dirty="0">
              <a:latin typeface="Arial"/>
              <a:cs typeface="Arial"/>
            </a:endParaRPr>
          </a:p>
          <a:p>
            <a:pPr marL="12700" marR="492759">
              <a:lnSpc>
                <a:spcPct val="115799"/>
              </a:lnSpc>
            </a:pP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Census:</a:t>
            </a:r>
            <a:r>
              <a:rPr sz="1400" b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100%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survey.</a:t>
            </a:r>
            <a:r>
              <a:rPr sz="1400" spc="40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Every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element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population</a:t>
            </a:r>
            <a:r>
              <a:rPr sz="1400" spc="-1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listed.</a:t>
            </a:r>
            <a:r>
              <a:rPr sz="1400" spc="3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Seldom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used: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difficult</a:t>
            </a:r>
            <a:r>
              <a:rPr sz="1400" spc="-1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time-</a:t>
            </a:r>
            <a:r>
              <a:rPr sz="1400" dirty="0">
                <a:latin typeface="Arial"/>
                <a:cs typeface="Arial"/>
              </a:rPr>
              <a:t>consuming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compile,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expensive.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Judgment</a:t>
            </a:r>
            <a:r>
              <a:rPr sz="1400" b="1" spc="-9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Samples:</a:t>
            </a:r>
            <a:r>
              <a:rPr sz="1400" b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non-</a:t>
            </a:r>
            <a:r>
              <a:rPr sz="1400" spc="-10" dirty="0">
                <a:latin typeface="Arial"/>
                <a:cs typeface="Arial"/>
              </a:rPr>
              <a:t>probability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sampling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technique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 which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members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 </a:t>
            </a:r>
            <a:r>
              <a:rPr sz="1400" spc="-10" dirty="0">
                <a:latin typeface="Arial"/>
                <a:cs typeface="Arial"/>
              </a:rPr>
              <a:t>chosen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dirty="0">
                <a:latin typeface="Arial"/>
                <a:cs typeface="Arial"/>
              </a:rPr>
              <a:t>only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basis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researcher's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knowledge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judgment.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F79546"/>
                </a:solidFill>
                <a:latin typeface="Arial"/>
                <a:cs typeface="Arial"/>
              </a:rPr>
              <a:t>Probability</a:t>
            </a:r>
            <a:r>
              <a:rPr sz="1400" b="1" spc="-7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Samples:</a:t>
            </a:r>
            <a:r>
              <a:rPr sz="1400" b="1" spc="-6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 which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elements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 be selected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drawn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 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basis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probability.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element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population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certain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probability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being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selected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sample.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528BD4"/>
                </a:solidFill>
              </a:rPr>
              <a:t>Types</a:t>
            </a:r>
            <a:r>
              <a:rPr sz="3600" spc="-45" dirty="0">
                <a:solidFill>
                  <a:srgbClr val="528BD4"/>
                </a:solidFill>
              </a:rPr>
              <a:t> </a:t>
            </a:r>
            <a:r>
              <a:rPr sz="3600" dirty="0">
                <a:solidFill>
                  <a:srgbClr val="528BD4"/>
                </a:solidFill>
              </a:rPr>
              <a:t>Of</a:t>
            </a:r>
            <a:r>
              <a:rPr sz="3600" spc="-35" dirty="0">
                <a:solidFill>
                  <a:srgbClr val="528BD4"/>
                </a:solidFill>
              </a:rPr>
              <a:t> </a:t>
            </a:r>
            <a:r>
              <a:rPr sz="3600" spc="-10" dirty="0">
                <a:solidFill>
                  <a:srgbClr val="528BD4"/>
                </a:solidFill>
              </a:rPr>
              <a:t>Sampling</a:t>
            </a:r>
            <a:endParaRPr sz="3600"/>
          </a:p>
        </p:txBody>
      </p:sp>
      <p:pic>
        <p:nvPicPr>
          <p:cNvPr id="6" name="object 6" descr="E:\OFFICE WORKS\PPT files\datamites\DS Statistics\Untitled-2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055" y="836675"/>
            <a:ext cx="8252459" cy="43068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8464" y="4938242"/>
            <a:ext cx="22821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Probability</a:t>
            </a:r>
            <a:r>
              <a:rPr spc="-45" dirty="0"/>
              <a:t> </a:t>
            </a:r>
            <a:r>
              <a:rPr spc="-10" dirty="0"/>
              <a:t>Sampling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176" y="844118"/>
            <a:ext cx="8678545" cy="3603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279" indent="-19558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08279" algn="l"/>
              </a:tabLst>
            </a:pP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Simple</a:t>
            </a:r>
            <a:r>
              <a:rPr sz="1400" b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Random</a:t>
            </a:r>
            <a:r>
              <a:rPr sz="1400" b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sampling</a:t>
            </a:r>
            <a:r>
              <a:rPr sz="1400" b="1" spc="-4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:-each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size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has an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equal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chance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being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selected.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F79546"/>
              </a:buClr>
              <a:buFont typeface="Arial"/>
              <a:buAutoNum type="arabicPeriod"/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Clr>
                <a:srgbClr val="F79546"/>
              </a:buClr>
              <a:buFont typeface="Arial"/>
              <a:buAutoNum type="arabicPeriod"/>
            </a:pPr>
            <a:endParaRPr sz="1400">
              <a:latin typeface="Arial"/>
              <a:cs typeface="Arial"/>
            </a:endParaRPr>
          </a:p>
          <a:p>
            <a:pPr marL="208279" indent="-195580">
              <a:lnSpc>
                <a:spcPct val="100000"/>
              </a:lnSpc>
              <a:buAutoNum type="arabicPeriod"/>
              <a:tabLst>
                <a:tab pos="208279" algn="l"/>
              </a:tabLst>
            </a:pP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Stratified</a:t>
            </a:r>
            <a:r>
              <a:rPr sz="1400" b="1" spc="-5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Sampling</a:t>
            </a:r>
            <a:r>
              <a:rPr sz="1400" b="1" spc="-5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:-divide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population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groups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called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strata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take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each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Arial"/>
                <a:cs typeface="Arial"/>
              </a:rPr>
              <a:t>stratum.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400">
              <a:latin typeface="Arial"/>
              <a:cs typeface="Arial"/>
            </a:endParaRPr>
          </a:p>
          <a:p>
            <a:pPr marL="208279" indent="-19558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08279" algn="l"/>
              </a:tabLst>
            </a:pP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Cluster</a:t>
            </a:r>
            <a:r>
              <a:rPr sz="1400" b="1" spc="-6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sampling</a:t>
            </a:r>
            <a:r>
              <a:rPr sz="1400" b="1" spc="-6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:-divide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population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strata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randomly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select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some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strata.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400" dirty="0">
                <a:latin typeface="Arial"/>
                <a:cs typeface="Arial"/>
              </a:rPr>
              <a:t>members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these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strata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cluster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sample.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400">
              <a:latin typeface="Arial"/>
              <a:cs typeface="Arial"/>
            </a:endParaRPr>
          </a:p>
          <a:p>
            <a:pPr marL="207010" indent="-19431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07010" algn="l"/>
              </a:tabLst>
            </a:pP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Systematic</a:t>
            </a:r>
            <a:r>
              <a:rPr sz="1400" b="1" spc="-4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sampling</a:t>
            </a:r>
            <a:r>
              <a:rPr sz="1400" b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:-randomly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select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starting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point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 take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every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n-th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piece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 listing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population.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400">
              <a:latin typeface="Arial"/>
              <a:cs typeface="Arial"/>
            </a:endParaRPr>
          </a:p>
          <a:p>
            <a:pPr marL="12700" marR="5080" indent="194310">
              <a:lnSpc>
                <a:spcPct val="105100"/>
              </a:lnSpc>
              <a:spcBef>
                <a:spcPts val="5"/>
              </a:spcBef>
              <a:buAutoNum type="arabicPeriod" startAt="5"/>
              <a:tabLst>
                <a:tab pos="207010" algn="l"/>
              </a:tabLst>
            </a:pP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Multistage</a:t>
            </a:r>
            <a:r>
              <a:rPr sz="1400" b="1" spc="-1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79546"/>
                </a:solidFill>
                <a:latin typeface="Arial"/>
                <a:cs typeface="Arial"/>
              </a:rPr>
              <a:t>Random</a:t>
            </a:r>
            <a:r>
              <a:rPr sz="1400" b="1" spc="-1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:-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divide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population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clusters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select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some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clusters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first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stage.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each </a:t>
            </a:r>
            <a:r>
              <a:rPr sz="1400" spc="-10" dirty="0">
                <a:latin typeface="Arial"/>
                <a:cs typeface="Arial"/>
              </a:rPr>
              <a:t>subsequent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stage,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further</a:t>
            </a:r>
            <a:r>
              <a:rPr sz="1400" spc="-1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divide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up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those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selected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clusters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smaller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clusters,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repeat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process </a:t>
            </a:r>
            <a:r>
              <a:rPr sz="1400" dirty="0">
                <a:latin typeface="Arial"/>
                <a:cs typeface="Arial"/>
              </a:rPr>
              <a:t>until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get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desired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size.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Sampling</a:t>
            </a:r>
            <a:r>
              <a:rPr spc="-10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044" y="1063193"/>
            <a:ext cx="8264525" cy="244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100"/>
              </a:spcBef>
            </a:pPr>
            <a:r>
              <a:rPr sz="1900" i="1" dirty="0">
                <a:solidFill>
                  <a:srgbClr val="E26C09"/>
                </a:solidFill>
                <a:latin typeface="Calibri"/>
                <a:cs typeface="Calibri"/>
              </a:rPr>
              <a:t>Example</a:t>
            </a:r>
            <a:r>
              <a:rPr sz="1900" dirty="0">
                <a:solidFill>
                  <a:srgbClr val="E26C09"/>
                </a:solidFill>
                <a:latin typeface="Calibri"/>
                <a:cs typeface="Calibri"/>
              </a:rPr>
              <a:t>:</a:t>
            </a:r>
            <a:r>
              <a:rPr sz="1900" spc="-30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employer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interested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takes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employee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commute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morning.</a:t>
            </a:r>
            <a:r>
              <a:rPr sz="1900" spc="3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random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sample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35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employees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selected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their </a:t>
            </a:r>
            <a:r>
              <a:rPr sz="1900" dirty="0">
                <a:latin typeface="Calibri"/>
                <a:cs typeface="Calibri"/>
              </a:rPr>
              <a:t>commuting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recorded.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There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2712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employees.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1900" dirty="0">
                <a:latin typeface="Calibri"/>
                <a:cs typeface="Calibri"/>
              </a:rPr>
              <a:t>Each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employee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numbered: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0001,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0002,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0003,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etc.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2712.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four-</a:t>
            </a:r>
            <a:r>
              <a:rPr sz="1900" dirty="0">
                <a:latin typeface="Calibri"/>
                <a:cs typeface="Calibri"/>
              </a:rPr>
              <a:t>digit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random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numbers,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sample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identified: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1315,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0987,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1125,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etc.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01f0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18388"/>
            <a:ext cx="4160520" cy="393649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Sampling</a:t>
            </a:r>
            <a:r>
              <a:rPr spc="-105" dirty="0"/>
              <a:t> </a:t>
            </a:r>
            <a:r>
              <a:rPr spc="-10" dirty="0"/>
              <a:t>Error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834593"/>
            <a:ext cx="5359400" cy="3647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0" marR="69850" indent="-343535">
              <a:lnSpc>
                <a:spcPct val="99900"/>
              </a:lnSpc>
              <a:spcBef>
                <a:spcPts val="120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discrepancy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sample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statistic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population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parameter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E26C09"/>
                </a:solidFill>
                <a:latin typeface="Calibri"/>
                <a:cs typeface="Calibri"/>
              </a:rPr>
              <a:t>sampling error</a:t>
            </a:r>
            <a:r>
              <a:rPr sz="2000" spc="-10" dirty="0">
                <a:solidFill>
                  <a:srgbClr val="E26C09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100600"/>
              </a:lnSpc>
              <a:spcBef>
                <a:spcPts val="39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Defining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sampling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large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inferential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statistics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1.2</a:t>
            </a:r>
            <a:endParaRPr sz="1400">
              <a:latin typeface="Calibri"/>
              <a:cs typeface="Calibri"/>
            </a:endParaRPr>
          </a:p>
          <a:p>
            <a:pPr marL="12700" marR="960755">
              <a:lnSpc>
                <a:spcPct val="100099"/>
              </a:lnSpc>
              <a:spcBef>
                <a:spcPts val="15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demonstration 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sampling error.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Two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samples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are </a:t>
            </a:r>
            <a:r>
              <a:rPr sz="1400" dirty="0">
                <a:latin typeface="Calibri"/>
                <a:cs typeface="Calibri"/>
              </a:rPr>
              <a:t>selected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population.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Notice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sample </a:t>
            </a:r>
            <a:r>
              <a:rPr sz="1400" dirty="0">
                <a:latin typeface="Calibri"/>
                <a:cs typeface="Calibri"/>
              </a:rPr>
              <a:t>statistics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different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sample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another,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all</a:t>
            </a:r>
            <a:r>
              <a:rPr sz="1400" spc="5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 sample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statistics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different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corresponding </a:t>
            </a:r>
            <a:r>
              <a:rPr sz="1400" dirty="0">
                <a:latin typeface="Calibri"/>
                <a:cs typeface="Calibri"/>
              </a:rPr>
              <a:t>population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parameters.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natural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differences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exist,</a:t>
            </a:r>
            <a:r>
              <a:rPr sz="1400" spc="5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chance,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sample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statistic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population </a:t>
            </a:r>
            <a:r>
              <a:rPr sz="1400" dirty="0">
                <a:latin typeface="Calibri"/>
                <a:cs typeface="Calibri"/>
              </a:rPr>
              <a:t>parameter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called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26C09"/>
                </a:solidFill>
                <a:latin typeface="Calibri"/>
                <a:cs typeface="Calibri"/>
              </a:rPr>
              <a:t>sampling</a:t>
            </a:r>
            <a:r>
              <a:rPr sz="1400" spc="-20" dirty="0">
                <a:solidFill>
                  <a:srgbClr val="E26C0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E26C09"/>
                </a:solidFill>
                <a:latin typeface="Calibri"/>
                <a:cs typeface="Calibri"/>
              </a:rPr>
              <a:t>error.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530" y="4913172"/>
            <a:ext cx="34232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" name="object 3" descr="Image result for machine learning robot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015" y="1083719"/>
            <a:ext cx="3511451" cy="3031003"/>
          </a:xfrm>
          <a:prstGeom prst="rect">
            <a:avLst/>
          </a:prstGeom>
        </p:spPr>
      </p:pic>
      <p:sp>
        <p:nvSpPr>
          <p:cNvPr id="4" name="object 4" descr="$PPTXTitle"/>
          <p:cNvSpPr txBox="1"/>
          <p:nvPr/>
        </p:nvSpPr>
        <p:spPr>
          <a:xfrm>
            <a:off x="4011929" y="1250340"/>
            <a:ext cx="43186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latin typeface="Calibri"/>
                <a:cs typeface="Calibri"/>
              </a:rPr>
              <a:t>Exploratory</a:t>
            </a:r>
            <a:r>
              <a:rPr sz="4000" b="1" spc="-12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Analysis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9070" y="2279345"/>
            <a:ext cx="182816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878787"/>
                </a:solidFill>
                <a:latin typeface="Calibri"/>
                <a:cs typeface="Calibri"/>
              </a:rPr>
              <a:t>Module</a:t>
            </a:r>
            <a:r>
              <a:rPr sz="3200" spc="-3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3200" spc="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878787"/>
                </a:solidFill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2238" y="4655921"/>
            <a:ext cx="15557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893665"/>
            <a:ext cx="1737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2063" y="1766087"/>
            <a:ext cx="731265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528BD4"/>
                </a:solidFill>
              </a:rPr>
              <a:t>Measures</a:t>
            </a:r>
            <a:r>
              <a:rPr sz="4400" spc="-114" dirty="0">
                <a:solidFill>
                  <a:srgbClr val="528BD4"/>
                </a:solidFill>
              </a:rPr>
              <a:t> </a:t>
            </a:r>
            <a:r>
              <a:rPr sz="4400" dirty="0">
                <a:solidFill>
                  <a:srgbClr val="528BD4"/>
                </a:solidFill>
              </a:rPr>
              <a:t>of</a:t>
            </a:r>
            <a:r>
              <a:rPr sz="4400" spc="-114" dirty="0">
                <a:solidFill>
                  <a:srgbClr val="528BD4"/>
                </a:solidFill>
              </a:rPr>
              <a:t> </a:t>
            </a:r>
            <a:r>
              <a:rPr sz="4400" dirty="0">
                <a:solidFill>
                  <a:srgbClr val="528BD4"/>
                </a:solidFill>
              </a:rPr>
              <a:t>Central</a:t>
            </a:r>
            <a:r>
              <a:rPr sz="4400" spc="-135" dirty="0">
                <a:solidFill>
                  <a:srgbClr val="528BD4"/>
                </a:solidFill>
              </a:rPr>
              <a:t> </a:t>
            </a:r>
            <a:r>
              <a:rPr sz="4400" spc="-10" dirty="0">
                <a:solidFill>
                  <a:srgbClr val="528BD4"/>
                </a:solidFill>
              </a:rPr>
              <a:t>Tendencies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541257" y="4872939"/>
            <a:ext cx="28194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0"/>
              </a:lnSpc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87425">
              <a:lnSpc>
                <a:spcPct val="100000"/>
              </a:lnSpc>
              <a:spcBef>
                <a:spcPts val="105"/>
              </a:spcBef>
            </a:pPr>
            <a:r>
              <a:rPr dirty="0"/>
              <a:t>Central</a:t>
            </a:r>
            <a:r>
              <a:rPr spc="-50" dirty="0"/>
              <a:t> </a:t>
            </a:r>
            <a:r>
              <a:rPr spc="-10" dirty="0"/>
              <a:t>Tendency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32697" y="4872939"/>
            <a:ext cx="28194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0"/>
              </a:lnSpc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544" y="1257376"/>
            <a:ext cx="7800975" cy="1003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property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being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concentrated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centre.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5011"/>
            <a:ext cx="4434205" cy="2736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solidFill>
                  <a:srgbClr val="528BD4"/>
                </a:solidFill>
                <a:latin typeface="Calibri"/>
                <a:cs typeface="Calibri"/>
              </a:rPr>
              <a:t>Measures</a:t>
            </a:r>
            <a:r>
              <a:rPr sz="2800" spc="-65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28BD4"/>
                </a:solidFill>
                <a:latin typeface="Calibri"/>
                <a:cs typeface="Calibri"/>
              </a:rPr>
              <a:t>of</a:t>
            </a:r>
            <a:r>
              <a:rPr sz="2800" spc="-35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28BD4"/>
                </a:solidFill>
                <a:latin typeface="Calibri"/>
                <a:cs typeface="Calibri"/>
              </a:rPr>
              <a:t>Central</a:t>
            </a:r>
            <a:r>
              <a:rPr sz="2800" spc="-30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528BD4"/>
                </a:solidFill>
                <a:latin typeface="Calibri"/>
                <a:cs typeface="Calibri"/>
              </a:rPr>
              <a:t>Tendency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14"/>
              </a:spcBef>
            </a:pP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3200" spc="-20" dirty="0">
                <a:latin typeface="Calibri"/>
                <a:cs typeface="Calibri"/>
              </a:rPr>
              <a:t>Mean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Median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20" dirty="0">
                <a:latin typeface="Calibri"/>
                <a:cs typeface="Calibri"/>
              </a:rPr>
              <a:t>Mode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2697" y="4872939"/>
            <a:ext cx="28194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0"/>
              </a:lnSpc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528BD4"/>
                </a:solidFill>
              </a:rPr>
              <a:t>Mean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847" y="2237943"/>
            <a:ext cx="63861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mean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average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numbers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is </a:t>
            </a:r>
            <a:r>
              <a:rPr sz="2700" dirty="0">
                <a:latin typeface="Calibri"/>
                <a:cs typeface="Calibri"/>
              </a:rPr>
              <a:t>sometimes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called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arithmetic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mean.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528BD4"/>
                </a:solidFill>
              </a:rPr>
              <a:t>Median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2040712"/>
            <a:ext cx="7915275" cy="167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statistical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median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middle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number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sequence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numbers.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find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median, organize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each </a:t>
            </a:r>
            <a:r>
              <a:rPr sz="2700" dirty="0">
                <a:latin typeface="Calibri"/>
                <a:cs typeface="Calibri"/>
              </a:rPr>
              <a:t>number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order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size;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number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middle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median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4F81BC"/>
                </a:solidFill>
              </a:rPr>
              <a:t>Mode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244" y="2452573"/>
            <a:ext cx="786765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mode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number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occurs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most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often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within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set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numbers.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7467"/>
            <a:ext cx="9144000" cy="256540"/>
          </a:xfrm>
          <a:custGeom>
            <a:avLst/>
            <a:gdLst/>
            <a:ahLst/>
            <a:cxnLst/>
            <a:rect l="l" t="t" r="r" b="b"/>
            <a:pathLst>
              <a:path w="9144000" h="256539">
                <a:moveTo>
                  <a:pt x="9144000" y="0"/>
                </a:moveTo>
                <a:lnTo>
                  <a:pt x="0" y="0"/>
                </a:lnTo>
                <a:lnTo>
                  <a:pt x="0" y="256032"/>
                </a:lnTo>
                <a:lnTo>
                  <a:pt x="9144000" y="2560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28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0530" y="4913172"/>
            <a:ext cx="34232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1174" y="1801444"/>
            <a:ext cx="7534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4F81BC"/>
                </a:solidFill>
              </a:rPr>
              <a:t>Measure</a:t>
            </a:r>
            <a:r>
              <a:rPr sz="4000" spc="-30" dirty="0">
                <a:solidFill>
                  <a:srgbClr val="4F81BC"/>
                </a:solidFill>
              </a:rPr>
              <a:t> </a:t>
            </a:r>
            <a:r>
              <a:rPr sz="4000" dirty="0">
                <a:solidFill>
                  <a:srgbClr val="4F81BC"/>
                </a:solidFill>
              </a:rPr>
              <a:t>of</a:t>
            </a:r>
            <a:r>
              <a:rPr sz="4000" spc="-60" dirty="0">
                <a:solidFill>
                  <a:srgbClr val="4F81BC"/>
                </a:solidFill>
              </a:rPr>
              <a:t> </a:t>
            </a:r>
            <a:r>
              <a:rPr sz="4000" dirty="0">
                <a:solidFill>
                  <a:srgbClr val="4F81BC"/>
                </a:solidFill>
              </a:rPr>
              <a:t>Spread</a:t>
            </a:r>
            <a:r>
              <a:rPr sz="4000" spc="-35" dirty="0">
                <a:solidFill>
                  <a:srgbClr val="4F81BC"/>
                </a:solidFill>
              </a:rPr>
              <a:t> </a:t>
            </a:r>
            <a:r>
              <a:rPr sz="4000" dirty="0">
                <a:solidFill>
                  <a:srgbClr val="4F81BC"/>
                </a:solidFill>
              </a:rPr>
              <a:t>/</a:t>
            </a:r>
            <a:r>
              <a:rPr sz="4000" spc="-55" dirty="0">
                <a:solidFill>
                  <a:srgbClr val="4F81BC"/>
                </a:solidFill>
              </a:rPr>
              <a:t> </a:t>
            </a:r>
            <a:r>
              <a:rPr sz="4000" dirty="0">
                <a:solidFill>
                  <a:srgbClr val="4F81BC"/>
                </a:solidFill>
              </a:rPr>
              <a:t>Data</a:t>
            </a:r>
            <a:r>
              <a:rPr sz="4000" spc="-35" dirty="0">
                <a:solidFill>
                  <a:srgbClr val="4F81BC"/>
                </a:solidFill>
              </a:rPr>
              <a:t> </a:t>
            </a:r>
            <a:r>
              <a:rPr sz="4000" spc="-10" dirty="0">
                <a:solidFill>
                  <a:srgbClr val="4F81BC"/>
                </a:solidFill>
              </a:rPr>
              <a:t>Variability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8762238" y="4655921"/>
            <a:ext cx="15557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79959"/>
            <a:ext cx="4228465" cy="3675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4F81BC"/>
                </a:solidFill>
                <a:latin typeface="Calibri"/>
                <a:cs typeface="Calibri"/>
              </a:rPr>
              <a:t>Range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3200">
              <a:latin typeface="Calibri"/>
              <a:cs typeface="Calibri"/>
            </a:endParaRPr>
          </a:p>
          <a:p>
            <a:pPr marL="323215" marR="5080">
              <a:lnSpc>
                <a:spcPct val="1002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range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difference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between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highest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lowest </a:t>
            </a:r>
            <a:r>
              <a:rPr sz="3200" dirty="0">
                <a:latin typeface="Calibri"/>
                <a:cs typeface="Calibri"/>
              </a:rPr>
              <a:t>values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-25" dirty="0">
                <a:latin typeface="Calibri"/>
                <a:cs typeface="Calibri"/>
              </a:rPr>
              <a:t> of </a:t>
            </a:r>
            <a:r>
              <a:rPr sz="3200" spc="-10" dirty="0">
                <a:latin typeface="Calibri"/>
                <a:cs typeface="Calibri"/>
              </a:rPr>
              <a:t>numbers.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3932" y="1083563"/>
            <a:ext cx="1732788" cy="31638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271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35"/>
              </a:spcBef>
            </a:pPr>
            <a:r>
              <a:rPr sz="2450" b="1" dirty="0">
                <a:solidFill>
                  <a:srgbClr val="528BD4"/>
                </a:solidFill>
                <a:latin typeface="Calibri"/>
                <a:cs typeface="Calibri"/>
              </a:rPr>
              <a:t>Interquartile</a:t>
            </a:r>
            <a:r>
              <a:rPr sz="2450" b="1" spc="95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528BD4"/>
                </a:solidFill>
                <a:latin typeface="Calibri"/>
                <a:cs typeface="Calibri"/>
              </a:rPr>
              <a:t>Range</a:t>
            </a:r>
            <a:r>
              <a:rPr sz="2450" b="1" spc="140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528BD4"/>
                </a:solidFill>
                <a:latin typeface="Calibri"/>
                <a:cs typeface="Calibri"/>
              </a:rPr>
              <a:t>(IQR)Range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6836" y="1270365"/>
            <a:ext cx="3942079" cy="2551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7340">
              <a:lnSpc>
                <a:spcPct val="115100"/>
              </a:lnSpc>
              <a:spcBef>
                <a:spcPts val="95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interquartile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middle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half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5100"/>
              </a:lnSpc>
            </a:pPr>
            <a:r>
              <a:rPr sz="2400" dirty="0">
                <a:latin typeface="Calibri"/>
                <a:cs typeface="Calibri"/>
              </a:rPr>
              <a:t>Mathematically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interquartile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50%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fall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Q1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Q3.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http://my.ilstu.edu/~gjin/hsc204-hed/Module-5-Summary-Measure-2/Figure-3-8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2087" y="948101"/>
            <a:ext cx="2842442" cy="35704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Standard</a:t>
            </a:r>
            <a:r>
              <a:rPr spc="-12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Deviation</a:t>
            </a:r>
            <a:r>
              <a:rPr spc="-50" dirty="0">
                <a:solidFill>
                  <a:srgbClr val="4F81BC"/>
                </a:solidFill>
              </a:rPr>
              <a:t> </a:t>
            </a:r>
            <a:r>
              <a:rPr spc="-25" dirty="0">
                <a:solidFill>
                  <a:srgbClr val="4F81BC"/>
                </a:solidFill>
              </a:rPr>
              <a:t>(</a:t>
            </a:r>
            <a:r>
              <a:rPr b="1" spc="-25" dirty="0">
                <a:solidFill>
                  <a:srgbClr val="4F81BC"/>
                </a:solidFill>
                <a:latin typeface="Calibri"/>
                <a:cs typeface="Calibri"/>
              </a:rPr>
              <a:t>σ)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13690" marR="508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Calibri"/>
                <a:cs typeface="Calibri"/>
              </a:rPr>
              <a:t>Standard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(SD)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measure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quantify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variation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dispersion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set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0" dirty="0">
                <a:latin typeface="Calibri"/>
                <a:cs typeface="Calibri"/>
              </a:rPr>
              <a:t> values.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5776" y="1298447"/>
            <a:ext cx="2742443" cy="15979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Standard</a:t>
            </a:r>
            <a:r>
              <a:rPr spc="-12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Deviation</a:t>
            </a:r>
            <a:r>
              <a:rPr spc="-50" dirty="0">
                <a:solidFill>
                  <a:srgbClr val="4F81BC"/>
                </a:solidFill>
              </a:rPr>
              <a:t> </a:t>
            </a:r>
            <a:r>
              <a:rPr spc="-25" dirty="0">
                <a:solidFill>
                  <a:srgbClr val="4F81BC"/>
                </a:solidFill>
              </a:rPr>
              <a:t>(</a:t>
            </a:r>
            <a:r>
              <a:rPr b="1" spc="-25" dirty="0">
                <a:solidFill>
                  <a:srgbClr val="4F81BC"/>
                </a:solidFill>
                <a:latin typeface="Calibri"/>
                <a:cs typeface="Calibri"/>
              </a:rPr>
              <a:t>σ)</a:t>
            </a:r>
          </a:p>
        </p:txBody>
      </p:sp>
      <p:pic>
        <p:nvPicPr>
          <p:cNvPr id="6" name="object 6" descr="E:\OFFICE WORKS\PPT files\datamites\DS Statistics\REMOVE LOGO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2848" y="1484563"/>
            <a:ext cx="4617720" cy="265147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4F81BC"/>
                </a:solidFill>
              </a:rPr>
              <a:t>Variance(</a:t>
            </a:r>
            <a:r>
              <a:rPr b="1" spc="-10" dirty="0">
                <a:solidFill>
                  <a:srgbClr val="4F81BC"/>
                </a:solidFill>
                <a:latin typeface="Calibri"/>
                <a:cs typeface="Calibri"/>
              </a:rPr>
              <a:t>σ</a:t>
            </a:r>
            <a:r>
              <a:rPr sz="3150" b="1" spc="-15" baseline="25132" dirty="0">
                <a:solidFill>
                  <a:srgbClr val="4F81BC"/>
                </a:solidFill>
                <a:latin typeface="Calibri"/>
                <a:cs typeface="Calibri"/>
              </a:rPr>
              <a:t>2</a:t>
            </a:r>
            <a:r>
              <a:rPr sz="3200" b="1" spc="-10" dirty="0">
                <a:solidFill>
                  <a:srgbClr val="4F81BC"/>
                </a:solidFill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847" y="955624"/>
            <a:ext cx="3661410" cy="308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90"/>
              </a:spcBef>
            </a:pPr>
            <a:r>
              <a:rPr sz="2400" dirty="0">
                <a:latin typeface="Calibri"/>
                <a:cs typeface="Calibri"/>
              </a:rPr>
              <a:t>Variance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average </a:t>
            </a:r>
            <a:r>
              <a:rPr sz="2400" dirty="0">
                <a:latin typeface="Calibri"/>
                <a:cs typeface="Calibri"/>
              </a:rPr>
              <a:t>squared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Unlike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measures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variability,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variance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12700" marR="542925">
              <a:lnSpc>
                <a:spcPct val="105100"/>
              </a:lnSpc>
            </a:pPr>
            <a:r>
              <a:rPr sz="2400" dirty="0">
                <a:latin typeface="Calibri"/>
                <a:cs typeface="Calibri"/>
              </a:rPr>
              <a:t>calculation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comparing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mean.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035" y="1046988"/>
            <a:ext cx="1810512" cy="9555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7215" y="2414016"/>
            <a:ext cx="1513332" cy="75828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4F81BC"/>
                </a:solidFill>
              </a:rPr>
              <a:t>Percentile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847" y="840435"/>
            <a:ext cx="7511415" cy="101346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3060" marR="5080" indent="-340360" algn="just">
              <a:lnSpc>
                <a:spcPct val="81500"/>
              </a:lnSpc>
              <a:spcBef>
                <a:spcPts val="680"/>
              </a:spcBef>
              <a:buFont typeface="Arial"/>
              <a:buChar char="•"/>
              <a:tabLst>
                <a:tab pos="355600" algn="l"/>
              </a:tabLst>
            </a:pPr>
            <a:r>
              <a:rPr sz="2450" dirty="0">
                <a:latin typeface="Calibri"/>
                <a:cs typeface="Calibri"/>
              </a:rPr>
              <a:t>A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percentile</a:t>
            </a:r>
            <a:r>
              <a:rPr sz="2450" spc="1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(or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centile)</a:t>
            </a:r>
            <a:r>
              <a:rPr sz="2450" spc="1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measure</a:t>
            </a:r>
            <a:r>
              <a:rPr sz="2450" spc="1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used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statistics 	</a:t>
            </a:r>
            <a:r>
              <a:rPr sz="2450" dirty="0">
                <a:latin typeface="Calibri"/>
                <a:cs typeface="Calibri"/>
              </a:rPr>
              <a:t>indicating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value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below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which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given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percentage</a:t>
            </a:r>
            <a:r>
              <a:rPr sz="2450" spc="19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of 	</a:t>
            </a:r>
            <a:r>
              <a:rPr sz="2450" dirty="0">
                <a:latin typeface="Calibri"/>
                <a:cs typeface="Calibri"/>
              </a:rPr>
              <a:t>observations</a:t>
            </a:r>
            <a:r>
              <a:rPr sz="2450" spc="1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group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of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observations</a:t>
            </a:r>
            <a:r>
              <a:rPr sz="2450" spc="1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fall.</a:t>
            </a:r>
            <a:endParaRPr sz="2450" dirty="0">
              <a:latin typeface="Calibri"/>
              <a:cs typeface="Calibri"/>
            </a:endParaRPr>
          </a:p>
        </p:txBody>
      </p:sp>
      <p:pic>
        <p:nvPicPr>
          <p:cNvPr id="4" name="object 4" descr="https://upload.wikimedia.org/wikipedia/commons/thumb/8/8c/Standard_deviation_diagram.svg/325px-Standard_deviation_diagram.svg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5218" y="2402179"/>
            <a:ext cx="4258796" cy="19132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EAE477-7C69-4CB5-7A93-777ECA14B522}"/>
              </a:ext>
            </a:extLst>
          </p:cNvPr>
          <p:cNvSpPr txBox="1"/>
          <p:nvPr/>
        </p:nvSpPr>
        <p:spPr>
          <a:xfrm>
            <a:off x="5791200" y="221751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Position=P​(n+1)/100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4F81BC"/>
                </a:solidFill>
              </a:rPr>
              <a:t>Distributions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6244" y="942797"/>
            <a:ext cx="66973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graphical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representation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observations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</a:t>
            </a:r>
            <a:r>
              <a:rPr sz="1400" spc="-10" dirty="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8263" y="1443315"/>
            <a:ext cx="6250984" cy="326127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029200"/>
            <a:chOff x="0" y="114300"/>
            <a:chExt cx="9144000" cy="502920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02933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Types Of</a:t>
            </a:r>
            <a:r>
              <a:rPr spc="-20" dirty="0">
                <a:solidFill>
                  <a:srgbClr val="4F81BC"/>
                </a:solidFill>
              </a:rPr>
              <a:t> </a:t>
            </a:r>
            <a:r>
              <a:rPr spc="-10" dirty="0">
                <a:solidFill>
                  <a:srgbClr val="4F81BC"/>
                </a:solidFill>
              </a:rPr>
              <a:t>Distributions</a:t>
            </a:r>
          </a:p>
        </p:txBody>
      </p:sp>
      <p:pic>
        <p:nvPicPr>
          <p:cNvPr id="6" name="object 6" descr="E:\OFFICE WORKS\PPT files\datamites\DS Statistics\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6615"/>
            <a:ext cx="8819388" cy="461314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21221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Normal </a:t>
            </a:r>
            <a:r>
              <a:rPr spc="-10" dirty="0">
                <a:solidFill>
                  <a:srgbClr val="4F81BC"/>
                </a:solidFill>
              </a:rPr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0388" y="991869"/>
            <a:ext cx="7704455" cy="6216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499"/>
              </a:lnSpc>
              <a:spcBef>
                <a:spcPts val="85"/>
              </a:spcBef>
            </a:pP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Normal</a:t>
            </a:r>
            <a:r>
              <a:rPr sz="13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11111"/>
                </a:solidFill>
                <a:latin typeface="Arial"/>
                <a:cs typeface="Arial"/>
              </a:rPr>
              <a:t>distribution,</a:t>
            </a:r>
            <a:r>
              <a:rPr sz="13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also</a:t>
            </a:r>
            <a:r>
              <a:rPr sz="13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known</a:t>
            </a:r>
            <a:r>
              <a:rPr sz="13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as</a:t>
            </a:r>
            <a:r>
              <a:rPr sz="13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3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11111"/>
                </a:solidFill>
                <a:latin typeface="Arial"/>
                <a:cs typeface="Arial"/>
              </a:rPr>
              <a:t>Gaussian</a:t>
            </a:r>
            <a:r>
              <a:rPr sz="13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distribution,</a:t>
            </a:r>
            <a:r>
              <a:rPr sz="1300" spc="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sz="13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probability</a:t>
            </a:r>
            <a:r>
              <a:rPr sz="13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distribution</a:t>
            </a:r>
            <a:r>
              <a:rPr sz="13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that</a:t>
            </a:r>
            <a:r>
              <a:rPr sz="13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sz="13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11111"/>
                </a:solidFill>
                <a:latin typeface="Arial"/>
                <a:cs typeface="Arial"/>
              </a:rPr>
              <a:t>symmetric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about</a:t>
            </a:r>
            <a:r>
              <a:rPr sz="13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3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mean,</a:t>
            </a:r>
            <a:r>
              <a:rPr sz="13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showing</a:t>
            </a:r>
            <a:r>
              <a:rPr sz="1300" spc="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that</a:t>
            </a:r>
            <a:r>
              <a:rPr sz="13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r>
              <a:rPr sz="13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near</a:t>
            </a:r>
            <a:r>
              <a:rPr sz="13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3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mean</a:t>
            </a:r>
            <a:r>
              <a:rPr sz="13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sz="13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more</a:t>
            </a:r>
            <a:r>
              <a:rPr sz="13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frequent</a:t>
            </a:r>
            <a:r>
              <a:rPr sz="13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13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occurrence</a:t>
            </a:r>
            <a:r>
              <a:rPr sz="13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than</a:t>
            </a:r>
            <a:r>
              <a:rPr sz="13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r>
              <a:rPr sz="13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far</a:t>
            </a:r>
            <a:r>
              <a:rPr sz="13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11111"/>
                </a:solidFill>
                <a:latin typeface="Arial"/>
                <a:cs typeface="Arial"/>
              </a:rPr>
              <a:t>from</a:t>
            </a:r>
            <a:r>
              <a:rPr sz="1300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11111"/>
                </a:solidFill>
                <a:latin typeface="Arial"/>
                <a:cs typeface="Arial"/>
              </a:rPr>
              <a:t>the </a:t>
            </a:r>
            <a:r>
              <a:rPr sz="1300" spc="-10" dirty="0">
                <a:solidFill>
                  <a:srgbClr val="111111"/>
                </a:solidFill>
                <a:latin typeface="Arial"/>
                <a:cs typeface="Arial"/>
              </a:rPr>
              <a:t>mean.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791" y="1944648"/>
            <a:ext cx="3610848" cy="17441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66802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Properties</a:t>
            </a:r>
            <a:r>
              <a:rPr spc="-3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Of</a:t>
            </a:r>
            <a:r>
              <a:rPr spc="-3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Normal</a:t>
            </a:r>
            <a:r>
              <a:rPr spc="-10" dirty="0">
                <a:solidFill>
                  <a:srgbClr val="4F81BC"/>
                </a:solidFill>
              </a:rPr>
              <a:t> Distribution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373380" algn="l"/>
              </a:tabLst>
            </a:pPr>
            <a:r>
              <a:rPr dirty="0"/>
              <a:t>Empirical</a:t>
            </a:r>
            <a:r>
              <a:rPr spc="-55" dirty="0"/>
              <a:t> </a:t>
            </a:r>
            <a:r>
              <a:rPr spc="-20" dirty="0"/>
              <a:t>Rule</a:t>
            </a:r>
          </a:p>
          <a:p>
            <a:pPr marL="373380" indent="-36068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73380" algn="l"/>
              </a:tabLst>
            </a:pPr>
            <a:r>
              <a:rPr dirty="0"/>
              <a:t>Distortion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Normal</a:t>
            </a:r>
            <a:r>
              <a:rPr spc="-70" dirty="0"/>
              <a:t> </a:t>
            </a:r>
            <a:r>
              <a:rPr spc="-10" dirty="0"/>
              <a:t>Distribution</a:t>
            </a:r>
          </a:p>
          <a:p>
            <a:pPr marL="373380" indent="-36068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373380" algn="l"/>
              </a:tabLst>
            </a:pPr>
            <a:r>
              <a:rPr dirty="0"/>
              <a:t>Central</a:t>
            </a:r>
            <a:r>
              <a:rPr spc="-10" dirty="0"/>
              <a:t> </a:t>
            </a:r>
            <a:r>
              <a:rPr dirty="0"/>
              <a:t>Limit</a:t>
            </a:r>
            <a:r>
              <a:rPr spc="-75" dirty="0"/>
              <a:t> </a:t>
            </a:r>
            <a:r>
              <a:rPr spc="-10" dirty="0"/>
              <a:t>Theorem</a:t>
            </a:r>
          </a:p>
          <a:p>
            <a:pPr marL="373380" indent="-36068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73380" algn="l"/>
              </a:tabLst>
            </a:pPr>
            <a:r>
              <a:rPr dirty="0"/>
              <a:t>Standard</a:t>
            </a:r>
            <a:r>
              <a:rPr spc="-30" dirty="0"/>
              <a:t> </a:t>
            </a:r>
            <a:r>
              <a:rPr dirty="0"/>
              <a:t>Normal</a:t>
            </a:r>
            <a:r>
              <a:rPr spc="-40" dirty="0"/>
              <a:t> </a:t>
            </a:r>
            <a:r>
              <a:rPr spc="-10" dirty="0"/>
              <a:t>Distribution</a:t>
            </a:r>
          </a:p>
          <a:p>
            <a:pPr marL="373380" indent="-36068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373380" algn="l"/>
              </a:tabLst>
            </a:pPr>
            <a:r>
              <a:rPr spc="-10" dirty="0"/>
              <a:t>Outliers</a:t>
            </a:r>
          </a:p>
          <a:p>
            <a:pPr marL="373380" indent="-36068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73380" algn="l"/>
              </a:tabLst>
            </a:pPr>
            <a:r>
              <a:rPr sz="2050" dirty="0"/>
              <a:t>QQ</a:t>
            </a:r>
            <a:r>
              <a:rPr sz="2050" spc="65" dirty="0"/>
              <a:t> </a:t>
            </a:r>
            <a:r>
              <a:rPr sz="2050" spc="-20" dirty="0"/>
              <a:t>plot</a:t>
            </a:r>
            <a:endParaRPr sz="2050" dirty="0"/>
          </a:p>
          <a:p>
            <a:pPr marL="373380" indent="-360680">
              <a:lnSpc>
                <a:spcPct val="100000"/>
              </a:lnSpc>
              <a:spcBef>
                <a:spcPts val="425"/>
              </a:spcBef>
              <a:buAutoNum type="arabicPeriod"/>
              <a:tabLst>
                <a:tab pos="373380" algn="l"/>
              </a:tabLst>
            </a:pPr>
            <a:r>
              <a:rPr sz="2050" dirty="0"/>
              <a:t>Log,Sqrt,Boxcox</a:t>
            </a:r>
            <a:r>
              <a:rPr sz="2050" spc="285" dirty="0"/>
              <a:t> </a:t>
            </a:r>
            <a:r>
              <a:rPr sz="2050" spc="-10" dirty="0"/>
              <a:t>transformation</a:t>
            </a:r>
            <a:endParaRPr sz="2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27BAAC-5289-EDF0-C9CA-16D5114FA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876550"/>
            <a:ext cx="261937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6833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Empirical</a:t>
            </a:r>
            <a:r>
              <a:rPr spc="-100" dirty="0">
                <a:solidFill>
                  <a:srgbClr val="4F81BC"/>
                </a:solidFill>
              </a:rPr>
              <a:t> </a:t>
            </a:r>
            <a:r>
              <a:rPr spc="-20" dirty="0">
                <a:solidFill>
                  <a:srgbClr val="4F81BC"/>
                </a:solidFill>
              </a:rPr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37571" y="3584575"/>
            <a:ext cx="145288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mean.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Sigma)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44" y="1165682"/>
            <a:ext cx="7784465" cy="329247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5600" marR="5080" indent="-342900">
              <a:lnSpc>
                <a:spcPct val="90100"/>
              </a:lnSpc>
              <a:spcBef>
                <a:spcPts val="445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empirical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rule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states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normal </a:t>
            </a:r>
            <a:r>
              <a:rPr sz="3000" dirty="0">
                <a:latin typeface="Calibri"/>
                <a:cs typeface="Calibri"/>
              </a:rPr>
              <a:t>distribution,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nearly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all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will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fall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within </a:t>
            </a:r>
            <a:r>
              <a:rPr sz="3000" dirty="0">
                <a:latin typeface="Calibri"/>
                <a:cs typeface="Calibri"/>
              </a:rPr>
              <a:t>three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standard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deviations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mean.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empirical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rule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broken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down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into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three parts: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35"/>
              </a:spcBef>
              <a:buFont typeface="Arial"/>
              <a:buChar char="•"/>
              <a:tabLst>
                <a:tab pos="354965" algn="l"/>
              </a:tabLst>
            </a:pPr>
            <a:r>
              <a:rPr sz="1400" dirty="0">
                <a:latin typeface="Calibri"/>
                <a:cs typeface="Calibri"/>
              </a:rPr>
              <a:t>68%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 falls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within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first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standard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deviation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from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354965" algn="l"/>
              </a:tabLst>
            </a:pPr>
            <a:r>
              <a:rPr sz="1400" dirty="0">
                <a:latin typeface="Calibri"/>
                <a:cs typeface="Calibri"/>
              </a:rPr>
              <a:t>95%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fall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within two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standard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deviations.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Sigma)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354965" algn="l"/>
              </a:tabLst>
            </a:pPr>
            <a:r>
              <a:rPr sz="1400" dirty="0">
                <a:latin typeface="Calibri"/>
                <a:cs typeface="Calibri"/>
              </a:rPr>
              <a:t>99.7%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fall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within three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standard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deviations.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(3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Sigma)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354965" algn="l"/>
              </a:tabLst>
            </a:pPr>
            <a:r>
              <a:rPr sz="1400" dirty="0">
                <a:latin typeface="Calibri"/>
                <a:cs typeface="Calibri"/>
              </a:rPr>
              <a:t>Any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points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lying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after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sigma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outliers.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 descr="distribution displaying the features of the empirical rul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9887" y="3066859"/>
            <a:ext cx="3966454" cy="145399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Distortion</a:t>
            </a:r>
            <a:r>
              <a:rPr spc="-35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in</a:t>
            </a:r>
            <a:r>
              <a:rPr spc="-4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Normal</a:t>
            </a:r>
            <a:r>
              <a:rPr spc="-20" dirty="0">
                <a:solidFill>
                  <a:srgbClr val="4F81BC"/>
                </a:solidFill>
              </a:rPr>
              <a:t> </a:t>
            </a:r>
            <a:r>
              <a:rPr spc="-10" dirty="0">
                <a:solidFill>
                  <a:srgbClr val="4F81BC"/>
                </a:solidFill>
              </a:rPr>
              <a:t>Distribution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388" y="986993"/>
            <a:ext cx="8245475" cy="1430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23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distortion</a:t>
            </a:r>
            <a:r>
              <a:rPr sz="23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23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normally</a:t>
            </a:r>
            <a:r>
              <a:rPr sz="23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distributed</a:t>
            </a:r>
            <a:r>
              <a:rPr sz="23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curves</a:t>
            </a:r>
            <a:r>
              <a:rPr sz="23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can</a:t>
            </a:r>
            <a:r>
              <a:rPr sz="23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be</a:t>
            </a:r>
            <a:r>
              <a:rPr sz="23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quantified</a:t>
            </a:r>
            <a:r>
              <a:rPr sz="23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111111"/>
                </a:solidFill>
                <a:latin typeface="Arial"/>
                <a:cs typeface="Arial"/>
              </a:rPr>
              <a:t>in </a:t>
            </a:r>
            <a:r>
              <a:rPr sz="2300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23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111111"/>
                </a:solidFill>
                <a:latin typeface="Arial"/>
                <a:cs typeface="Arial"/>
              </a:rPr>
              <a:t>ways</a:t>
            </a:r>
            <a:endParaRPr sz="2300">
              <a:latin typeface="Arial"/>
              <a:cs typeface="Arial"/>
            </a:endParaRPr>
          </a:p>
          <a:p>
            <a:pPr marL="469265" indent="-374650">
              <a:lnSpc>
                <a:spcPts val="2740"/>
              </a:lnSpc>
              <a:buAutoNum type="arabicPeriod"/>
              <a:tabLst>
                <a:tab pos="469265" algn="l"/>
              </a:tabLst>
            </a:pPr>
            <a:r>
              <a:rPr sz="2300" spc="-10" dirty="0">
                <a:solidFill>
                  <a:srgbClr val="111111"/>
                </a:solidFill>
                <a:latin typeface="Arial"/>
                <a:cs typeface="Arial"/>
              </a:rPr>
              <a:t>Skewness</a:t>
            </a:r>
            <a:endParaRPr sz="2300">
              <a:latin typeface="Arial"/>
              <a:cs typeface="Arial"/>
            </a:endParaRPr>
          </a:p>
          <a:p>
            <a:pPr marL="469265" indent="-37465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469265" algn="l"/>
              </a:tabLst>
            </a:pPr>
            <a:r>
              <a:rPr sz="2300" spc="-10" dirty="0">
                <a:solidFill>
                  <a:srgbClr val="111111"/>
                </a:solidFill>
                <a:latin typeface="Arial"/>
                <a:cs typeface="Arial"/>
              </a:rPr>
              <a:t>Kurtosis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76835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Skewness</a:t>
            </a:r>
            <a:r>
              <a:rPr spc="-65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in</a:t>
            </a:r>
            <a:r>
              <a:rPr spc="5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Normal</a:t>
            </a:r>
            <a:r>
              <a:rPr spc="-10" dirty="0">
                <a:solidFill>
                  <a:srgbClr val="4F81BC"/>
                </a:solidFill>
              </a:rPr>
              <a:t> 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02" y="920709"/>
            <a:ext cx="2772410" cy="35306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75"/>
              </a:spcBef>
            </a:pPr>
            <a:r>
              <a:rPr sz="2000" dirty="0">
                <a:latin typeface="Calibri"/>
                <a:cs typeface="Calibri"/>
              </a:rPr>
              <a:t>Skewness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asymmetry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statistical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distribution,</a:t>
            </a:r>
            <a:r>
              <a:rPr sz="2000" spc="-25" dirty="0">
                <a:latin typeface="Calibri"/>
                <a:cs typeface="Calibri"/>
              </a:rPr>
              <a:t> in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appears </a:t>
            </a:r>
            <a:r>
              <a:rPr sz="2000" dirty="0">
                <a:latin typeface="Calibri"/>
                <a:cs typeface="Calibri"/>
              </a:rPr>
              <a:t>distorted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skewed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either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right.</a:t>
            </a:r>
            <a:endParaRPr sz="2000">
              <a:latin typeface="Calibri"/>
              <a:cs typeface="Calibri"/>
            </a:endParaRPr>
          </a:p>
          <a:p>
            <a:pPr marL="12700" marR="89535">
              <a:lnSpc>
                <a:spcPct val="115199"/>
              </a:lnSpc>
              <a:spcBef>
                <a:spcPts val="10"/>
              </a:spcBef>
            </a:pPr>
            <a:r>
              <a:rPr sz="2000" dirty="0">
                <a:latin typeface="Calibri"/>
                <a:cs typeface="Calibri"/>
              </a:rPr>
              <a:t>Skewness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 </a:t>
            </a:r>
            <a:r>
              <a:rPr sz="2000" dirty="0">
                <a:latin typeface="Calibri"/>
                <a:cs typeface="Calibri"/>
              </a:rPr>
              <a:t>quantified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extent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distribution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differs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normal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distribution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6703" y="1970532"/>
            <a:ext cx="5111496" cy="21991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86302" y="4340762"/>
            <a:ext cx="4733925" cy="52070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skewness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greater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14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less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1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-1,</a:t>
            </a:r>
            <a:r>
              <a:rPr sz="1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highly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skewed.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255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528BD4"/>
                </a:solidFill>
                <a:latin typeface="Calibri"/>
                <a:cs typeface="Calibri"/>
              </a:rPr>
              <a:t>How</a:t>
            </a:r>
            <a:r>
              <a:rPr sz="2800" b="1" spc="-50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528BD4"/>
                </a:solidFill>
                <a:latin typeface="Calibri"/>
                <a:cs typeface="Calibri"/>
              </a:rPr>
              <a:t>much</a:t>
            </a:r>
            <a:r>
              <a:rPr sz="2800" b="1" spc="-40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528BD4"/>
                </a:solidFill>
                <a:latin typeface="Calibri"/>
                <a:cs typeface="Calibri"/>
              </a:rPr>
              <a:t>Skewness</a:t>
            </a:r>
            <a:r>
              <a:rPr sz="2800" b="1" spc="-20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528BD4"/>
                </a:solidFill>
                <a:latin typeface="Calibri"/>
                <a:cs typeface="Calibri"/>
              </a:rPr>
              <a:t>and</a:t>
            </a:r>
            <a:r>
              <a:rPr sz="2800" b="1" spc="-35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528BD4"/>
                </a:solidFill>
                <a:latin typeface="Calibri"/>
                <a:cs typeface="Calibri"/>
              </a:rPr>
              <a:t>Kurtosis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9486" y="971001"/>
            <a:ext cx="7993380" cy="35814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69570" marR="5080" indent="-357505">
              <a:lnSpc>
                <a:spcPct val="114900"/>
              </a:lnSpc>
              <a:spcBef>
                <a:spcPts val="75"/>
              </a:spcBef>
              <a:buChar char="●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skewness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0.5 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0.5,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fairly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symmetrical.</a:t>
            </a:r>
            <a:r>
              <a:rPr sz="2000" spc="-1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skewness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0.5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0.5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is </a:t>
            </a:r>
            <a:r>
              <a:rPr sz="2000" dirty="0">
                <a:latin typeface="Calibri"/>
                <a:cs typeface="Calibri"/>
              </a:rPr>
              <a:t>moderately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skewed.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Font typeface="Calibri"/>
              <a:buChar char="●"/>
            </a:pPr>
            <a:endParaRPr sz="2000">
              <a:latin typeface="Calibri"/>
              <a:cs typeface="Calibri"/>
            </a:endParaRPr>
          </a:p>
          <a:p>
            <a:pPr marL="368935" indent="-356235">
              <a:lnSpc>
                <a:spcPct val="100000"/>
              </a:lnSpc>
              <a:spcBef>
                <a:spcPts val="5"/>
              </a:spcBef>
              <a:buChar char="●"/>
              <a:tabLst>
                <a:tab pos="368935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skewness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greater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 1or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skewed.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Calibri"/>
              <a:buChar char="●"/>
            </a:pPr>
            <a:endParaRPr sz="2000">
              <a:latin typeface="Calibri"/>
              <a:cs typeface="Calibri"/>
            </a:endParaRPr>
          </a:p>
          <a:p>
            <a:pPr marL="369570" marR="280670" indent="-357505">
              <a:lnSpc>
                <a:spcPct val="115100"/>
              </a:lnSpc>
              <a:buChar char="●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A standard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normal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distribution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kurtosis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recognized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 </a:t>
            </a:r>
            <a:r>
              <a:rPr sz="2000" dirty="0">
                <a:latin typeface="Calibri"/>
                <a:cs typeface="Calibri"/>
              </a:rPr>
              <a:t>mesokurtic.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increased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kurtosis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(&gt;3)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visualized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thin </a:t>
            </a:r>
            <a:r>
              <a:rPr sz="2000" spc="-10" dirty="0">
                <a:latin typeface="Calibri"/>
                <a:cs typeface="Calibri"/>
              </a:rPr>
              <a:t>“bell”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peak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decreased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kurtosis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corresponds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broadening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peak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“thickening”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tails.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9010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Kurtosis</a:t>
            </a:r>
            <a:r>
              <a:rPr spc="-2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in</a:t>
            </a:r>
            <a:r>
              <a:rPr spc="-2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Normal</a:t>
            </a:r>
            <a:r>
              <a:rPr spc="-5" dirty="0">
                <a:solidFill>
                  <a:srgbClr val="4F81BC"/>
                </a:solidFill>
              </a:rPr>
              <a:t> </a:t>
            </a:r>
            <a:r>
              <a:rPr spc="-10" dirty="0">
                <a:solidFill>
                  <a:srgbClr val="4F81BC"/>
                </a:solidFill>
              </a:rPr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02" y="955456"/>
            <a:ext cx="2743200" cy="3535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95"/>
              </a:spcBef>
            </a:pPr>
            <a:r>
              <a:rPr sz="2450" dirty="0">
                <a:latin typeface="Calibri"/>
                <a:cs typeface="Calibri"/>
              </a:rPr>
              <a:t>In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probability</a:t>
            </a:r>
            <a:r>
              <a:rPr sz="2450" spc="14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theory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statistics, </a:t>
            </a:r>
            <a:r>
              <a:rPr sz="2450" dirty="0">
                <a:latin typeface="Calibri"/>
                <a:cs typeface="Calibri"/>
              </a:rPr>
              <a:t>kurtosis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is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-10" dirty="0">
                <a:latin typeface="Calibri"/>
                <a:cs typeface="Calibri"/>
              </a:rPr>
              <a:t> measure </a:t>
            </a:r>
            <a:r>
              <a:rPr sz="2450" dirty="0">
                <a:latin typeface="Calibri"/>
                <a:cs typeface="Calibri"/>
              </a:rPr>
              <a:t>of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“peakedness" </a:t>
            </a:r>
            <a:r>
              <a:rPr sz="2450" dirty="0">
                <a:latin typeface="Calibri"/>
                <a:cs typeface="Calibri"/>
              </a:rPr>
              <a:t>of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probability </a:t>
            </a:r>
            <a:r>
              <a:rPr sz="2450" dirty="0">
                <a:latin typeface="Calibri"/>
                <a:cs typeface="Calibri"/>
              </a:rPr>
              <a:t>distribution of a </a:t>
            </a:r>
            <a:r>
              <a:rPr sz="2450" spc="-20" dirty="0">
                <a:latin typeface="Calibri"/>
                <a:cs typeface="Calibri"/>
              </a:rPr>
              <a:t>real-</a:t>
            </a:r>
            <a:r>
              <a:rPr sz="2450" dirty="0">
                <a:latin typeface="Calibri"/>
                <a:cs typeface="Calibri"/>
              </a:rPr>
              <a:t>valued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random variable.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7367" y="1220724"/>
            <a:ext cx="3782413" cy="24597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7467"/>
            <a:ext cx="9144000" cy="256540"/>
          </a:xfrm>
          <a:custGeom>
            <a:avLst/>
            <a:gdLst/>
            <a:ahLst/>
            <a:cxnLst/>
            <a:rect l="l" t="t" r="r" b="b"/>
            <a:pathLst>
              <a:path w="9144000" h="256539">
                <a:moveTo>
                  <a:pt x="9144000" y="0"/>
                </a:moveTo>
                <a:lnTo>
                  <a:pt x="0" y="0"/>
                </a:lnTo>
                <a:lnTo>
                  <a:pt x="0" y="256032"/>
                </a:lnTo>
                <a:lnTo>
                  <a:pt x="9144000" y="2560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28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0530" y="4913172"/>
            <a:ext cx="34232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62238" y="4655921"/>
            <a:ext cx="15557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See the source imag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9655" y="361188"/>
            <a:ext cx="4725911" cy="390673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358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90"/>
              </a:spcBef>
            </a:pPr>
            <a:r>
              <a:rPr sz="2100" b="1" dirty="0">
                <a:solidFill>
                  <a:srgbClr val="528BD4"/>
                </a:solidFill>
                <a:latin typeface="Calibri"/>
                <a:cs typeface="Calibri"/>
              </a:rPr>
              <a:t>Which</a:t>
            </a:r>
            <a:r>
              <a:rPr sz="2100" b="1" spc="-35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528BD4"/>
                </a:solidFill>
                <a:latin typeface="Calibri"/>
                <a:cs typeface="Calibri"/>
              </a:rPr>
              <a:t>is</a:t>
            </a:r>
            <a:r>
              <a:rPr sz="2100" b="1" spc="-30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528BD4"/>
                </a:solidFill>
                <a:latin typeface="Calibri"/>
                <a:cs typeface="Calibri"/>
              </a:rPr>
              <a:t>Best—</a:t>
            </a:r>
            <a:r>
              <a:rPr sz="2100" b="1" dirty="0">
                <a:solidFill>
                  <a:srgbClr val="528BD4"/>
                </a:solidFill>
                <a:latin typeface="Calibri"/>
                <a:cs typeface="Calibri"/>
              </a:rPr>
              <a:t>the</a:t>
            </a:r>
            <a:r>
              <a:rPr sz="2100" b="1" spc="-40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528BD4"/>
                </a:solidFill>
                <a:latin typeface="Calibri"/>
                <a:cs typeface="Calibri"/>
              </a:rPr>
              <a:t>Mean,</a:t>
            </a:r>
            <a:r>
              <a:rPr sz="2100" b="1" spc="-25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528BD4"/>
                </a:solidFill>
                <a:latin typeface="Calibri"/>
                <a:cs typeface="Calibri"/>
              </a:rPr>
              <a:t>Median,</a:t>
            </a:r>
            <a:r>
              <a:rPr sz="2100" b="1" spc="-30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528BD4"/>
                </a:solidFill>
                <a:latin typeface="Calibri"/>
                <a:cs typeface="Calibri"/>
              </a:rPr>
              <a:t>or</a:t>
            </a:r>
            <a:r>
              <a:rPr sz="2100" b="1" spc="-45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528BD4"/>
                </a:solidFill>
                <a:latin typeface="Calibri"/>
                <a:cs typeface="Calibri"/>
              </a:rPr>
              <a:t>Mode?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9486" y="1378036"/>
            <a:ext cx="8094345" cy="2963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9570" marR="38735" indent="-357505">
              <a:lnSpc>
                <a:spcPct val="115199"/>
              </a:lnSpc>
              <a:spcBef>
                <a:spcPts val="105"/>
              </a:spcBef>
              <a:buChar char="●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symmetrical</a:t>
            </a:r>
            <a:r>
              <a:rPr sz="2000" spc="-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distribution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continuous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mean, </a:t>
            </a:r>
            <a:r>
              <a:rPr sz="2000" dirty="0">
                <a:latin typeface="Calibri"/>
                <a:cs typeface="Calibri"/>
              </a:rPr>
              <a:t>median,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equal.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analysts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mean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calculations.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However,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skewed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distribution,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median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central tendency.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5"/>
              </a:spcBef>
              <a:buFont typeface="Calibri"/>
              <a:buChar char="●"/>
            </a:pPr>
            <a:endParaRPr sz="2000">
              <a:latin typeface="Calibri"/>
              <a:cs typeface="Calibri"/>
            </a:endParaRPr>
          </a:p>
          <a:p>
            <a:pPr marL="369570" marR="5080" indent="-357505">
              <a:lnSpc>
                <a:spcPct val="115599"/>
              </a:lnSpc>
              <a:buChar char="●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categorical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discrete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median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usually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choice.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categorical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220535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528BD4"/>
                </a:solidFill>
              </a:rPr>
              <a:t>Outliers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7080" y="881329"/>
            <a:ext cx="4509770" cy="349821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66675">
              <a:lnSpc>
                <a:spcPct val="80300"/>
              </a:lnSpc>
              <a:spcBef>
                <a:spcPts val="680"/>
              </a:spcBef>
            </a:pPr>
            <a:r>
              <a:rPr sz="2450" dirty="0">
                <a:latin typeface="Calibri"/>
                <a:cs typeface="Calibri"/>
              </a:rPr>
              <a:t>An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outlier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is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observation</a:t>
            </a:r>
            <a:r>
              <a:rPr sz="2450" spc="-5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point </a:t>
            </a:r>
            <a:r>
              <a:rPr sz="2450" dirty="0">
                <a:latin typeface="Calibri"/>
                <a:cs typeface="Calibri"/>
              </a:rPr>
              <a:t>that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is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distant</a:t>
            </a:r>
            <a:r>
              <a:rPr sz="2450" spc="-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from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other </a:t>
            </a:r>
            <a:r>
              <a:rPr sz="2450" dirty="0">
                <a:latin typeface="Calibri"/>
                <a:cs typeface="Calibri"/>
              </a:rPr>
              <a:t>observations.</a:t>
            </a:r>
            <a:r>
              <a:rPr sz="2450" spc="-8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outlier</a:t>
            </a:r>
            <a:r>
              <a:rPr sz="2450" spc="-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may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be </a:t>
            </a:r>
            <a:r>
              <a:rPr sz="2450" dirty="0">
                <a:latin typeface="Calibri"/>
                <a:cs typeface="Calibri"/>
              </a:rPr>
              <a:t>due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to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variability</a:t>
            </a:r>
            <a:r>
              <a:rPr sz="2450" spc="-9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the </a:t>
            </a:r>
            <a:r>
              <a:rPr sz="2450" dirty="0">
                <a:latin typeface="Calibri"/>
                <a:cs typeface="Calibri"/>
              </a:rPr>
              <a:t>measurement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or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it</a:t>
            </a:r>
            <a:r>
              <a:rPr sz="2450" spc="-8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may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indicate </a:t>
            </a:r>
            <a:r>
              <a:rPr sz="2450" dirty="0">
                <a:latin typeface="Calibri"/>
                <a:cs typeface="Calibri"/>
              </a:rPr>
              <a:t>experimental</a:t>
            </a:r>
            <a:r>
              <a:rPr sz="2450" spc="-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error;</a:t>
            </a:r>
            <a:r>
              <a:rPr sz="2450" spc="-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latter</a:t>
            </a:r>
            <a:r>
              <a:rPr sz="2450" spc="-5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are </a:t>
            </a:r>
            <a:r>
              <a:rPr sz="2450" dirty="0">
                <a:latin typeface="Calibri"/>
                <a:cs typeface="Calibri"/>
              </a:rPr>
              <a:t>sometimes</a:t>
            </a:r>
            <a:r>
              <a:rPr sz="2450" spc="-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excluded</a:t>
            </a:r>
            <a:r>
              <a:rPr sz="2450" spc="-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from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7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data set</a:t>
            </a:r>
            <a:r>
              <a:rPr sz="2650" spc="-20" dirty="0">
                <a:latin typeface="Calibri"/>
                <a:cs typeface="Calibri"/>
              </a:rPr>
              <a:t>.</a:t>
            </a:r>
            <a:endParaRPr sz="2650">
              <a:latin typeface="Calibri"/>
              <a:cs typeface="Calibri"/>
            </a:endParaRPr>
          </a:p>
          <a:p>
            <a:pPr marL="12700" marR="5080">
              <a:lnSpc>
                <a:spcPts val="2560"/>
              </a:lnSpc>
              <a:spcBef>
                <a:spcPts val="2535"/>
              </a:spcBef>
            </a:pPr>
            <a:r>
              <a:rPr sz="2650" spc="-10" dirty="0">
                <a:latin typeface="Calibri"/>
                <a:cs typeface="Calibri"/>
                <a:hlinkClick r:id="rId2"/>
              </a:rPr>
              <a:t>https://tribe.datamites.com/pos</a:t>
            </a:r>
            <a:r>
              <a:rPr sz="2650" spc="-10" dirty="0">
                <a:latin typeface="Calibri"/>
                <a:cs typeface="Calibri"/>
              </a:rPr>
              <a:t> ts/outliers</a:t>
            </a:r>
            <a:endParaRPr sz="2650">
              <a:latin typeface="Calibri"/>
              <a:cs typeface="Calibri"/>
            </a:endParaRPr>
          </a:p>
        </p:txBody>
      </p:sp>
      <p:pic>
        <p:nvPicPr>
          <p:cNvPr id="4" name="object 4" descr="http://mathworld.wolfram.com/images/eps-gif/OutlierScatterplot_1000.gif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0070" y="1450052"/>
            <a:ext cx="3747428" cy="21378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7467"/>
            <a:ext cx="9144000" cy="256540"/>
          </a:xfrm>
          <a:custGeom>
            <a:avLst/>
            <a:gdLst/>
            <a:ahLst/>
            <a:cxnLst/>
            <a:rect l="l" t="t" r="r" b="b"/>
            <a:pathLst>
              <a:path w="9144000" h="256539">
                <a:moveTo>
                  <a:pt x="9144000" y="0"/>
                </a:moveTo>
                <a:lnTo>
                  <a:pt x="0" y="0"/>
                </a:lnTo>
                <a:lnTo>
                  <a:pt x="0" y="256032"/>
                </a:lnTo>
                <a:lnTo>
                  <a:pt x="9144000" y="2560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28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0530" y="4913172"/>
            <a:ext cx="34232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5" name="object 5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00647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Central</a:t>
            </a:r>
            <a:r>
              <a:rPr spc="-80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Limit</a:t>
            </a:r>
            <a:r>
              <a:rPr spc="-60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Theorem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28464" y="4893665"/>
            <a:ext cx="2282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32697" y="4808931"/>
            <a:ext cx="28194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47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580" y="843596"/>
            <a:ext cx="8632825" cy="21494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55600" marR="33020" indent="-160020">
              <a:lnSpc>
                <a:spcPct val="115799"/>
              </a:lnSpc>
              <a:spcBef>
                <a:spcPts val="65"/>
              </a:spcBef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central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limit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theorem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distribution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means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approximates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normal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distribution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as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size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gets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larger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(assuming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identical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size),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regardless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population </a:t>
            </a:r>
            <a:r>
              <a:rPr sz="1400" dirty="0">
                <a:latin typeface="Arial"/>
                <a:cs typeface="Arial"/>
              </a:rPr>
              <a:t>distribution</a:t>
            </a:r>
            <a:r>
              <a:rPr sz="1400" spc="-1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shape.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CLT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in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one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sentence</a:t>
            </a:r>
            <a:r>
              <a:rPr sz="1400" b="1" spc="-114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"Even</a:t>
            </a:r>
            <a:r>
              <a:rPr sz="1400" b="1" spc="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if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I'm</a:t>
            </a:r>
            <a:r>
              <a:rPr sz="1400" b="1" spc="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not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normal,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average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is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normal"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13700"/>
              </a:lnSpc>
            </a:pPr>
            <a:r>
              <a:rPr sz="1400" dirty="0">
                <a:latin typeface="Arial"/>
                <a:cs typeface="Arial"/>
              </a:rPr>
              <a:t>When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collecting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means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any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distribution,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taken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calculating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mean </a:t>
            </a:r>
            <a:r>
              <a:rPr sz="1400" dirty="0">
                <a:latin typeface="Arial"/>
                <a:cs typeface="Arial"/>
              </a:rPr>
              <a:t>should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 greater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equal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30.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011" y="3177539"/>
            <a:ext cx="59436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65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Probability</a:t>
            </a:r>
            <a:r>
              <a:rPr spc="-40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Density</a:t>
            </a:r>
            <a:r>
              <a:rPr spc="-65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066913" y="955039"/>
            <a:ext cx="64135" cy="247015"/>
          </a:xfrm>
          <a:custGeom>
            <a:avLst/>
            <a:gdLst/>
            <a:ahLst/>
            <a:cxnLst/>
            <a:rect l="l" t="t" r="r" b="b"/>
            <a:pathLst>
              <a:path w="64134" h="247015">
                <a:moveTo>
                  <a:pt x="64007" y="0"/>
                </a:moveTo>
                <a:lnTo>
                  <a:pt x="0" y="0"/>
                </a:lnTo>
                <a:lnTo>
                  <a:pt x="0" y="246887"/>
                </a:lnTo>
                <a:lnTo>
                  <a:pt x="64007" y="246887"/>
                </a:lnTo>
                <a:lnTo>
                  <a:pt x="64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6580" y="915746"/>
            <a:ext cx="8590915" cy="15608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solidFill>
                  <a:srgbClr val="545454"/>
                </a:solidFill>
                <a:latin typeface="Arial"/>
                <a:cs typeface="Arial"/>
              </a:rPr>
              <a:t>Probability</a:t>
            </a:r>
            <a:r>
              <a:rPr sz="1750" spc="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45454"/>
                </a:solidFill>
                <a:latin typeface="Arial"/>
                <a:cs typeface="Arial"/>
              </a:rPr>
              <a:t>density</a:t>
            </a:r>
            <a:r>
              <a:rPr sz="1750" spc="-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45454"/>
                </a:solidFill>
                <a:latin typeface="Arial"/>
                <a:cs typeface="Arial"/>
              </a:rPr>
              <a:t>is</a:t>
            </a:r>
            <a:r>
              <a:rPr sz="1750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r>
              <a:rPr sz="1750" spc="-7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45454"/>
                </a:solidFill>
                <a:latin typeface="Arial"/>
                <a:cs typeface="Arial"/>
              </a:rPr>
              <a:t>relationship</a:t>
            </a:r>
            <a:r>
              <a:rPr sz="1750" spc="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45454"/>
                </a:solidFill>
                <a:latin typeface="Arial"/>
                <a:cs typeface="Arial"/>
              </a:rPr>
              <a:t>between</a:t>
            </a:r>
            <a:r>
              <a:rPr sz="1750" spc="-7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45454"/>
                </a:solidFill>
                <a:latin typeface="Arial"/>
                <a:cs typeface="Arial"/>
              </a:rPr>
              <a:t>observations</a:t>
            </a:r>
            <a:r>
              <a:rPr sz="175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45454"/>
                </a:solidFill>
                <a:latin typeface="Arial"/>
                <a:cs typeface="Arial"/>
              </a:rPr>
              <a:t>and</a:t>
            </a:r>
            <a:r>
              <a:rPr sz="1750" spc="-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45454"/>
                </a:solidFill>
                <a:latin typeface="Arial"/>
                <a:cs typeface="Arial"/>
              </a:rPr>
              <a:t>their</a:t>
            </a:r>
            <a:r>
              <a:rPr sz="175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545454"/>
                </a:solidFill>
                <a:latin typeface="Arial"/>
                <a:cs typeface="Arial"/>
              </a:rPr>
              <a:t>probability.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r>
              <a:rPr sz="1650" spc="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overall</a:t>
            </a:r>
            <a:r>
              <a:rPr sz="1650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shape</a:t>
            </a:r>
            <a:r>
              <a:rPr sz="1650" spc="-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of</a:t>
            </a:r>
            <a:r>
              <a:rPr sz="1650" spc="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r>
              <a:rPr sz="1650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probability</a:t>
            </a:r>
            <a:r>
              <a:rPr sz="1650" spc="-7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density</a:t>
            </a:r>
            <a:r>
              <a:rPr sz="1650" spc="-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is</a:t>
            </a:r>
            <a:r>
              <a:rPr sz="16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referred</a:t>
            </a:r>
            <a:r>
              <a:rPr sz="1650" spc="-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to</a:t>
            </a:r>
            <a:r>
              <a:rPr sz="1650" spc="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as a</a:t>
            </a:r>
            <a:r>
              <a:rPr sz="1650" spc="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probability</a:t>
            </a:r>
            <a:r>
              <a:rPr sz="1650" spc="-8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distribution,</a:t>
            </a:r>
            <a:r>
              <a:rPr sz="1650" spc="-1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and</a:t>
            </a:r>
            <a:r>
              <a:rPr sz="1650" spc="-25" dirty="0">
                <a:solidFill>
                  <a:srgbClr val="545454"/>
                </a:solidFill>
                <a:latin typeface="Arial"/>
                <a:cs typeface="Arial"/>
              </a:rPr>
              <a:t> the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calculation</a:t>
            </a:r>
            <a:r>
              <a:rPr sz="1650" spc="-9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of</a:t>
            </a:r>
            <a:r>
              <a:rPr sz="1650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probabilities</a:t>
            </a:r>
            <a:r>
              <a:rPr sz="1650" spc="-7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for</a:t>
            </a:r>
            <a:r>
              <a:rPr sz="1650" spc="-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specific</a:t>
            </a:r>
            <a:r>
              <a:rPr sz="1650" spc="-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outcomes</a:t>
            </a:r>
            <a:r>
              <a:rPr sz="1650" spc="-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of</a:t>
            </a:r>
            <a:r>
              <a:rPr sz="1650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1650" spc="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random</a:t>
            </a:r>
            <a:r>
              <a:rPr sz="1650" spc="-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variable</a:t>
            </a:r>
            <a:r>
              <a:rPr sz="1650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is</a:t>
            </a:r>
            <a:r>
              <a:rPr sz="16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performed</a:t>
            </a:r>
            <a:r>
              <a:rPr sz="1650" spc="-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by</a:t>
            </a:r>
            <a:r>
              <a:rPr sz="1650" spc="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spc="-50" dirty="0">
                <a:solidFill>
                  <a:srgbClr val="545454"/>
                </a:solidFill>
                <a:latin typeface="Arial"/>
                <a:cs typeface="Arial"/>
              </a:rPr>
              <a:t>a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probability</a:t>
            </a:r>
            <a:r>
              <a:rPr sz="1650" spc="-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density</a:t>
            </a:r>
            <a:r>
              <a:rPr sz="1650" spc="-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function,</a:t>
            </a:r>
            <a:r>
              <a:rPr sz="1650" spc="-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or</a:t>
            </a:r>
            <a:r>
              <a:rPr sz="1650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PDF</a:t>
            </a:r>
            <a:r>
              <a:rPr sz="1650" spc="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45454"/>
                </a:solidFill>
                <a:latin typeface="Arial"/>
                <a:cs typeface="Arial"/>
              </a:rPr>
              <a:t>for</a:t>
            </a:r>
            <a:r>
              <a:rPr sz="1650" spc="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45454"/>
                </a:solidFill>
                <a:latin typeface="Arial"/>
                <a:cs typeface="Arial"/>
              </a:rPr>
              <a:t>short.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dirty="0">
                <a:latin typeface="Calibri"/>
                <a:cs typeface="Calibri"/>
              </a:rPr>
              <a:t>The probability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density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function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Normal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distribution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given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14569" y="2239772"/>
            <a:ext cx="55244" cy="233679"/>
          </a:xfrm>
          <a:custGeom>
            <a:avLst/>
            <a:gdLst/>
            <a:ahLst/>
            <a:cxnLst/>
            <a:rect l="l" t="t" r="r" b="b"/>
            <a:pathLst>
              <a:path w="55245" h="233680">
                <a:moveTo>
                  <a:pt x="54863" y="0"/>
                </a:moveTo>
                <a:lnTo>
                  <a:pt x="0" y="0"/>
                </a:lnTo>
                <a:lnTo>
                  <a:pt x="0" y="233171"/>
                </a:lnTo>
                <a:lnTo>
                  <a:pt x="54863" y="233171"/>
                </a:lnTo>
                <a:lnTo>
                  <a:pt x="548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" y="2546604"/>
            <a:ext cx="5047004" cy="15804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6580" y="4293209"/>
            <a:ext cx="7966709" cy="45465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sz="1400" dirty="0">
                <a:latin typeface="Calibri"/>
                <a:cs typeface="Calibri"/>
              </a:rPr>
              <a:t>CDF: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provides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shortcut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calculating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probabilities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once.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integrate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the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pdf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get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cumulative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probability.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528BD4"/>
                </a:solidFill>
              </a:rPr>
              <a:t>Q-</a:t>
            </a:r>
            <a:r>
              <a:rPr dirty="0">
                <a:solidFill>
                  <a:srgbClr val="528BD4"/>
                </a:solidFill>
              </a:rPr>
              <a:t>Q</a:t>
            </a:r>
            <a:r>
              <a:rPr spc="15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Plots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744" y="737057"/>
            <a:ext cx="8425815" cy="75755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65"/>
              </a:spcBef>
            </a:pP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Q-Q</a:t>
            </a:r>
            <a:r>
              <a:rPr sz="1550" spc="10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plots</a:t>
            </a:r>
            <a:r>
              <a:rPr sz="1550" spc="7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are</a:t>
            </a:r>
            <a:r>
              <a:rPr sz="1550" spc="9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used</a:t>
            </a:r>
            <a:r>
              <a:rPr sz="1550" spc="1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to</a:t>
            </a:r>
            <a:r>
              <a:rPr sz="1550" spc="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find</a:t>
            </a:r>
            <a:r>
              <a:rPr sz="1550" spc="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the</a:t>
            </a:r>
            <a:r>
              <a:rPr sz="1550" spc="1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type</a:t>
            </a:r>
            <a:r>
              <a:rPr sz="1550" spc="9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of</a:t>
            </a:r>
            <a:r>
              <a:rPr sz="1550" spc="10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distribution</a:t>
            </a:r>
            <a:r>
              <a:rPr sz="1550" spc="1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for</a:t>
            </a:r>
            <a:r>
              <a:rPr sz="1550" spc="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a</a:t>
            </a:r>
            <a:r>
              <a:rPr sz="1550" spc="9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random</a:t>
            </a:r>
            <a:r>
              <a:rPr sz="1550" spc="1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variable</a:t>
            </a:r>
            <a:r>
              <a:rPr sz="1550" spc="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whether</a:t>
            </a:r>
            <a:r>
              <a:rPr sz="1550" spc="1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it</a:t>
            </a:r>
            <a:r>
              <a:rPr sz="1550" spc="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be</a:t>
            </a:r>
            <a:r>
              <a:rPr sz="1550" spc="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292929"/>
                </a:solidFill>
                <a:latin typeface="Arial"/>
                <a:cs typeface="Arial"/>
              </a:rPr>
              <a:t>a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Gaussian</a:t>
            </a:r>
            <a:r>
              <a:rPr sz="1550" spc="1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Distribution</a:t>
            </a:r>
            <a:r>
              <a:rPr sz="1550" spc="8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/</a:t>
            </a:r>
            <a:r>
              <a:rPr sz="1550" spc="6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Normal</a:t>
            </a:r>
            <a:r>
              <a:rPr sz="1550" spc="7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distribution</a:t>
            </a:r>
            <a:r>
              <a:rPr sz="1550" spc="17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or</a:t>
            </a:r>
            <a:r>
              <a:rPr sz="1550" spc="8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not.</a:t>
            </a:r>
            <a:r>
              <a:rPr sz="1550" spc="1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92929"/>
                </a:solidFill>
                <a:latin typeface="Arial"/>
                <a:cs typeface="Arial"/>
              </a:rPr>
              <a:t>It</a:t>
            </a:r>
            <a:r>
              <a:rPr sz="1550" spc="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plots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quantiles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your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dataset</a:t>
            </a:r>
            <a:r>
              <a:rPr sz="1550" spc="17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against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quantiles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theoretical</a:t>
            </a:r>
            <a:r>
              <a:rPr sz="1550" spc="21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distribution.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163" y="1572767"/>
            <a:ext cx="3538728" cy="325305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183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Standard</a:t>
            </a:r>
            <a:r>
              <a:rPr spc="-70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Normal</a:t>
            </a:r>
            <a:r>
              <a:rPr spc="-50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Distribution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6580" y="821029"/>
            <a:ext cx="8440420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standard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normal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distribution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special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normal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distribution.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distribution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occurs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 </a:t>
            </a:r>
            <a:r>
              <a:rPr sz="1400" dirty="0">
                <a:latin typeface="Calibri"/>
                <a:cs typeface="Calibri"/>
              </a:rPr>
              <a:t>normal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random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variable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mean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zero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standard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deviation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one.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727" y="2184844"/>
            <a:ext cx="5662299" cy="166935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464" y="4938242"/>
            <a:ext cx="22821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55372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Z-</a:t>
            </a:r>
            <a:r>
              <a:rPr spc="-35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Score</a:t>
            </a:r>
            <a:r>
              <a:rPr spc="-70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/ Z-Value/</a:t>
            </a:r>
            <a:r>
              <a:rPr spc="-40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Standard</a:t>
            </a:r>
            <a:r>
              <a:rPr spc="-55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Score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211402"/>
            <a:ext cx="8049259" cy="1986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1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z-</a:t>
            </a:r>
            <a:r>
              <a:rPr sz="2400" dirty="0">
                <a:latin typeface="Calibri"/>
                <a:cs typeface="Calibri"/>
              </a:rPr>
              <a:t>score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(aka,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standard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many</a:t>
            </a:r>
            <a:r>
              <a:rPr sz="2400" spc="6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standard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deviations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mean.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z-</a:t>
            </a:r>
            <a:r>
              <a:rPr sz="2400" dirty="0">
                <a:latin typeface="Calibri"/>
                <a:cs typeface="Calibri"/>
              </a:rPr>
              <a:t>score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calculated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formula.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z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(X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μ)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σ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3976" y="818388"/>
            <a:ext cx="4956048" cy="404164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4" name="object 4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66560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Calculating</a:t>
            </a:r>
            <a:r>
              <a:rPr spc="-110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Z-</a:t>
            </a:r>
            <a:r>
              <a:rPr spc="-10" dirty="0">
                <a:solidFill>
                  <a:srgbClr val="528BD4"/>
                </a:solidFill>
              </a:rPr>
              <a:t>Score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220535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4F81BC"/>
                </a:solidFill>
              </a:rPr>
              <a:t>Outliers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544" y="1225118"/>
            <a:ext cx="7783830" cy="323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66666"/>
              <a:buChar char="•"/>
              <a:tabLst>
                <a:tab pos="355600" algn="l"/>
              </a:tabLst>
            </a:pPr>
            <a:r>
              <a:rPr sz="2700" spc="-10" dirty="0">
                <a:latin typeface="Arial"/>
                <a:cs typeface="Arial"/>
              </a:rPr>
              <a:t>Z-</a:t>
            </a:r>
            <a:r>
              <a:rPr sz="2700" dirty="0">
                <a:latin typeface="Arial"/>
                <a:cs typeface="Arial"/>
              </a:rPr>
              <a:t>scores</a:t>
            </a:r>
            <a:r>
              <a:rPr sz="2700" spc="-8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generally</a:t>
            </a:r>
            <a:r>
              <a:rPr sz="2700" spc="-8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range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from</a:t>
            </a:r>
            <a:r>
              <a:rPr sz="2700" spc="5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-</a:t>
            </a:r>
            <a:r>
              <a:rPr sz="2700" dirty="0">
                <a:latin typeface="Arial"/>
                <a:cs typeface="Arial"/>
              </a:rPr>
              <a:t>3.0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-10" dirty="0">
                <a:latin typeface="Arial"/>
                <a:cs typeface="Arial"/>
              </a:rPr>
              <a:t> +3.0.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15"/>
              </a:spcBef>
              <a:buFont typeface="Arial"/>
              <a:buChar char="•"/>
            </a:pPr>
            <a:endParaRPr sz="2700">
              <a:latin typeface="Arial"/>
              <a:cs typeface="Arial"/>
            </a:endParaRPr>
          </a:p>
          <a:p>
            <a:pPr marL="355600" marR="173355" indent="-343535">
              <a:lnSpc>
                <a:spcPct val="89000"/>
              </a:lnSpc>
              <a:buSzPct val="66666"/>
              <a:buChar char="•"/>
              <a:tabLst>
                <a:tab pos="355600" algn="l"/>
              </a:tabLst>
            </a:pPr>
            <a:r>
              <a:rPr sz="2700" dirty="0">
                <a:latin typeface="Arial"/>
                <a:cs typeface="Arial"/>
              </a:rPr>
              <a:t>For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bell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shaped</a:t>
            </a:r>
            <a:r>
              <a:rPr sz="2700" spc="-7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distributions,</a:t>
            </a:r>
            <a:r>
              <a:rPr sz="2700" spc="-8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empirical</a:t>
            </a:r>
            <a:r>
              <a:rPr sz="2700" spc="-75" dirty="0">
                <a:latin typeface="Arial"/>
                <a:cs typeface="Arial"/>
              </a:rPr>
              <a:t> </a:t>
            </a:r>
            <a:r>
              <a:rPr sz="2700" spc="-20" dirty="0">
                <a:latin typeface="Arial"/>
                <a:cs typeface="Arial"/>
              </a:rPr>
              <a:t>rule </a:t>
            </a:r>
            <a:r>
              <a:rPr sz="2700" dirty="0">
                <a:latin typeface="Arial"/>
                <a:cs typeface="Arial"/>
              </a:rPr>
              <a:t>says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99.7%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of</a:t>
            </a:r>
            <a:r>
              <a:rPr sz="2700" spc="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all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data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values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have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z-</a:t>
            </a:r>
            <a:r>
              <a:rPr sz="2700" spc="-10" dirty="0">
                <a:latin typeface="Arial"/>
                <a:cs typeface="Arial"/>
              </a:rPr>
              <a:t>scores </a:t>
            </a:r>
            <a:r>
              <a:rPr sz="2700" dirty="0">
                <a:latin typeface="Arial"/>
                <a:cs typeface="Arial"/>
              </a:rPr>
              <a:t>between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-</a:t>
            </a:r>
            <a:r>
              <a:rPr sz="2700" dirty="0">
                <a:latin typeface="Arial"/>
                <a:cs typeface="Arial"/>
              </a:rPr>
              <a:t>3.0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and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+3.0.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endParaRPr sz="2700">
              <a:latin typeface="Arial"/>
              <a:cs typeface="Arial"/>
            </a:endParaRPr>
          </a:p>
          <a:p>
            <a:pPr marL="355600" indent="-342900">
              <a:lnSpc>
                <a:spcPts val="3060"/>
              </a:lnSpc>
              <a:buSzPct val="66666"/>
              <a:buChar char="•"/>
              <a:tabLst>
                <a:tab pos="355600" algn="l"/>
              </a:tabLst>
            </a:pPr>
            <a:r>
              <a:rPr sz="2700" spc="55" dirty="0">
                <a:latin typeface="Arial"/>
                <a:cs typeface="Arial"/>
              </a:rPr>
              <a:t>We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consider</a:t>
            </a:r>
            <a:r>
              <a:rPr sz="2700" spc="-10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any z-score that is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either</a:t>
            </a:r>
            <a:r>
              <a:rPr sz="2700" spc="-5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less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than</a:t>
            </a:r>
            <a:r>
              <a:rPr sz="2700" spc="10" dirty="0">
                <a:latin typeface="Arial"/>
                <a:cs typeface="Arial"/>
              </a:rPr>
              <a:t> </a:t>
            </a:r>
            <a:r>
              <a:rPr sz="2700" spc="-50" dirty="0">
                <a:latin typeface="Arial"/>
                <a:cs typeface="Arial"/>
              </a:rPr>
              <a:t>-</a:t>
            </a:r>
            <a:endParaRPr sz="2700">
              <a:latin typeface="Arial"/>
              <a:cs typeface="Arial"/>
            </a:endParaRPr>
          </a:p>
          <a:p>
            <a:pPr marL="355600">
              <a:lnSpc>
                <a:spcPts val="3060"/>
              </a:lnSpc>
            </a:pPr>
            <a:r>
              <a:rPr sz="2700" dirty="0">
                <a:latin typeface="Arial"/>
                <a:cs typeface="Arial"/>
              </a:rPr>
              <a:t>3.0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or</a:t>
            </a:r>
            <a:r>
              <a:rPr sz="2700" spc="-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greater</a:t>
            </a:r>
            <a:r>
              <a:rPr sz="2700" spc="-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than</a:t>
            </a:r>
            <a:r>
              <a:rPr sz="2700" spc="-5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+3.0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be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an</a:t>
            </a:r>
            <a:r>
              <a:rPr sz="2700" spc="45" dirty="0">
                <a:latin typeface="Arial"/>
                <a:cs typeface="Arial"/>
              </a:rPr>
              <a:t> </a:t>
            </a:r>
            <a:r>
              <a:rPr sz="2700" b="1" spc="-10" dirty="0">
                <a:latin typeface="Arial"/>
                <a:cs typeface="Arial"/>
              </a:rPr>
              <a:t>outlier</a:t>
            </a:r>
            <a:r>
              <a:rPr sz="2700" spc="-10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647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solidFill>
                  <a:srgbClr val="528BD4"/>
                </a:solidFill>
              </a:rPr>
              <a:t>Correcting</a:t>
            </a:r>
            <a:r>
              <a:rPr sz="2800" spc="-60" dirty="0">
                <a:solidFill>
                  <a:srgbClr val="528BD4"/>
                </a:solidFill>
              </a:rPr>
              <a:t> </a:t>
            </a:r>
            <a:r>
              <a:rPr sz="2800" dirty="0">
                <a:solidFill>
                  <a:srgbClr val="528BD4"/>
                </a:solidFill>
              </a:rPr>
              <a:t>Distortion</a:t>
            </a:r>
            <a:r>
              <a:rPr sz="2800" spc="-40" dirty="0">
                <a:solidFill>
                  <a:srgbClr val="528BD4"/>
                </a:solidFill>
              </a:rPr>
              <a:t> </a:t>
            </a:r>
            <a:r>
              <a:rPr sz="2800" dirty="0">
                <a:solidFill>
                  <a:srgbClr val="528BD4"/>
                </a:solidFill>
              </a:rPr>
              <a:t>in</a:t>
            </a:r>
            <a:r>
              <a:rPr sz="2800" spc="-30" dirty="0">
                <a:solidFill>
                  <a:srgbClr val="528BD4"/>
                </a:solidFill>
              </a:rPr>
              <a:t> </a:t>
            </a:r>
            <a:r>
              <a:rPr sz="2800" dirty="0">
                <a:solidFill>
                  <a:srgbClr val="528BD4"/>
                </a:solidFill>
              </a:rPr>
              <a:t>Normal </a:t>
            </a:r>
            <a:r>
              <a:rPr sz="2800" spc="-10" dirty="0">
                <a:solidFill>
                  <a:srgbClr val="528BD4"/>
                </a:solidFill>
              </a:rPr>
              <a:t>Distribution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8167496" y="950467"/>
            <a:ext cx="55244" cy="233679"/>
          </a:xfrm>
          <a:custGeom>
            <a:avLst/>
            <a:gdLst/>
            <a:ahLst/>
            <a:cxnLst/>
            <a:rect l="l" t="t" r="r" b="b"/>
            <a:pathLst>
              <a:path w="55245" h="233680">
                <a:moveTo>
                  <a:pt x="54864" y="0"/>
                </a:moveTo>
                <a:lnTo>
                  <a:pt x="0" y="0"/>
                </a:lnTo>
                <a:lnTo>
                  <a:pt x="0" y="233172"/>
                </a:lnTo>
                <a:lnTo>
                  <a:pt x="54864" y="233172"/>
                </a:lnTo>
                <a:lnTo>
                  <a:pt x="548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6580" y="920318"/>
            <a:ext cx="8062595" cy="8070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Transformation</a:t>
            </a:r>
            <a:r>
              <a:rPr sz="1550" spc="254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is</a:t>
            </a:r>
            <a:r>
              <a:rPr sz="1550" spc="9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nothing</a:t>
            </a:r>
            <a:r>
              <a:rPr sz="1550" spc="11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but</a:t>
            </a:r>
            <a:r>
              <a:rPr sz="1550" spc="12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taking</a:t>
            </a:r>
            <a:r>
              <a:rPr sz="1550" spc="16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a</a:t>
            </a:r>
            <a:r>
              <a:rPr sz="1550" spc="8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mathematical</a:t>
            </a:r>
            <a:r>
              <a:rPr sz="1550" spc="229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function</a:t>
            </a:r>
            <a:r>
              <a:rPr sz="1550" spc="21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and</a:t>
            </a:r>
            <a:r>
              <a:rPr sz="1550" spc="12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applying</a:t>
            </a:r>
            <a:r>
              <a:rPr sz="1550" spc="16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it</a:t>
            </a:r>
            <a:r>
              <a:rPr sz="1550" spc="8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1550" spc="10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292929"/>
                </a:solidFill>
                <a:latin typeface="Georgia"/>
                <a:cs typeface="Georgia"/>
              </a:rPr>
              <a:t>the</a:t>
            </a:r>
            <a:r>
              <a:rPr sz="1550" spc="12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Georgia"/>
                <a:cs typeface="Georgia"/>
              </a:rPr>
              <a:t>data.</a:t>
            </a:r>
            <a:endParaRPr sz="1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550">
              <a:latin typeface="Georgia"/>
              <a:cs typeface="Georgia"/>
            </a:endParaRPr>
          </a:p>
          <a:p>
            <a:pPr marL="365125">
              <a:lnSpc>
                <a:spcPct val="100000"/>
              </a:lnSpc>
            </a:pP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-</a:t>
            </a:r>
            <a:r>
              <a:rPr sz="1800" spc="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Log</a:t>
            </a:r>
            <a:r>
              <a:rPr sz="18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Transformation</a:t>
            </a:r>
            <a:r>
              <a:rPr sz="1800" spc="4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[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Each</a:t>
            </a:r>
            <a:r>
              <a:rPr sz="1800" spc="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point</a:t>
            </a:r>
            <a:r>
              <a:rPr sz="18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replaced</a:t>
            </a:r>
            <a:r>
              <a:rPr sz="1800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with</a:t>
            </a:r>
            <a:r>
              <a:rPr sz="1800" spc="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log(x)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1800" spc="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obtain</a:t>
            </a:r>
            <a:r>
              <a:rPr sz="18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Arial"/>
                <a:cs typeface="Arial"/>
              </a:rPr>
              <a:t>ND</a:t>
            </a:r>
            <a:r>
              <a:rPr sz="1800" spc="-25" dirty="0">
                <a:solidFill>
                  <a:srgbClr val="292929"/>
                </a:solidFill>
                <a:latin typeface="Arial"/>
                <a:cs typeface="Arial"/>
              </a:rPr>
              <a:t>]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255" y="1701241"/>
            <a:ext cx="30676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100"/>
              </a:spcBef>
              <a:buChar char="-"/>
              <a:tabLst>
                <a:tab pos="154305" algn="l"/>
              </a:tabLst>
            </a:pP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Square-Root</a:t>
            </a:r>
            <a:r>
              <a:rPr sz="1800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"/>
                <a:cs typeface="Arial"/>
              </a:rPr>
              <a:t>Transformation</a:t>
            </a:r>
            <a:endParaRPr sz="18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5"/>
              </a:spcBef>
              <a:buChar char="-"/>
              <a:tabLst>
                <a:tab pos="154305" algn="l"/>
              </a:tabLst>
            </a:pP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Reciprocal</a:t>
            </a:r>
            <a:r>
              <a:rPr sz="1800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"/>
                <a:cs typeface="Arial"/>
              </a:rPr>
              <a:t>Transformation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28013" y="1701241"/>
            <a:ext cx="4736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 marR="5080" indent="-450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[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Each</a:t>
            </a:r>
            <a:r>
              <a:rPr sz="18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point</a:t>
            </a:r>
            <a:r>
              <a:rPr sz="18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replaced</a:t>
            </a:r>
            <a:r>
              <a:rPr sz="18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by</a:t>
            </a:r>
            <a:r>
              <a:rPr sz="18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its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square</a:t>
            </a:r>
            <a:r>
              <a:rPr sz="18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root</a:t>
            </a:r>
            <a:r>
              <a:rPr sz="1800" spc="-10" dirty="0">
                <a:solidFill>
                  <a:srgbClr val="292929"/>
                </a:solidFill>
                <a:latin typeface="Arial"/>
                <a:cs typeface="Arial"/>
              </a:rPr>
              <a:t>]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[</a:t>
            </a:r>
            <a:r>
              <a:rPr sz="1800" spc="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It</a:t>
            </a:r>
            <a:r>
              <a:rPr sz="18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takes</a:t>
            </a:r>
            <a:r>
              <a:rPr sz="1800" spc="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inverse</a:t>
            </a:r>
            <a:r>
              <a:rPr sz="18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1800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ie.,</a:t>
            </a:r>
            <a:r>
              <a:rPr sz="1800" spc="-20" dirty="0">
                <a:solidFill>
                  <a:srgbClr val="C00000"/>
                </a:solidFill>
                <a:latin typeface="Arial"/>
                <a:cs typeface="Arial"/>
              </a:rPr>
              <a:t> 1/x</a:t>
            </a:r>
            <a:r>
              <a:rPr sz="1800" spc="-20" dirty="0">
                <a:solidFill>
                  <a:srgbClr val="292929"/>
                </a:solidFill>
                <a:latin typeface="Arial"/>
                <a:cs typeface="Arial"/>
              </a:rPr>
              <a:t>]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6679" y="2250389"/>
            <a:ext cx="8028940" cy="167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>
              <a:lnSpc>
                <a:spcPct val="100000"/>
              </a:lnSpc>
              <a:spcBef>
                <a:spcPts val="100"/>
              </a:spcBef>
              <a:tabLst>
                <a:tab pos="2844165" algn="l"/>
              </a:tabLst>
            </a:pP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-</a:t>
            </a:r>
            <a:r>
              <a:rPr sz="1800" spc="-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BoxCox</a:t>
            </a:r>
            <a:r>
              <a:rPr sz="1800" spc="-10" dirty="0">
                <a:solidFill>
                  <a:srgbClr val="292929"/>
                </a:solidFill>
                <a:latin typeface="Arial"/>
                <a:cs typeface="Arial"/>
              </a:rPr>
              <a:t> Transformation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	[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flexible</a:t>
            </a:r>
            <a:r>
              <a:rPr sz="1800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version</a:t>
            </a:r>
            <a:r>
              <a:rPr sz="18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8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log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or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square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C00000"/>
                </a:solidFill>
                <a:latin typeface="Arial"/>
                <a:cs typeface="Arial"/>
              </a:rPr>
              <a:t>root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transformations</a:t>
            </a:r>
            <a:r>
              <a:rPr sz="18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—</a:t>
            </a:r>
            <a:r>
              <a:rPr sz="1800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but instead</a:t>
            </a:r>
            <a:r>
              <a:rPr sz="18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choosing</a:t>
            </a:r>
            <a:r>
              <a:rPr sz="18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manually,</a:t>
            </a:r>
            <a:r>
              <a:rPr sz="18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Box-Cox</a:t>
            </a:r>
            <a:r>
              <a:rPr sz="1800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automatically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finds</a:t>
            </a:r>
            <a:r>
              <a:rPr sz="180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the best</a:t>
            </a:r>
            <a:r>
              <a:rPr sz="18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value</a:t>
            </a:r>
            <a:r>
              <a:rPr sz="180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of λ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(lambda)</a:t>
            </a:r>
            <a:r>
              <a:rPr sz="18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that</a:t>
            </a:r>
            <a:r>
              <a:rPr sz="18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makes</a:t>
            </a:r>
            <a:r>
              <a:rPr sz="1800" spc="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your</a:t>
            </a:r>
            <a:r>
              <a:rPr sz="18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data as</a:t>
            </a:r>
            <a:r>
              <a:rPr sz="18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normal</a:t>
            </a:r>
            <a:r>
              <a:rPr sz="1800" spc="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as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possible.]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>
              <a:latin typeface="Arial"/>
              <a:cs typeface="Arial"/>
            </a:endParaRPr>
          </a:p>
          <a:p>
            <a:pPr marL="12700" marR="1898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Reason: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transform</a:t>
            </a:r>
            <a:r>
              <a:rPr sz="1800" spc="-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the data</a:t>
            </a:r>
            <a:r>
              <a:rPr sz="18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either</a:t>
            </a:r>
            <a:r>
              <a:rPr sz="1800" spc="-6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reduce</a:t>
            </a:r>
            <a:r>
              <a:rPr sz="18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skewness</a:t>
            </a:r>
            <a:r>
              <a:rPr sz="1800" spc="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or</a:t>
            </a:r>
            <a:r>
              <a:rPr sz="18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"/>
                <a:cs typeface="Arial"/>
              </a:rPr>
              <a:t>normalize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the</a:t>
            </a:r>
            <a:r>
              <a:rPr sz="1800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data</a:t>
            </a:r>
            <a:r>
              <a:rPr sz="18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or</a:t>
            </a:r>
            <a:r>
              <a:rPr sz="1800" spc="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simply</a:t>
            </a:r>
            <a:r>
              <a:rPr sz="1800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make</a:t>
            </a:r>
            <a:r>
              <a:rPr sz="1800" spc="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data</a:t>
            </a:r>
            <a:r>
              <a:rPr sz="1800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easier</a:t>
            </a:r>
            <a:r>
              <a:rPr sz="1800" spc="-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"/>
                <a:cs typeface="Arial"/>
              </a:rPr>
              <a:t>understand.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79959"/>
            <a:ext cx="3739515" cy="277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528BD4"/>
                </a:solidFill>
                <a:latin typeface="Calibri"/>
                <a:cs typeface="Calibri"/>
              </a:rPr>
              <a:t>Measure</a:t>
            </a:r>
            <a:r>
              <a:rPr sz="3200" spc="-35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528BD4"/>
                </a:solidFill>
                <a:latin typeface="Calibri"/>
                <a:cs typeface="Calibri"/>
              </a:rPr>
              <a:t>of</a:t>
            </a:r>
            <a:r>
              <a:rPr sz="3200" spc="-30" dirty="0">
                <a:solidFill>
                  <a:srgbClr val="528BD4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528BD4"/>
                </a:solidFill>
                <a:latin typeface="Calibri"/>
                <a:cs typeface="Calibri"/>
              </a:rPr>
              <a:t>Distance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Euclidean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Distance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Manhattan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Distance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Minkowski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Distance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29921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Euclidean</a:t>
            </a:r>
            <a:r>
              <a:rPr spc="-105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Distance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42416"/>
            <a:ext cx="9144000" cy="21945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2530" y="3400325"/>
            <a:ext cx="3604263" cy="49004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17157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Manhattan</a:t>
            </a:r>
            <a:r>
              <a:rPr spc="-100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Distance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" y="1092708"/>
            <a:ext cx="9125712" cy="33924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20777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Minkowski</a:t>
            </a:r>
            <a:r>
              <a:rPr spc="-30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Distance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76" y="763523"/>
            <a:ext cx="8842248" cy="1152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9758" y="3056909"/>
            <a:ext cx="3199342" cy="3038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6320" y="2057400"/>
            <a:ext cx="3929587" cy="267301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38112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Use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Distance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Metrics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544" y="1270838"/>
            <a:ext cx="5555615" cy="225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Statistical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distances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several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important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reasons: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Outlier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Detection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Clustering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Feature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Selection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Cleaning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Dimensionality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Reduction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592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35"/>
              </a:spcBef>
            </a:pPr>
            <a:r>
              <a:rPr sz="2450" spc="-10" dirty="0">
                <a:solidFill>
                  <a:srgbClr val="528BD4"/>
                </a:solidFill>
                <a:latin typeface="Cambria"/>
                <a:cs typeface="Cambria"/>
              </a:rPr>
              <a:t>Covariance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0400" y="816305"/>
            <a:ext cx="8041005" cy="10915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41630" marR="5080" indent="-329565">
              <a:lnSpc>
                <a:spcPct val="102699"/>
              </a:lnSpc>
              <a:spcBef>
                <a:spcPts val="85"/>
              </a:spcBef>
              <a:buFont typeface="Arial"/>
              <a:buChar char="•"/>
              <a:tabLst>
                <a:tab pos="341630" algn="l"/>
              </a:tabLst>
            </a:pPr>
            <a:r>
              <a:rPr sz="1550" dirty="0">
                <a:latin typeface="Calibri"/>
                <a:cs typeface="Calibri"/>
              </a:rPr>
              <a:t>It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relationship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between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pair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random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variables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where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change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one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variable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causes </a:t>
            </a:r>
            <a:r>
              <a:rPr sz="1550" dirty="0">
                <a:latin typeface="Calibri"/>
                <a:cs typeface="Calibri"/>
              </a:rPr>
              <a:t>change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another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variable.</a:t>
            </a:r>
            <a:endParaRPr sz="1550">
              <a:latin typeface="Calibri"/>
              <a:cs typeface="Calibri"/>
            </a:endParaRPr>
          </a:p>
          <a:p>
            <a:pPr marL="341630" marR="142875" indent="-329565">
              <a:lnSpc>
                <a:spcPts val="2310"/>
              </a:lnSpc>
              <a:spcBef>
                <a:spcPts val="65"/>
              </a:spcBef>
              <a:buFont typeface="Arial"/>
              <a:buChar char="•"/>
              <a:tabLst>
                <a:tab pos="341630" algn="l"/>
              </a:tabLst>
            </a:pPr>
            <a:r>
              <a:rPr sz="1550" dirty="0">
                <a:latin typeface="Calibri"/>
                <a:cs typeface="Calibri"/>
              </a:rPr>
              <a:t>It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can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take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any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value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between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02020"/>
                </a:solidFill>
                <a:latin typeface="Century"/>
                <a:cs typeface="Century"/>
              </a:rPr>
              <a:t>-∞</a:t>
            </a:r>
            <a:r>
              <a:rPr sz="1800" spc="20" dirty="0">
                <a:solidFill>
                  <a:srgbClr val="202020"/>
                </a:solidFill>
                <a:latin typeface="Century"/>
                <a:cs typeface="Century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550" spc="1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02020"/>
                </a:solidFill>
                <a:latin typeface="Century"/>
                <a:cs typeface="Century"/>
              </a:rPr>
              <a:t>+∞</a:t>
            </a:r>
            <a:r>
              <a:rPr sz="1550" dirty="0">
                <a:latin typeface="Calibri"/>
                <a:cs typeface="Calibri"/>
              </a:rPr>
              <a:t>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where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negative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value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represents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65" dirty="0">
                <a:latin typeface="Calibri"/>
                <a:cs typeface="Calibri"/>
              </a:rPr>
              <a:t>negative </a:t>
            </a:r>
            <a:r>
              <a:rPr sz="1550" dirty="0">
                <a:latin typeface="Calibri"/>
                <a:cs typeface="Calibri"/>
              </a:rPr>
              <a:t>relationship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whereas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positive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value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represents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positive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relationship.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31" y="1993392"/>
            <a:ext cx="3579876" cy="2295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4296" y="1993392"/>
            <a:ext cx="4201667" cy="22174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592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35"/>
              </a:spcBef>
            </a:pPr>
            <a:r>
              <a:rPr sz="2450" spc="-10" dirty="0">
                <a:solidFill>
                  <a:srgbClr val="528BD4"/>
                </a:solidFill>
                <a:latin typeface="Cambria"/>
                <a:cs typeface="Cambria"/>
              </a:rPr>
              <a:t>Correlation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2112" y="732209"/>
            <a:ext cx="7460615" cy="13398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944"/>
              </a:spcBef>
              <a:buSzPct val="122580"/>
              <a:buFont typeface="Arial"/>
              <a:buChar char="•"/>
              <a:tabLst>
                <a:tab pos="360045" algn="l"/>
              </a:tabLst>
            </a:pPr>
            <a:r>
              <a:rPr sz="1550" dirty="0">
                <a:latin typeface="Calibri"/>
                <a:cs typeface="Calibri"/>
              </a:rPr>
              <a:t>It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scaled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version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Covariance.</a:t>
            </a:r>
            <a:endParaRPr sz="1550">
              <a:latin typeface="Calibri"/>
              <a:cs typeface="Calibri"/>
            </a:endParaRPr>
          </a:p>
          <a:p>
            <a:pPr marL="360045" marR="5080" indent="-347980">
              <a:lnSpc>
                <a:spcPct val="119100"/>
              </a:lnSpc>
              <a:spcBef>
                <a:spcPts val="990"/>
              </a:spcBef>
              <a:buClr>
                <a:srgbClr val="000000"/>
              </a:buClr>
              <a:buSzPct val="122580"/>
              <a:buFont typeface="Arial"/>
              <a:buChar char="•"/>
              <a:tabLst>
                <a:tab pos="360045" algn="l"/>
              </a:tabLst>
            </a:pP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Correlation</a:t>
            </a:r>
            <a:r>
              <a:rPr sz="1550" spc="204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550" spc="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550" spc="8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step</a:t>
            </a:r>
            <a:r>
              <a:rPr sz="1550" spc="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ahead</a:t>
            </a:r>
            <a:r>
              <a:rPr sz="1550" spc="1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550" spc="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covariance</a:t>
            </a:r>
            <a:r>
              <a:rPr sz="1550" spc="1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550" spc="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550" spc="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quantifies</a:t>
            </a:r>
            <a:r>
              <a:rPr sz="1550" spc="1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550" spc="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relationship</a:t>
            </a:r>
            <a:r>
              <a:rPr sz="1550" spc="1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between</a:t>
            </a:r>
            <a:r>
              <a:rPr sz="1550" spc="1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02020"/>
                </a:solidFill>
                <a:latin typeface="Calibri"/>
                <a:cs typeface="Calibri"/>
              </a:rPr>
              <a:t>two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random</a:t>
            </a:r>
            <a:r>
              <a:rPr sz="1550" spc="1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variables.</a:t>
            </a:r>
            <a:r>
              <a:rPr sz="1550" spc="1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550" spc="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simple</a:t>
            </a:r>
            <a:r>
              <a:rPr sz="1550" spc="1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terms,</a:t>
            </a:r>
            <a:r>
              <a:rPr sz="1550" spc="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550" spc="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550" spc="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550" spc="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unit</a:t>
            </a:r>
            <a:r>
              <a:rPr sz="1550" spc="8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measure</a:t>
            </a:r>
            <a:r>
              <a:rPr sz="1550" spc="1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550" spc="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550" spc="1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these</a:t>
            </a:r>
            <a:r>
              <a:rPr sz="1550" spc="8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variables</a:t>
            </a:r>
            <a:r>
              <a:rPr sz="1550" spc="1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02020"/>
                </a:solidFill>
                <a:latin typeface="Calibri"/>
                <a:cs typeface="Calibri"/>
              </a:rPr>
              <a:t>change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concerning</a:t>
            </a:r>
            <a:r>
              <a:rPr sz="1550" spc="1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550" spc="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other</a:t>
            </a:r>
            <a:r>
              <a:rPr sz="1550" spc="1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(normalized</a:t>
            </a:r>
            <a:r>
              <a:rPr sz="1550" spc="2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02020"/>
                </a:solidFill>
                <a:latin typeface="Calibri"/>
                <a:cs typeface="Calibri"/>
              </a:rPr>
              <a:t>covariance</a:t>
            </a:r>
            <a:r>
              <a:rPr sz="1550" spc="1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02020"/>
                </a:solidFill>
                <a:latin typeface="Calibri"/>
                <a:cs typeface="Calibri"/>
              </a:rPr>
              <a:t>value).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876" y="2034539"/>
            <a:ext cx="4658868" cy="21899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0620" y="2034539"/>
            <a:ext cx="4032504" cy="244602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7467"/>
            <a:ext cx="9144000" cy="256540"/>
          </a:xfrm>
          <a:custGeom>
            <a:avLst/>
            <a:gdLst/>
            <a:ahLst/>
            <a:cxnLst/>
            <a:rect l="l" t="t" r="r" b="b"/>
            <a:pathLst>
              <a:path w="9144000" h="256539">
                <a:moveTo>
                  <a:pt x="9144000" y="0"/>
                </a:moveTo>
                <a:lnTo>
                  <a:pt x="0" y="0"/>
                </a:lnTo>
                <a:lnTo>
                  <a:pt x="0" y="256032"/>
                </a:lnTo>
                <a:lnTo>
                  <a:pt x="9144000" y="256032"/>
                </a:lnTo>
                <a:lnTo>
                  <a:pt x="9144000" y="0"/>
                </a:lnTo>
                <a:close/>
              </a:path>
            </a:pathLst>
          </a:custGeom>
          <a:solidFill>
            <a:srgbClr val="528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0530" y="4913172"/>
            <a:ext cx="34232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" name="object 4" descr="Image result for machine learning robot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015" y="1202280"/>
            <a:ext cx="3511451" cy="302689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003675" y="1073353"/>
            <a:ext cx="4039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Hypothesis</a:t>
            </a:r>
            <a:r>
              <a:rPr sz="3600" b="1"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Testing</a:t>
            </a:r>
            <a:r>
              <a:rPr sz="3600" b="1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spc="-50" dirty="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4198" y="1430290"/>
            <a:ext cx="4793615" cy="136334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5"/>
              </a:spcBef>
            </a:pP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computational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</a:t>
            </a:r>
            <a:endParaRPr sz="2800">
              <a:latin typeface="Calibri"/>
              <a:cs typeface="Calibri"/>
            </a:endParaRPr>
          </a:p>
          <a:p>
            <a:pPr marL="304165" algn="ctr">
              <a:lnSpc>
                <a:spcPct val="100000"/>
              </a:lnSpc>
              <a:spcBef>
                <a:spcPts val="1775"/>
              </a:spcBef>
            </a:pPr>
            <a:r>
              <a:rPr sz="3200" dirty="0">
                <a:solidFill>
                  <a:srgbClr val="878787"/>
                </a:solidFill>
                <a:latin typeface="Calibri"/>
                <a:cs typeface="Calibri"/>
              </a:rPr>
              <a:t>Module</a:t>
            </a:r>
            <a:r>
              <a:rPr sz="3200" spc="-3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3200" spc="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878787"/>
                </a:solidFill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2238" y="4655921"/>
            <a:ext cx="15557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2784" y="4893665"/>
            <a:ext cx="1737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454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solidFill>
                  <a:srgbClr val="528BD4"/>
                </a:solidFill>
              </a:rPr>
              <a:t>Hypothesis</a:t>
            </a:r>
            <a:r>
              <a:rPr sz="2900" spc="-25" dirty="0">
                <a:solidFill>
                  <a:srgbClr val="528BD4"/>
                </a:solidFill>
              </a:rPr>
              <a:t> </a:t>
            </a:r>
            <a:r>
              <a:rPr sz="2900" spc="-10" dirty="0">
                <a:solidFill>
                  <a:srgbClr val="528BD4"/>
                </a:solidFill>
              </a:rPr>
              <a:t>Testing</a:t>
            </a:r>
            <a:endParaRPr sz="29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887" y="844042"/>
            <a:ext cx="8420100" cy="3020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265" indent="-33782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469265" algn="l"/>
              </a:tabLst>
            </a:pPr>
            <a:r>
              <a:rPr sz="1700" dirty="0">
                <a:latin typeface="Calibri"/>
                <a:cs typeface="Calibri"/>
              </a:rPr>
              <a:t>Hypothesis is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 statement,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assumption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claim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about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value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 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parameter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(mean,</a:t>
            </a:r>
            <a:endParaRPr sz="17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85"/>
              </a:spcBef>
            </a:pPr>
            <a:r>
              <a:rPr sz="1700" dirty="0">
                <a:latin typeface="Calibri"/>
                <a:cs typeface="Calibri"/>
              </a:rPr>
              <a:t>variance,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median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etc.).</a:t>
            </a:r>
            <a:endParaRPr sz="1700" dirty="0">
              <a:latin typeface="Calibri"/>
              <a:cs typeface="Calibri"/>
            </a:endParaRPr>
          </a:p>
          <a:p>
            <a:pPr marL="469900" marR="129539" indent="-338455">
              <a:lnSpc>
                <a:spcPct val="104200"/>
              </a:lnSpc>
              <a:spcBef>
                <a:spcPts val="35"/>
              </a:spcBef>
              <a:buFont typeface="Arial"/>
              <a:buChar char="•"/>
              <a:tabLst>
                <a:tab pos="469900" algn="l"/>
              </a:tabLst>
            </a:pPr>
            <a:r>
              <a:rPr sz="1700" dirty="0">
                <a:latin typeface="Calibri"/>
                <a:cs typeface="Calibri"/>
              </a:rPr>
              <a:t>A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hypothesis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educated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guess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about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something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world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around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you.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It should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be </a:t>
            </a:r>
            <a:r>
              <a:rPr sz="1700" dirty="0">
                <a:latin typeface="Calibri"/>
                <a:cs typeface="Calibri"/>
              </a:rPr>
              <a:t>testable,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either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experiment or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observation.</a:t>
            </a:r>
            <a:endParaRPr sz="1700" dirty="0">
              <a:latin typeface="Calibri"/>
              <a:cs typeface="Calibri"/>
            </a:endParaRPr>
          </a:p>
          <a:p>
            <a:pPr marL="469900" marR="5080" indent="-338455">
              <a:lnSpc>
                <a:spcPts val="2270"/>
              </a:lnSpc>
              <a:spcBef>
                <a:spcPts val="80"/>
              </a:spcBef>
              <a:buSzPct val="94444"/>
              <a:buFont typeface="Arial"/>
              <a:buChar char="•"/>
              <a:tabLst>
                <a:tab pos="469900" algn="l"/>
              </a:tabLst>
            </a:pPr>
            <a:r>
              <a:rPr sz="1800" dirty="0">
                <a:latin typeface="Calibri"/>
                <a:cs typeface="Calibri"/>
              </a:rPr>
              <a:t>Hypothesis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procedure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whether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assumption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b="1" spc="-10" dirty="0">
                <a:latin typeface="Calibri"/>
                <a:cs typeface="Calibri"/>
              </a:rPr>
              <a:t>hypothesis</a:t>
            </a:r>
            <a:r>
              <a:rPr sz="1800" spc="-10" dirty="0">
                <a:latin typeface="Calibri"/>
                <a:cs typeface="Calibri"/>
              </a:rPr>
              <a:t>)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not.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1800" dirty="0">
              <a:latin typeface="Calibri"/>
              <a:cs typeface="Calibri"/>
            </a:endParaRPr>
          </a:p>
          <a:p>
            <a:pPr marL="12700" marR="18415">
              <a:lnSpc>
                <a:spcPct val="105100"/>
              </a:lnSpc>
            </a:pPr>
            <a:r>
              <a:rPr sz="1700" spc="-20" dirty="0">
                <a:latin typeface="Calibri"/>
                <a:cs typeface="Calibri"/>
              </a:rPr>
              <a:t>Ex:-</a:t>
            </a:r>
            <a:r>
              <a:rPr sz="1700" dirty="0">
                <a:latin typeface="Calibri"/>
                <a:cs typeface="Calibri"/>
              </a:rPr>
              <a:t>if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make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statement</a:t>
            </a:r>
            <a:r>
              <a:rPr sz="1700" spc="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“Dhoni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best</a:t>
            </a:r>
            <a:r>
              <a:rPr sz="1700" spc="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Indian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Captain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ever.”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assumption </a:t>
            </a:r>
            <a:r>
              <a:rPr sz="1700" dirty="0">
                <a:latin typeface="Calibri"/>
                <a:cs typeface="Calibri"/>
              </a:rPr>
              <a:t>that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making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based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 the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average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wins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loses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team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under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his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captaincy.</a:t>
            </a:r>
            <a:r>
              <a:rPr sz="1700" spc="3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can </a:t>
            </a:r>
            <a:r>
              <a:rPr sz="1700" dirty="0">
                <a:latin typeface="Calibri"/>
                <a:cs typeface="Calibri"/>
              </a:rPr>
              <a:t>test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statement</a:t>
            </a:r>
            <a:r>
              <a:rPr sz="1700" spc="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based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match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data.</a:t>
            </a:r>
            <a:endParaRPr sz="1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454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solidFill>
                  <a:srgbClr val="528BD4"/>
                </a:solidFill>
              </a:rPr>
              <a:t>Types</a:t>
            </a:r>
            <a:r>
              <a:rPr sz="2900" spc="-40" dirty="0">
                <a:solidFill>
                  <a:srgbClr val="528BD4"/>
                </a:solidFill>
              </a:rPr>
              <a:t> </a:t>
            </a:r>
            <a:r>
              <a:rPr sz="2900" dirty="0">
                <a:solidFill>
                  <a:srgbClr val="528BD4"/>
                </a:solidFill>
              </a:rPr>
              <a:t>of</a:t>
            </a:r>
            <a:r>
              <a:rPr sz="2900" spc="-45" dirty="0">
                <a:solidFill>
                  <a:srgbClr val="528BD4"/>
                </a:solidFill>
              </a:rPr>
              <a:t> </a:t>
            </a:r>
            <a:r>
              <a:rPr sz="2900" spc="-10" dirty="0">
                <a:solidFill>
                  <a:srgbClr val="528BD4"/>
                </a:solidFill>
              </a:rPr>
              <a:t>Hypothesis</a:t>
            </a:r>
            <a:endParaRPr sz="29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1899" y="1130580"/>
            <a:ext cx="8324901" cy="29651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73380" marR="5080" indent="-361315">
              <a:lnSpc>
                <a:spcPct val="115300"/>
              </a:lnSpc>
              <a:spcBef>
                <a:spcPts val="114"/>
              </a:spcBef>
              <a:buFont typeface="Arial"/>
              <a:buChar char="•"/>
              <a:tabLst>
                <a:tab pos="373380" algn="l"/>
              </a:tabLst>
            </a:pPr>
            <a:r>
              <a:rPr sz="2100" dirty="0">
                <a:latin typeface="Calibri"/>
                <a:cs typeface="Calibri"/>
              </a:rPr>
              <a:t>When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hypothesis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specifies an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exact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value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parameter,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simple </a:t>
            </a:r>
            <a:r>
              <a:rPr sz="2100" dirty="0">
                <a:latin typeface="Calibri"/>
                <a:cs typeface="Calibri"/>
              </a:rPr>
              <a:t>hypothesis.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eg.,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motorcycle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company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claiming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certain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model </a:t>
            </a:r>
            <a:r>
              <a:rPr sz="2100" dirty="0">
                <a:latin typeface="Calibri"/>
                <a:cs typeface="Calibri"/>
              </a:rPr>
              <a:t>gives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average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mileage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100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km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per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litre,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this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case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simple hypothesis.</a:t>
            </a:r>
            <a:endParaRPr sz="2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Arial"/>
              <a:buChar char="•"/>
            </a:pPr>
            <a:endParaRPr sz="2100" dirty="0">
              <a:latin typeface="Calibri"/>
              <a:cs typeface="Calibri"/>
            </a:endParaRPr>
          </a:p>
          <a:p>
            <a:pPr marL="373380" marR="34290" indent="-361315">
              <a:lnSpc>
                <a:spcPct val="117600"/>
              </a:lnSpc>
              <a:buFont typeface="Arial"/>
              <a:buChar char="•"/>
              <a:tabLst>
                <a:tab pos="373380" algn="l"/>
              </a:tabLst>
            </a:pPr>
            <a:r>
              <a:rPr sz="2100" dirty="0">
                <a:latin typeface="Calibri"/>
                <a:cs typeface="Calibri"/>
              </a:rPr>
              <a:t>If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hypothesis</a:t>
            </a:r>
            <a:r>
              <a:rPr sz="2100" spc="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specifies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range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values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then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called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composite </a:t>
            </a:r>
            <a:r>
              <a:rPr sz="2050" dirty="0">
                <a:latin typeface="Calibri"/>
                <a:cs typeface="Calibri"/>
              </a:rPr>
              <a:t>hypothesis.</a:t>
            </a:r>
            <a:r>
              <a:rPr sz="2050" spc="1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For</a:t>
            </a:r>
            <a:r>
              <a:rPr sz="2050" spc="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eg.,</a:t>
            </a:r>
            <a:r>
              <a:rPr sz="2050" spc="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Average</a:t>
            </a:r>
            <a:r>
              <a:rPr sz="2050" spc="8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age</a:t>
            </a:r>
            <a:r>
              <a:rPr sz="2050" spc="8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of</a:t>
            </a:r>
            <a:r>
              <a:rPr sz="2050" spc="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students</a:t>
            </a:r>
            <a:r>
              <a:rPr sz="2050" spc="1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in</a:t>
            </a:r>
            <a:r>
              <a:rPr sz="2050" spc="10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class</a:t>
            </a:r>
            <a:r>
              <a:rPr sz="2050" spc="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is</a:t>
            </a:r>
            <a:r>
              <a:rPr sz="2050" spc="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greater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than</a:t>
            </a:r>
            <a:r>
              <a:rPr sz="2050" spc="16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20. </a:t>
            </a:r>
            <a:r>
              <a:rPr sz="2050" dirty="0">
                <a:latin typeface="Calibri"/>
                <a:cs typeface="Calibri"/>
              </a:rPr>
              <a:t>This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statement</a:t>
            </a:r>
            <a:r>
              <a:rPr sz="2050" spc="9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is</a:t>
            </a:r>
            <a:r>
              <a:rPr sz="2050" spc="8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composite</a:t>
            </a:r>
            <a:r>
              <a:rPr sz="2050" spc="12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hypothesis.</a:t>
            </a:r>
            <a:endParaRPr sz="20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Null</a:t>
            </a:r>
            <a:r>
              <a:rPr spc="-75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Hypothesis</a:t>
            </a:r>
            <a:r>
              <a:rPr spc="-40" dirty="0">
                <a:solidFill>
                  <a:srgbClr val="528BD4"/>
                </a:solidFill>
              </a:rPr>
              <a:t> </a:t>
            </a:r>
            <a:r>
              <a:rPr spc="-20" dirty="0">
                <a:solidFill>
                  <a:srgbClr val="528BD4"/>
                </a:solidFill>
              </a:rPr>
              <a:t>(H</a:t>
            </a:r>
            <a:r>
              <a:rPr sz="3150" spc="-30" baseline="-19841" dirty="0">
                <a:solidFill>
                  <a:srgbClr val="528BD4"/>
                </a:solidFill>
              </a:rPr>
              <a:t>0</a:t>
            </a:r>
            <a:r>
              <a:rPr sz="3200" spc="-20" dirty="0">
                <a:solidFill>
                  <a:srgbClr val="528BD4"/>
                </a:solidFill>
              </a:rPr>
              <a:t>)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966" y="904986"/>
            <a:ext cx="8304530" cy="2551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2430" marR="280035" indent="-380365">
              <a:lnSpc>
                <a:spcPct val="115100"/>
              </a:lnSpc>
              <a:spcBef>
                <a:spcPts val="95"/>
              </a:spcBef>
              <a:buFont typeface="Arial"/>
              <a:buChar char="•"/>
              <a:tabLst>
                <a:tab pos="39243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hypothesis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hypothesis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 </a:t>
            </a:r>
            <a:r>
              <a:rPr sz="2400" dirty="0">
                <a:latin typeface="Calibri"/>
                <a:cs typeface="Calibri"/>
              </a:rPr>
              <a:t>rejection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under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assumption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true.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91795" indent="-379095">
              <a:lnSpc>
                <a:spcPct val="100000"/>
              </a:lnSpc>
              <a:buFont typeface="Arial"/>
              <a:buChar char="•"/>
              <a:tabLst>
                <a:tab pos="391795" algn="l"/>
              </a:tabLst>
            </a:pP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default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assumption.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91795" indent="-379095">
              <a:lnSpc>
                <a:spcPct val="100000"/>
              </a:lnSpc>
              <a:buFont typeface="Arial"/>
              <a:buChar char="•"/>
              <a:tabLst>
                <a:tab pos="39179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similar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innocent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guilty.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Alternate</a:t>
            </a:r>
            <a:r>
              <a:rPr spc="-120" dirty="0">
                <a:solidFill>
                  <a:srgbClr val="528BD4"/>
                </a:solidFill>
              </a:rPr>
              <a:t> </a:t>
            </a:r>
            <a:r>
              <a:rPr dirty="0">
                <a:solidFill>
                  <a:srgbClr val="528BD4"/>
                </a:solidFill>
              </a:rPr>
              <a:t>Hypothesis</a:t>
            </a:r>
            <a:r>
              <a:rPr spc="-40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(H</a:t>
            </a:r>
            <a:r>
              <a:rPr sz="3150" spc="-15" baseline="-19841" dirty="0">
                <a:solidFill>
                  <a:srgbClr val="528BD4"/>
                </a:solidFill>
              </a:rPr>
              <a:t>A</a:t>
            </a:r>
            <a:r>
              <a:rPr sz="3200" spc="-10" dirty="0">
                <a:solidFill>
                  <a:srgbClr val="528BD4"/>
                </a:solidFill>
              </a:rPr>
              <a:t>)/(H1)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958" y="833889"/>
            <a:ext cx="8101330" cy="339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5080" indent="-443865">
              <a:lnSpc>
                <a:spcPct val="115100"/>
              </a:lnSpc>
              <a:spcBef>
                <a:spcPts val="100"/>
              </a:spcBef>
              <a:buSzPct val="139583"/>
              <a:buFont typeface="Arial"/>
              <a:buChar char="•"/>
              <a:tabLst>
                <a:tab pos="455930" algn="l"/>
              </a:tabLst>
            </a:pP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opposite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hypothesis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both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alternate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hypotheses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together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population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parameter.</a:t>
            </a:r>
            <a:endParaRPr sz="2400">
              <a:latin typeface="Calibri"/>
              <a:cs typeface="Calibri"/>
            </a:endParaRPr>
          </a:p>
          <a:p>
            <a:pPr marL="455930" marR="201295" indent="-443865">
              <a:lnSpc>
                <a:spcPct val="115100"/>
              </a:lnSpc>
              <a:buSzPct val="139583"/>
              <a:buFont typeface="Arial"/>
              <a:buChar char="•"/>
              <a:tabLst>
                <a:tab pos="45593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hypothesis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researchers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prove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evidence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sample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455930" marR="32384" indent="-443865">
              <a:lnSpc>
                <a:spcPct val="115100"/>
              </a:lnSpc>
              <a:buSzPct val="139583"/>
              <a:buFont typeface="Arial"/>
              <a:buChar char="•"/>
              <a:tabLst>
                <a:tab pos="45593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hypothesis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involves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gathering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evidence </a:t>
            </a:r>
            <a:r>
              <a:rPr sz="2400" dirty="0">
                <a:latin typeface="Calibri"/>
                <a:cs typeface="Calibri"/>
              </a:rPr>
              <a:t>against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hypothesis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alternative hypothesis.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Hypothesis</a:t>
            </a:r>
            <a:r>
              <a:rPr spc="-60" dirty="0"/>
              <a:t> </a:t>
            </a:r>
            <a:r>
              <a:rPr dirty="0"/>
              <a:t>Testing</a:t>
            </a:r>
            <a:r>
              <a:rPr spc="-1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Case</a:t>
            </a:r>
            <a:r>
              <a:rPr spc="-70" dirty="0"/>
              <a:t> </a:t>
            </a:r>
            <a:r>
              <a:rPr spc="-10" dirty="0"/>
              <a:t>Discussion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3968" y="986993"/>
            <a:ext cx="7721600" cy="29279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2430">
              <a:lnSpc>
                <a:spcPct val="100000"/>
              </a:lnSpc>
              <a:spcBef>
                <a:spcPts val="114"/>
              </a:spcBef>
            </a:pPr>
            <a:r>
              <a:rPr sz="2000" b="1" dirty="0">
                <a:latin typeface="Calibri"/>
                <a:cs typeface="Calibri"/>
              </a:rPr>
              <a:t>Consider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court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law:</a:t>
            </a:r>
            <a:endParaRPr sz="2000">
              <a:latin typeface="Calibri"/>
              <a:cs typeface="Calibri"/>
            </a:endParaRPr>
          </a:p>
          <a:p>
            <a:pPr marL="392430" marR="769620">
              <a:lnSpc>
                <a:spcPts val="2380"/>
              </a:lnSpc>
              <a:spcBef>
                <a:spcPts val="115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hypothesis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always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begins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assumption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defendant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innocent.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000">
              <a:latin typeface="Calibri"/>
              <a:cs typeface="Calibri"/>
            </a:endParaRPr>
          </a:p>
          <a:p>
            <a:pPr marL="392430" marR="944880" indent="-380365">
              <a:lnSpc>
                <a:spcPts val="2380"/>
              </a:lnSpc>
              <a:buSzPct val="120000"/>
              <a:buFont typeface="Arial"/>
              <a:buChar char="•"/>
              <a:tabLst>
                <a:tab pos="39243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require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reject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null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hypothesis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(convict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defendant).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Font typeface="Arial"/>
              <a:buChar char="•"/>
            </a:pPr>
            <a:endParaRPr sz="2000">
              <a:latin typeface="Calibri"/>
              <a:cs typeface="Calibri"/>
            </a:endParaRPr>
          </a:p>
          <a:p>
            <a:pPr marL="392430" marR="5080" indent="-380365">
              <a:lnSpc>
                <a:spcPct val="100600"/>
              </a:lnSpc>
              <a:buSzPct val="120000"/>
              <a:buFont typeface="Arial"/>
              <a:buChar char="•"/>
              <a:tabLst>
                <a:tab pos="392430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reject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null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hypothesis,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2 </a:t>
            </a:r>
            <a:r>
              <a:rPr sz="2000" dirty="0">
                <a:latin typeface="Calibri"/>
                <a:cs typeface="Calibri"/>
              </a:rPr>
              <a:t>errors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could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potentially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occur: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F81BC"/>
                </a:solidFill>
              </a:rPr>
              <a:t>Type</a:t>
            </a:r>
            <a:r>
              <a:rPr spc="-1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I</a:t>
            </a:r>
            <a:r>
              <a:rPr spc="-45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and</a:t>
            </a:r>
            <a:r>
              <a:rPr spc="-3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Type</a:t>
            </a:r>
            <a:r>
              <a:rPr spc="-10" dirty="0">
                <a:solidFill>
                  <a:srgbClr val="4F81BC"/>
                </a:solidFill>
              </a:rPr>
              <a:t> </a:t>
            </a:r>
            <a:r>
              <a:rPr dirty="0">
                <a:solidFill>
                  <a:srgbClr val="4F81BC"/>
                </a:solidFill>
              </a:rPr>
              <a:t>II</a:t>
            </a:r>
            <a:r>
              <a:rPr spc="-20" dirty="0">
                <a:solidFill>
                  <a:srgbClr val="4F81BC"/>
                </a:solidFill>
              </a:rPr>
              <a:t> </a:t>
            </a:r>
            <a:r>
              <a:rPr spc="-10" dirty="0">
                <a:solidFill>
                  <a:srgbClr val="4F81BC"/>
                </a:solidFill>
              </a:rPr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211" y="887425"/>
            <a:ext cx="235077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Calibri"/>
                <a:cs typeface="Calibri"/>
              </a:rPr>
              <a:t>H0: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innocent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8223" y="887425"/>
            <a:ext cx="275399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Calibri"/>
                <a:cs typeface="Calibri"/>
              </a:rPr>
              <a:t>H1: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Person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innocent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383" y="1531619"/>
            <a:ext cx="7251192" cy="306781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p</a:t>
            </a:r>
            <a:r>
              <a:rPr spc="-10" dirty="0"/>
              <a:t> </a:t>
            </a:r>
            <a:r>
              <a:rPr spc="-40" dirty="0"/>
              <a:t>–</a:t>
            </a:r>
            <a:r>
              <a:rPr spc="-10" dirty="0"/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287" y="886460"/>
            <a:ext cx="4203700" cy="3370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9431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passing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1%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5%.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also </a:t>
            </a:r>
            <a:r>
              <a:rPr sz="1800" dirty="0">
                <a:latin typeface="Calibri"/>
                <a:cs typeface="Calibri"/>
              </a:rPr>
              <a:t>know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 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score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this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score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p-</a:t>
            </a:r>
            <a:r>
              <a:rPr sz="1800" spc="-10" dirty="0">
                <a:latin typeface="Calibri"/>
                <a:cs typeface="Calibri"/>
              </a:rPr>
              <a:t> value.</a:t>
            </a:r>
            <a:endParaRPr sz="18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Technically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p-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(probability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value)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smallest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level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significance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which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null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hypothesis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rejected.</a:t>
            </a:r>
            <a:endParaRPr sz="1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8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p-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greater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alpha,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do</a:t>
            </a:r>
            <a:endParaRPr sz="18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Calibri"/>
                <a:cs typeface="Calibri"/>
              </a:rPr>
              <a:t>not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reject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null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hypothesis.</a:t>
            </a:r>
            <a:endParaRPr sz="1800" dirty="0">
              <a:latin typeface="Calibri"/>
              <a:cs typeface="Calibri"/>
            </a:endParaRPr>
          </a:p>
          <a:p>
            <a:pPr marL="355600" marR="29209" indent="-343535">
              <a:lnSpc>
                <a:spcPct val="115100"/>
              </a:lnSpc>
              <a:spcBef>
                <a:spcPts val="101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p-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smaller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alpha,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reject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null</a:t>
            </a:r>
            <a:r>
              <a:rPr sz="1800" spc="-10" dirty="0">
                <a:latin typeface="Calibri"/>
                <a:cs typeface="Calibri"/>
              </a:rPr>
              <a:t> hypothesis.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 descr="https://upload.wikimedia.org/wikipedia/commons/thumb/3/3a/P-value_in_statistical_significance_testing.svg/800px-P-value_in_statistical_significance_testing.svg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408938"/>
            <a:ext cx="4645152" cy="28392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2876" y="745236"/>
            <a:ext cx="4270248" cy="391820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Critical</a:t>
            </a:r>
            <a:r>
              <a:rPr spc="-85" dirty="0"/>
              <a:t> </a:t>
            </a:r>
            <a:r>
              <a:rPr spc="-10" dirty="0"/>
              <a:t>Region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294" y="1136171"/>
            <a:ext cx="4230370" cy="27800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15875" indent="-343535">
              <a:lnSpc>
                <a:spcPct val="115100"/>
              </a:lnSpc>
              <a:spcBef>
                <a:spcPts val="110"/>
              </a:spcBef>
              <a:buSzPct val="120000"/>
              <a:buFont typeface="Arial"/>
              <a:buChar char="•"/>
              <a:tabLst>
                <a:tab pos="35560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critical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region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region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sample </a:t>
            </a:r>
            <a:r>
              <a:rPr sz="1500" dirty="0">
                <a:latin typeface="Calibri"/>
                <a:cs typeface="Calibri"/>
              </a:rPr>
              <a:t>space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calculated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value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we </a:t>
            </a:r>
            <a:r>
              <a:rPr sz="1500" dirty="0">
                <a:latin typeface="Calibri"/>
                <a:cs typeface="Calibri"/>
              </a:rPr>
              <a:t>reject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null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hypothesis.</a:t>
            </a:r>
            <a:endParaRPr sz="1500">
              <a:latin typeface="Calibri"/>
              <a:cs typeface="Calibri"/>
            </a:endParaRPr>
          </a:p>
          <a:p>
            <a:pPr marL="355600" marR="5080" indent="-325120">
              <a:lnSpc>
                <a:spcPct val="115100"/>
              </a:lnSpc>
              <a:spcBef>
                <a:spcPts val="1025"/>
              </a:spcBef>
              <a:buFont typeface="Arial"/>
              <a:buChar char="•"/>
              <a:tabLst>
                <a:tab pos="35560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critical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region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tail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two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tails</a:t>
            </a:r>
            <a:r>
              <a:rPr sz="1500" spc="-25" dirty="0">
                <a:latin typeface="Calibri"/>
                <a:cs typeface="Calibri"/>
              </a:rPr>
              <a:t> on </a:t>
            </a:r>
            <a:r>
              <a:rPr sz="1500" dirty="0">
                <a:latin typeface="Calibri"/>
                <a:cs typeface="Calibri"/>
              </a:rPr>
              <a:t>the probability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distribution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curve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according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dirty="0">
                <a:latin typeface="Calibri"/>
                <a:cs typeface="Calibri"/>
              </a:rPr>
              <a:t>alternative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hypothesis.</a:t>
            </a:r>
            <a:endParaRPr sz="1500">
              <a:latin typeface="Calibri"/>
              <a:cs typeface="Calibri"/>
            </a:endParaRPr>
          </a:p>
          <a:p>
            <a:pPr marL="355600" indent="-325120">
              <a:lnSpc>
                <a:spcPct val="100000"/>
              </a:lnSpc>
              <a:spcBef>
                <a:spcPts val="1265"/>
              </a:spcBef>
              <a:buFont typeface="Arial"/>
              <a:buChar char="•"/>
              <a:tabLst>
                <a:tab pos="35560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value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 critical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region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denoted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α.</a:t>
            </a:r>
            <a:endParaRPr sz="1500">
              <a:latin typeface="Calibri"/>
              <a:cs typeface="Calibri"/>
            </a:endParaRPr>
          </a:p>
          <a:p>
            <a:pPr marL="355600" marR="393065" indent="-325120">
              <a:lnSpc>
                <a:spcPct val="116199"/>
              </a:lnSpc>
              <a:spcBef>
                <a:spcPts val="969"/>
              </a:spcBef>
              <a:buFont typeface="Arial"/>
              <a:buChar char="•"/>
              <a:tabLst>
                <a:tab pos="355600" algn="l"/>
              </a:tabLst>
            </a:pPr>
            <a:r>
              <a:rPr sz="1500" dirty="0">
                <a:latin typeface="Calibri"/>
                <a:cs typeface="Calibri"/>
              </a:rPr>
              <a:t>It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known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level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significance.</a:t>
            </a:r>
            <a:r>
              <a:rPr sz="1500" spc="-11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i.e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what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is </a:t>
            </a:r>
            <a:r>
              <a:rPr sz="1500" dirty="0">
                <a:latin typeface="Calibri"/>
                <a:cs typeface="Calibri"/>
              </a:rPr>
              <a:t>passing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criteria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0" dirty="0">
                <a:latin typeface="Calibri"/>
                <a:cs typeface="Calibri"/>
              </a:rPr>
              <a:t> test.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Cases</a:t>
            </a:r>
            <a:r>
              <a:rPr spc="-5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Critical</a:t>
            </a:r>
            <a:r>
              <a:rPr spc="-40" dirty="0"/>
              <a:t> </a:t>
            </a:r>
            <a:r>
              <a:rPr spc="-10" dirty="0"/>
              <a:t>Region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9298" y="879017"/>
            <a:ext cx="4471670" cy="21170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20040" marR="16510" indent="-307975" algn="just">
              <a:lnSpc>
                <a:spcPct val="114799"/>
              </a:lnSpc>
              <a:spcBef>
                <a:spcPts val="85"/>
              </a:spcBef>
              <a:buFont typeface="Arial"/>
              <a:buChar char="•"/>
              <a:tabLst>
                <a:tab pos="323850" algn="l"/>
              </a:tabLst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alternate</a:t>
            </a:r>
            <a:r>
              <a:rPr sz="1500" spc="-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hypothesis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gives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alternate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both 	</a:t>
            </a:r>
            <a:r>
              <a:rPr sz="1500" dirty="0">
                <a:latin typeface="Calibri"/>
                <a:cs typeface="Calibri"/>
              </a:rPr>
              <a:t>directions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(less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greater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than)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 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value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of 	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parameter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specified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null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hypothesis,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called 	Two-</a:t>
            </a:r>
            <a:r>
              <a:rPr sz="1500" dirty="0">
                <a:latin typeface="Calibri"/>
                <a:cs typeface="Calibri"/>
              </a:rPr>
              <a:t>tailed</a:t>
            </a:r>
            <a:r>
              <a:rPr sz="1500" spc="-10" dirty="0">
                <a:latin typeface="Calibri"/>
                <a:cs typeface="Calibri"/>
              </a:rPr>
              <a:t> test.</a:t>
            </a:r>
            <a:endParaRPr sz="1500">
              <a:latin typeface="Calibri"/>
              <a:cs typeface="Calibri"/>
            </a:endParaRPr>
          </a:p>
          <a:p>
            <a:pPr marL="438150">
              <a:lnSpc>
                <a:spcPct val="100000"/>
              </a:lnSpc>
              <a:spcBef>
                <a:spcPts val="1300"/>
              </a:spcBef>
            </a:pPr>
            <a:r>
              <a:rPr sz="1500" dirty="0">
                <a:latin typeface="Calibri"/>
                <a:cs typeface="Calibri"/>
              </a:rPr>
              <a:t>E.g.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H0: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mean=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100</a:t>
            </a:r>
            <a:r>
              <a:rPr sz="1500" spc="3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—</a:t>
            </a:r>
            <a:r>
              <a:rPr sz="1500" dirty="0">
                <a:latin typeface="Calibri"/>
                <a:cs typeface="Calibri"/>
              </a:rPr>
              <a:t>-&gt;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H1: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mean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equal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100</a:t>
            </a:r>
            <a:endParaRPr sz="1500">
              <a:latin typeface="Calibri"/>
              <a:cs typeface="Calibri"/>
            </a:endParaRPr>
          </a:p>
          <a:p>
            <a:pPr marL="438150">
              <a:lnSpc>
                <a:spcPct val="100000"/>
              </a:lnSpc>
              <a:spcBef>
                <a:spcPts val="1265"/>
              </a:spcBef>
            </a:pPr>
            <a:r>
              <a:rPr sz="1500" dirty="0">
                <a:latin typeface="Calibri"/>
                <a:cs typeface="Calibri"/>
              </a:rPr>
              <a:t>Here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according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H1,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mean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greater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or</a:t>
            </a:r>
            <a:endParaRPr sz="1500">
              <a:latin typeface="Calibri"/>
              <a:cs typeface="Calibri"/>
            </a:endParaRPr>
          </a:p>
          <a:p>
            <a:pPr marL="438150">
              <a:lnSpc>
                <a:spcPct val="100000"/>
              </a:lnSpc>
              <a:spcBef>
                <a:spcPts val="250"/>
              </a:spcBef>
            </a:pPr>
            <a:r>
              <a:rPr sz="1500" dirty="0">
                <a:latin typeface="Calibri"/>
                <a:cs typeface="Calibri"/>
              </a:rPr>
              <a:t>less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than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100.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298" y="3103102"/>
            <a:ext cx="4615815" cy="14674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23850" marR="5080" indent="-311785">
              <a:lnSpc>
                <a:spcPct val="114799"/>
              </a:lnSpc>
              <a:spcBef>
                <a:spcPts val="85"/>
              </a:spcBef>
              <a:buFont typeface="Arial"/>
              <a:buChar char="•"/>
              <a:tabLst>
                <a:tab pos="323850" algn="l"/>
              </a:tabLst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alternate</a:t>
            </a:r>
            <a:r>
              <a:rPr sz="1500" spc="-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hypothesis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gives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alternate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only </a:t>
            </a:r>
            <a:r>
              <a:rPr sz="1500" dirty="0">
                <a:latin typeface="Calibri"/>
                <a:cs typeface="Calibri"/>
              </a:rPr>
              <a:t>one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direction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(either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less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 greater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than)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dirty="0">
                <a:latin typeface="Calibri"/>
                <a:cs typeface="Calibri"/>
              </a:rPr>
              <a:t>value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parameter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specified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null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hypothesis,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is </a:t>
            </a:r>
            <a:r>
              <a:rPr sz="1500" dirty="0">
                <a:latin typeface="Calibri"/>
                <a:cs typeface="Calibri"/>
              </a:rPr>
              <a:t>called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One-tailed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test.</a:t>
            </a:r>
            <a:endParaRPr sz="1500">
              <a:latin typeface="Calibri"/>
              <a:cs typeface="Calibri"/>
            </a:endParaRPr>
          </a:p>
          <a:p>
            <a:pPr marL="438150">
              <a:lnSpc>
                <a:spcPct val="100000"/>
              </a:lnSpc>
              <a:spcBef>
                <a:spcPts val="1295"/>
              </a:spcBef>
              <a:tabLst>
                <a:tab pos="2619375" algn="l"/>
              </a:tabLst>
            </a:pPr>
            <a:r>
              <a:rPr sz="1500" dirty="0">
                <a:latin typeface="Calibri"/>
                <a:cs typeface="Calibri"/>
              </a:rPr>
              <a:t>E.g.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H0: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mean&gt;=100</a:t>
            </a:r>
            <a:r>
              <a:rPr sz="1500" spc="150" dirty="0">
                <a:latin typeface="Calibri"/>
                <a:cs typeface="Calibri"/>
              </a:rPr>
              <a:t>  </a:t>
            </a:r>
            <a:r>
              <a:rPr sz="1500" spc="-10" dirty="0">
                <a:latin typeface="Calibri"/>
                <a:cs typeface="Calibri"/>
              </a:rPr>
              <a:t>—</a:t>
            </a:r>
            <a:r>
              <a:rPr sz="1500" dirty="0">
                <a:latin typeface="Calibri"/>
                <a:cs typeface="Calibri"/>
              </a:rPr>
              <a:t>-</a:t>
            </a:r>
            <a:r>
              <a:rPr sz="1500" spc="-50" dirty="0">
                <a:latin typeface="Calibri"/>
                <a:cs typeface="Calibri"/>
              </a:rPr>
              <a:t>&gt;</a:t>
            </a:r>
            <a:r>
              <a:rPr sz="1500" dirty="0">
                <a:latin typeface="Calibri"/>
                <a:cs typeface="Calibri"/>
              </a:rPr>
              <a:t>	H1:</a:t>
            </a:r>
            <a:r>
              <a:rPr sz="1500" spc="3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mean&lt;</a:t>
            </a:r>
            <a:r>
              <a:rPr sz="1500" spc="-8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100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6067" y="914400"/>
            <a:ext cx="3877055" cy="24414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96966" y="3585794"/>
            <a:ext cx="298704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dirty="0">
                <a:latin typeface="Calibri"/>
                <a:cs typeface="Calibri"/>
              </a:rPr>
              <a:t>Three</a:t>
            </a:r>
            <a:r>
              <a:rPr sz="1550" b="1" spc="6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cases</a:t>
            </a:r>
            <a:r>
              <a:rPr sz="1550" b="1" spc="13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of</a:t>
            </a:r>
            <a:r>
              <a:rPr sz="1550" b="1" spc="7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Critical</a:t>
            </a:r>
            <a:r>
              <a:rPr sz="1550" b="1" spc="13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Region</a:t>
            </a:r>
            <a:r>
              <a:rPr sz="1550" b="1" spc="85" dirty="0">
                <a:latin typeface="Calibri"/>
                <a:cs typeface="Calibri"/>
              </a:rPr>
              <a:t> </a:t>
            </a:r>
            <a:r>
              <a:rPr sz="1550" b="1" spc="-10" dirty="0">
                <a:latin typeface="Calibri"/>
                <a:cs typeface="Calibri"/>
              </a:rPr>
              <a:t>arise.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98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Process</a:t>
            </a:r>
            <a:r>
              <a:rPr sz="2800" spc="-35" dirty="0"/>
              <a:t> </a:t>
            </a:r>
            <a:r>
              <a:rPr sz="2800" dirty="0"/>
              <a:t>of</a:t>
            </a:r>
            <a:r>
              <a:rPr sz="2800" spc="-45" dirty="0"/>
              <a:t> </a:t>
            </a:r>
            <a:r>
              <a:rPr sz="2800" dirty="0"/>
              <a:t>Hypothesis</a:t>
            </a:r>
            <a:r>
              <a:rPr sz="2800" spc="-70" dirty="0"/>
              <a:t> </a:t>
            </a:r>
            <a:r>
              <a:rPr sz="2800" spc="-10" dirty="0"/>
              <a:t>Testing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80212" y="796493"/>
            <a:ext cx="3464560" cy="38036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87350" marR="192405" indent="-375285">
              <a:lnSpc>
                <a:spcPts val="2270"/>
              </a:lnSpc>
              <a:spcBef>
                <a:spcPts val="375"/>
              </a:spcBef>
              <a:buSzPct val="107142"/>
              <a:buAutoNum type="arabicPeriod"/>
              <a:tabLst>
                <a:tab pos="387350" algn="l"/>
              </a:tabLst>
            </a:pPr>
            <a:r>
              <a:rPr sz="2100" dirty="0">
                <a:latin typeface="Calibri"/>
                <a:cs typeface="Calibri"/>
              </a:rPr>
              <a:t>Set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up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Null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hypothesis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dirty="0">
                <a:latin typeface="Calibri"/>
                <a:cs typeface="Calibri"/>
              </a:rPr>
              <a:t>Alternate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hypothesis.</a:t>
            </a:r>
            <a:endParaRPr sz="2100">
              <a:latin typeface="Calibri"/>
              <a:cs typeface="Calibri"/>
            </a:endParaRPr>
          </a:p>
          <a:p>
            <a:pPr marL="387350" indent="-374650">
              <a:lnSpc>
                <a:spcPts val="2155"/>
              </a:lnSpc>
              <a:buSzPct val="107142"/>
              <a:buAutoNum type="arabicPeriod"/>
              <a:tabLst>
                <a:tab pos="387350" algn="l"/>
              </a:tabLst>
            </a:pPr>
            <a:r>
              <a:rPr sz="2100" dirty="0">
                <a:latin typeface="Calibri"/>
                <a:cs typeface="Calibri"/>
              </a:rPr>
              <a:t>Decide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level</a:t>
            </a:r>
            <a:r>
              <a:rPr sz="2100" spc="-25" dirty="0">
                <a:latin typeface="Calibri"/>
                <a:cs typeface="Calibri"/>
              </a:rPr>
              <a:t> of</a:t>
            </a:r>
            <a:endParaRPr sz="2100">
              <a:latin typeface="Calibri"/>
              <a:cs typeface="Calibri"/>
            </a:endParaRPr>
          </a:p>
          <a:p>
            <a:pPr marL="387350">
              <a:lnSpc>
                <a:spcPts val="2150"/>
              </a:lnSpc>
            </a:pPr>
            <a:r>
              <a:rPr sz="2050" dirty="0">
                <a:latin typeface="Calibri"/>
                <a:cs typeface="Calibri"/>
              </a:rPr>
              <a:t>significance</a:t>
            </a:r>
            <a:r>
              <a:rPr sz="2050" spc="1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(1%</a:t>
            </a:r>
            <a:r>
              <a:rPr sz="2050" spc="7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or</a:t>
            </a:r>
            <a:r>
              <a:rPr sz="2050" spc="9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5%).</a:t>
            </a:r>
            <a:endParaRPr sz="2050">
              <a:latin typeface="Calibri"/>
              <a:cs typeface="Calibri"/>
            </a:endParaRPr>
          </a:p>
          <a:p>
            <a:pPr marL="387350" indent="-374650">
              <a:lnSpc>
                <a:spcPts val="2365"/>
              </a:lnSpc>
              <a:buSzPct val="109756"/>
              <a:buAutoNum type="arabicPeriod" startAt="3"/>
              <a:tabLst>
                <a:tab pos="387350" algn="l"/>
              </a:tabLst>
            </a:pPr>
            <a:r>
              <a:rPr sz="2050" dirty="0">
                <a:latin typeface="Calibri"/>
                <a:cs typeface="Calibri"/>
              </a:rPr>
              <a:t>Select</a:t>
            </a:r>
            <a:r>
              <a:rPr sz="2050" spc="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test</a:t>
            </a:r>
            <a:r>
              <a:rPr sz="2050" spc="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as</a:t>
            </a:r>
            <a:r>
              <a:rPr sz="2050" spc="4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per</a:t>
            </a:r>
            <a:endParaRPr sz="2050">
              <a:latin typeface="Calibri"/>
              <a:cs typeface="Calibri"/>
            </a:endParaRPr>
          </a:p>
          <a:p>
            <a:pPr marL="387350">
              <a:lnSpc>
                <a:spcPts val="2180"/>
              </a:lnSpc>
            </a:pPr>
            <a:r>
              <a:rPr sz="2100" spc="-10" dirty="0">
                <a:latin typeface="Calibri"/>
                <a:cs typeface="Calibri"/>
              </a:rPr>
              <a:t>requirement.</a:t>
            </a:r>
            <a:endParaRPr sz="2100">
              <a:latin typeface="Calibri"/>
              <a:cs typeface="Calibri"/>
            </a:endParaRPr>
          </a:p>
          <a:p>
            <a:pPr marL="387350" indent="-374650" algn="just">
              <a:lnSpc>
                <a:spcPts val="2285"/>
              </a:lnSpc>
              <a:buSzPct val="107142"/>
              <a:buAutoNum type="arabicPeriod" startAt="4"/>
              <a:tabLst>
                <a:tab pos="387350" algn="l"/>
              </a:tabLst>
            </a:pPr>
            <a:r>
              <a:rPr sz="2100" dirty="0">
                <a:latin typeface="Calibri"/>
                <a:cs typeface="Calibri"/>
              </a:rPr>
              <a:t>Calculate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p-value.</a:t>
            </a:r>
            <a:endParaRPr sz="2100">
              <a:latin typeface="Calibri"/>
              <a:cs typeface="Calibri"/>
            </a:endParaRPr>
          </a:p>
          <a:p>
            <a:pPr marL="387350" marR="179070" indent="-375285" algn="just">
              <a:lnSpc>
                <a:spcPts val="2270"/>
              </a:lnSpc>
              <a:spcBef>
                <a:spcPts val="215"/>
              </a:spcBef>
              <a:buSzPct val="107142"/>
              <a:buAutoNum type="arabicPeriod" startAt="4"/>
              <a:tabLst>
                <a:tab pos="387350" algn="l"/>
              </a:tabLst>
            </a:pPr>
            <a:r>
              <a:rPr sz="2100" dirty="0">
                <a:latin typeface="Calibri"/>
                <a:cs typeface="Calibri"/>
              </a:rPr>
              <a:t>If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p-</a:t>
            </a:r>
            <a:r>
              <a:rPr sz="2100" dirty="0">
                <a:latin typeface="Calibri"/>
                <a:cs typeface="Calibri"/>
              </a:rPr>
              <a:t>value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less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than level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of </a:t>
            </a:r>
            <a:r>
              <a:rPr sz="2100" dirty="0">
                <a:latin typeface="Calibri"/>
                <a:cs typeface="Calibri"/>
              </a:rPr>
              <a:t>significance,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reject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null </a:t>
            </a:r>
            <a:r>
              <a:rPr sz="2100" spc="-10" dirty="0">
                <a:latin typeface="Calibri"/>
                <a:cs typeface="Calibri"/>
              </a:rPr>
              <a:t>hypothesis.</a:t>
            </a:r>
            <a:endParaRPr sz="2100">
              <a:latin typeface="Calibri"/>
              <a:cs typeface="Calibri"/>
            </a:endParaRPr>
          </a:p>
          <a:p>
            <a:pPr marL="387350" indent="-374650" algn="just">
              <a:lnSpc>
                <a:spcPts val="2150"/>
              </a:lnSpc>
              <a:buSzPct val="107142"/>
              <a:buAutoNum type="arabicPeriod" startAt="4"/>
              <a:tabLst>
                <a:tab pos="387350" algn="l"/>
              </a:tabLst>
            </a:pPr>
            <a:r>
              <a:rPr sz="2100" dirty="0">
                <a:latin typeface="Calibri"/>
                <a:cs typeface="Calibri"/>
              </a:rPr>
              <a:t>If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p-</a:t>
            </a:r>
            <a:r>
              <a:rPr sz="2100" dirty="0">
                <a:latin typeface="Calibri"/>
                <a:cs typeface="Calibri"/>
              </a:rPr>
              <a:t>value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more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level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of</a:t>
            </a:r>
            <a:endParaRPr sz="2100">
              <a:latin typeface="Calibri"/>
              <a:cs typeface="Calibri"/>
            </a:endParaRPr>
          </a:p>
          <a:p>
            <a:pPr marL="387350">
              <a:lnSpc>
                <a:spcPts val="2225"/>
              </a:lnSpc>
            </a:pPr>
            <a:r>
              <a:rPr sz="2050" dirty="0">
                <a:latin typeface="Calibri"/>
                <a:cs typeface="Calibri"/>
              </a:rPr>
              <a:t>significance,</a:t>
            </a:r>
            <a:r>
              <a:rPr sz="2050" spc="1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accept</a:t>
            </a:r>
            <a:r>
              <a:rPr sz="2050" spc="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14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null</a:t>
            </a:r>
            <a:endParaRPr sz="2050">
              <a:latin typeface="Calibri"/>
              <a:cs typeface="Calibri"/>
            </a:endParaRPr>
          </a:p>
          <a:p>
            <a:pPr marL="387350">
              <a:lnSpc>
                <a:spcPts val="2400"/>
              </a:lnSpc>
            </a:pPr>
            <a:r>
              <a:rPr sz="2100" spc="-10" dirty="0">
                <a:latin typeface="Calibri"/>
                <a:cs typeface="Calibri"/>
              </a:rPr>
              <a:t>hypothesis.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 descr="Screen Shot 2014-03-10 at 3.06.05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3088" y="982980"/>
            <a:ext cx="4745736" cy="30678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85097" y="4882159"/>
            <a:ext cx="28257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72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427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3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Hypothesis</a:t>
            </a:r>
            <a:r>
              <a:rPr spc="-50" dirty="0"/>
              <a:t> </a:t>
            </a:r>
            <a:r>
              <a:rPr spc="-10" dirty="0"/>
              <a:t>Tests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9960" y="1211402"/>
            <a:ext cx="7920355" cy="1932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1630" marR="5080" indent="-32956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Arial"/>
              <a:buChar char="•"/>
              <a:tabLst>
                <a:tab pos="341630" algn="l"/>
              </a:tabLst>
            </a:pP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Parametric</a:t>
            </a:r>
            <a:r>
              <a:rPr sz="3000" spc="-55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spc="-30" dirty="0">
                <a:solidFill>
                  <a:srgbClr val="F79546"/>
                </a:solidFill>
                <a:latin typeface="Calibri"/>
                <a:cs typeface="Calibri"/>
              </a:rPr>
              <a:t>Tests:-</a:t>
            </a:r>
            <a:r>
              <a:rPr sz="3000" dirty="0">
                <a:latin typeface="Calibri"/>
                <a:cs typeface="Calibri"/>
              </a:rPr>
              <a:t>Those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test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considers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shape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distribution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sample.</a:t>
            </a:r>
            <a:endParaRPr sz="3000">
              <a:latin typeface="Calibri"/>
              <a:cs typeface="Calibri"/>
            </a:endParaRPr>
          </a:p>
          <a:p>
            <a:pPr marL="341630" marR="46990" indent="-329565">
              <a:lnSpc>
                <a:spcPct val="100000"/>
              </a:lnSpc>
              <a:spcBef>
                <a:spcPts val="620"/>
              </a:spcBef>
              <a:buClr>
                <a:srgbClr val="000000"/>
              </a:buClr>
              <a:buFont typeface="Arial"/>
              <a:buChar char="•"/>
              <a:tabLst>
                <a:tab pos="341630" algn="l"/>
              </a:tabLst>
            </a:pP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Non</a:t>
            </a:r>
            <a:r>
              <a:rPr sz="3000" spc="-75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–</a:t>
            </a:r>
            <a:r>
              <a:rPr sz="3000" spc="-35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Parametric</a:t>
            </a:r>
            <a:r>
              <a:rPr sz="3000" spc="-25" dirty="0">
                <a:solidFill>
                  <a:srgbClr val="F79546"/>
                </a:solidFill>
                <a:latin typeface="Calibri"/>
                <a:cs typeface="Calibri"/>
              </a:rPr>
              <a:t> Tests:-</a:t>
            </a:r>
            <a:r>
              <a:rPr sz="3000" dirty="0">
                <a:latin typeface="Calibri"/>
                <a:cs typeface="Calibri"/>
              </a:rPr>
              <a:t>Those</a:t>
            </a:r>
            <a:r>
              <a:rPr sz="3000" spc="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test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not </a:t>
            </a:r>
            <a:r>
              <a:rPr sz="3000" dirty="0">
                <a:latin typeface="Calibri"/>
                <a:cs typeface="Calibri"/>
              </a:rPr>
              <a:t>considers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shape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distribution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sample.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427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Applications</a:t>
            </a:r>
            <a:r>
              <a:rPr spc="-10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Hypothesis</a:t>
            </a:r>
            <a:r>
              <a:rPr spc="-4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9960" y="1214383"/>
            <a:ext cx="4912995" cy="21577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41630" indent="-328930">
              <a:lnSpc>
                <a:spcPct val="100000"/>
              </a:lnSpc>
              <a:spcBef>
                <a:spcPts val="680"/>
              </a:spcBef>
              <a:buClr>
                <a:srgbClr val="000000"/>
              </a:buClr>
              <a:buFont typeface="Arial"/>
              <a:buChar char="•"/>
              <a:tabLst>
                <a:tab pos="341630" algn="l"/>
              </a:tabLst>
            </a:pP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Feature</a:t>
            </a:r>
            <a:r>
              <a:rPr sz="3000" spc="-100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79546"/>
                </a:solidFill>
                <a:latin typeface="Calibri"/>
                <a:cs typeface="Calibri"/>
              </a:rPr>
              <a:t>Selection</a:t>
            </a:r>
            <a:endParaRPr sz="3000">
              <a:latin typeface="Calibri"/>
              <a:cs typeface="Calibri"/>
            </a:endParaRPr>
          </a:p>
          <a:p>
            <a:pPr marL="341630" indent="-328930">
              <a:lnSpc>
                <a:spcPct val="100000"/>
              </a:lnSpc>
              <a:spcBef>
                <a:spcPts val="580"/>
              </a:spcBef>
              <a:buClr>
                <a:srgbClr val="000000"/>
              </a:buClr>
              <a:buFont typeface="Arial"/>
              <a:buChar char="•"/>
              <a:tabLst>
                <a:tab pos="341630" algn="l"/>
              </a:tabLst>
            </a:pP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Model</a:t>
            </a:r>
            <a:r>
              <a:rPr sz="3000" spc="-65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Evaluation</a:t>
            </a:r>
            <a:r>
              <a:rPr sz="3000" spc="-85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&amp;</a:t>
            </a:r>
            <a:r>
              <a:rPr sz="3000" spc="-50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79546"/>
                </a:solidFill>
                <a:latin typeface="Calibri"/>
                <a:cs typeface="Calibri"/>
              </a:rPr>
              <a:t>Selection</a:t>
            </a:r>
            <a:endParaRPr sz="3000">
              <a:latin typeface="Calibri"/>
              <a:cs typeface="Calibri"/>
            </a:endParaRPr>
          </a:p>
          <a:p>
            <a:pPr marL="341630" indent="-32893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Arial"/>
              <a:buChar char="•"/>
              <a:tabLst>
                <a:tab pos="341630" algn="l"/>
              </a:tabLst>
            </a:pP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Hyper</a:t>
            </a:r>
            <a:r>
              <a:rPr sz="3000" spc="-85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Parameter</a:t>
            </a:r>
            <a:r>
              <a:rPr sz="3000" spc="-50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79546"/>
                </a:solidFill>
                <a:latin typeface="Calibri"/>
                <a:cs typeface="Calibri"/>
              </a:rPr>
              <a:t>Tuning</a:t>
            </a:r>
            <a:endParaRPr sz="3000">
              <a:latin typeface="Calibri"/>
              <a:cs typeface="Calibri"/>
            </a:endParaRPr>
          </a:p>
          <a:p>
            <a:pPr marL="341630" indent="-32893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Arial"/>
              <a:buChar char="•"/>
              <a:tabLst>
                <a:tab pos="341630" algn="l"/>
              </a:tabLst>
            </a:pPr>
            <a:r>
              <a:rPr sz="3000" dirty="0">
                <a:solidFill>
                  <a:srgbClr val="F79546"/>
                </a:solidFill>
                <a:latin typeface="Calibri"/>
                <a:cs typeface="Calibri"/>
              </a:rPr>
              <a:t>Anomaly</a:t>
            </a:r>
            <a:r>
              <a:rPr sz="3000" spc="-95" dirty="0">
                <a:solidFill>
                  <a:srgbClr val="F79546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79546"/>
                </a:solidFill>
                <a:latin typeface="Calibri"/>
                <a:cs typeface="Calibri"/>
              </a:rPr>
              <a:t>Detection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Hypothesis</a:t>
            </a:r>
            <a:r>
              <a:rPr spc="-65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Tests:-Parametric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820" y="1289380"/>
            <a:ext cx="3187065" cy="1854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3070" indent="-42037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433070" algn="l"/>
              </a:tabLst>
            </a:pPr>
            <a:r>
              <a:rPr sz="3000" dirty="0">
                <a:latin typeface="Calibri"/>
                <a:cs typeface="Calibri"/>
              </a:rPr>
              <a:t>Z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433070" indent="-420370">
              <a:lnSpc>
                <a:spcPct val="100000"/>
              </a:lnSpc>
              <a:buAutoNum type="arabicPeriod"/>
              <a:tabLst>
                <a:tab pos="433070" algn="l"/>
              </a:tabLst>
            </a:pPr>
            <a:r>
              <a:rPr sz="3000" dirty="0">
                <a:latin typeface="Calibri"/>
                <a:cs typeface="Calibri"/>
              </a:rPr>
              <a:t>T/Student’s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433070" indent="-4203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33070" algn="l"/>
              </a:tabLst>
            </a:pPr>
            <a:r>
              <a:rPr sz="3000" dirty="0">
                <a:latin typeface="Calibri"/>
                <a:cs typeface="Calibri"/>
              </a:rPr>
              <a:t>Paired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433070" indent="-4203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33070" algn="l"/>
              </a:tabLst>
            </a:pPr>
            <a:r>
              <a:rPr sz="3000" dirty="0">
                <a:latin typeface="Calibri"/>
                <a:cs typeface="Calibri"/>
              </a:rPr>
              <a:t>One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Way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ANOVA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528BD4"/>
                </a:solidFill>
              </a:rPr>
              <a:t>Hypothesis</a:t>
            </a:r>
            <a:r>
              <a:rPr spc="-45" dirty="0">
                <a:solidFill>
                  <a:srgbClr val="528BD4"/>
                </a:solidFill>
              </a:rPr>
              <a:t> </a:t>
            </a:r>
            <a:r>
              <a:rPr spc="-10" dirty="0">
                <a:solidFill>
                  <a:srgbClr val="528BD4"/>
                </a:solidFill>
              </a:rPr>
              <a:t>Tests:-</a:t>
            </a:r>
            <a:r>
              <a:rPr dirty="0">
                <a:solidFill>
                  <a:srgbClr val="528BD4"/>
                </a:solidFill>
              </a:rPr>
              <a:t>Non</a:t>
            </a:r>
            <a:r>
              <a:rPr spc="-10" dirty="0">
                <a:solidFill>
                  <a:srgbClr val="528BD4"/>
                </a:solidFill>
              </a:rPr>
              <a:t> Parametric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279" y="787918"/>
            <a:ext cx="4519930" cy="269811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340360" algn="l"/>
              </a:tabLst>
            </a:pPr>
            <a:r>
              <a:rPr sz="3000" dirty="0">
                <a:latin typeface="Calibri"/>
                <a:cs typeface="Calibri"/>
              </a:rPr>
              <a:t>Chi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Square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340360" indent="-327660">
              <a:lnSpc>
                <a:spcPct val="100000"/>
              </a:lnSpc>
              <a:spcBef>
                <a:spcPts val="615"/>
              </a:spcBef>
              <a:buAutoNum type="arabicPeriod"/>
              <a:tabLst>
                <a:tab pos="340360" algn="l"/>
              </a:tabLst>
            </a:pPr>
            <a:r>
              <a:rPr sz="3000" spc="-20" dirty="0">
                <a:latin typeface="Calibri"/>
                <a:cs typeface="Calibri"/>
              </a:rPr>
              <a:t>Mann-</a:t>
            </a:r>
            <a:r>
              <a:rPr sz="3000" dirty="0">
                <a:latin typeface="Calibri"/>
                <a:cs typeface="Calibri"/>
              </a:rPr>
              <a:t>Whitney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340360" indent="-32766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40360" algn="l"/>
              </a:tabLst>
            </a:pPr>
            <a:r>
              <a:rPr sz="3000" dirty="0">
                <a:latin typeface="Calibri"/>
                <a:cs typeface="Calibri"/>
              </a:rPr>
              <a:t>Wilcoxon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Signed-</a:t>
            </a:r>
            <a:r>
              <a:rPr sz="3000" dirty="0">
                <a:latin typeface="Calibri"/>
                <a:cs typeface="Calibri"/>
              </a:rPr>
              <a:t>Rank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340360" indent="-32766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40360" algn="l"/>
              </a:tabLst>
            </a:pPr>
            <a:r>
              <a:rPr sz="3000" spc="-20" dirty="0">
                <a:latin typeface="Calibri"/>
                <a:cs typeface="Calibri"/>
              </a:rPr>
              <a:t>Kruskal-</a:t>
            </a:r>
            <a:r>
              <a:rPr sz="3000" dirty="0">
                <a:latin typeface="Calibri"/>
                <a:cs typeface="Calibri"/>
              </a:rPr>
              <a:t>Wallis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340360" indent="-327660">
              <a:lnSpc>
                <a:spcPct val="100000"/>
              </a:lnSpc>
              <a:spcBef>
                <a:spcPts val="615"/>
              </a:spcBef>
              <a:buAutoNum type="arabicPeriod"/>
              <a:tabLst>
                <a:tab pos="340360" algn="l"/>
              </a:tabLst>
            </a:pPr>
            <a:r>
              <a:rPr sz="3000" dirty="0">
                <a:latin typeface="Calibri"/>
                <a:cs typeface="Calibri"/>
              </a:rPr>
              <a:t>Friedman’s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ANOVA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T-test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124" y="3182111"/>
            <a:ext cx="1832570" cy="9692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0044" y="861517"/>
            <a:ext cx="8087995" cy="3313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99"/>
              </a:lnSpc>
              <a:spcBef>
                <a:spcPts val="95"/>
              </a:spcBef>
              <a:buSzPct val="106818"/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t-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analysis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populations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means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statistical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examination;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t-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samples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commonly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used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sample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difference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samples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variances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normal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distributions are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known.</a:t>
            </a:r>
            <a:endParaRPr sz="2200" dirty="0">
              <a:latin typeface="Calibri"/>
              <a:cs typeface="Calibri"/>
            </a:endParaRPr>
          </a:p>
          <a:p>
            <a:pPr marL="355600" marR="812800" indent="-342900">
              <a:lnSpc>
                <a:spcPct val="100000"/>
              </a:lnSpc>
              <a:spcBef>
                <a:spcPts val="25"/>
              </a:spcBef>
              <a:buSzPct val="106818"/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helps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association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Categorical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Continuous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features.</a:t>
            </a:r>
            <a:endParaRPr sz="2200" dirty="0">
              <a:latin typeface="Calibri"/>
              <a:cs typeface="Calibri"/>
            </a:endParaRPr>
          </a:p>
          <a:p>
            <a:pPr marL="3595370" marR="2179955">
              <a:lnSpc>
                <a:spcPct val="100000"/>
              </a:lnSpc>
              <a:spcBef>
                <a:spcPts val="1370"/>
              </a:spcBef>
            </a:pPr>
            <a:r>
              <a:rPr sz="1800" dirty="0">
                <a:latin typeface="Calibri"/>
                <a:cs typeface="Calibri"/>
              </a:rPr>
              <a:t>X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&gt; Mean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set </a:t>
            </a:r>
            <a:r>
              <a:rPr sz="1800" dirty="0">
                <a:latin typeface="Calibri"/>
                <a:cs typeface="Calibri"/>
              </a:rPr>
              <a:t>μ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Population</a:t>
            </a:r>
            <a:endParaRPr sz="1800" dirty="0">
              <a:latin typeface="Calibri"/>
              <a:cs typeface="Calibri"/>
            </a:endParaRPr>
          </a:p>
          <a:p>
            <a:pPr marL="3595370" marR="136779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Standard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sample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 -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size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"/>
            <a:ext cx="9144000" cy="599440"/>
            <a:chOff x="0" y="114300"/>
            <a:chExt cx="9144000" cy="599440"/>
          </a:xfrm>
        </p:grpSpPr>
        <p:sp>
          <p:nvSpPr>
            <p:cNvPr id="3" name="object 3"/>
            <p:cNvSpPr/>
            <p:nvPr/>
          </p:nvSpPr>
          <p:spPr>
            <a:xfrm>
              <a:off x="0" y="667512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723" y="114300"/>
              <a:ext cx="1979676" cy="51663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9988" y="809244"/>
            <a:ext cx="4764023" cy="371703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T-test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876" y="841247"/>
            <a:ext cx="4640580" cy="3877310"/>
            <a:chOff x="150876" y="841247"/>
            <a:chExt cx="4640580" cy="38773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876" y="841247"/>
              <a:ext cx="1714500" cy="34610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5376" y="923543"/>
              <a:ext cx="2784348" cy="26106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2636" y="3826763"/>
              <a:ext cx="1988819" cy="8915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870830" y="1761185"/>
            <a:ext cx="4060825" cy="16446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70"/>
              </a:spcBef>
            </a:pPr>
            <a:r>
              <a:rPr sz="1550" dirty="0">
                <a:latin typeface="Calibri"/>
                <a:cs typeface="Calibri"/>
              </a:rPr>
              <a:t>The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T-</a:t>
            </a:r>
            <a:r>
              <a:rPr sz="1550" dirty="0">
                <a:latin typeface="Calibri"/>
                <a:cs typeface="Calibri"/>
              </a:rPr>
              <a:t>Test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helps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determine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whether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there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a </a:t>
            </a:r>
            <a:r>
              <a:rPr sz="1550" dirty="0">
                <a:latin typeface="Calibri"/>
                <a:cs typeface="Calibri"/>
              </a:rPr>
              <a:t>statistically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significant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difference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average </a:t>
            </a:r>
            <a:r>
              <a:rPr sz="1550" dirty="0">
                <a:latin typeface="Calibri"/>
                <a:cs typeface="Calibri"/>
              </a:rPr>
              <a:t>salaries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between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these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two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groups.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1550">
              <a:latin typeface="Calibri"/>
              <a:cs typeface="Calibri"/>
            </a:endParaRPr>
          </a:p>
          <a:p>
            <a:pPr marL="12700" marR="396875">
              <a:lnSpc>
                <a:spcPct val="100800"/>
              </a:lnSpc>
            </a:pPr>
            <a:r>
              <a:rPr sz="1400" dirty="0">
                <a:latin typeface="Calibri"/>
                <a:cs typeface="Calibri"/>
              </a:rPr>
              <a:t>H0: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significant</a:t>
            </a:r>
            <a:r>
              <a:rPr sz="1400" spc="-10" dirty="0">
                <a:latin typeface="Calibri"/>
                <a:cs typeface="Calibri"/>
              </a:rPr>
              <a:t> difference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two </a:t>
            </a:r>
            <a:r>
              <a:rPr sz="1400" spc="-10" dirty="0">
                <a:latin typeface="Calibri"/>
                <a:cs typeface="Calibri"/>
              </a:rPr>
              <a:t>groups.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T-test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dirty="0"/>
              <a:t>Paired</a:t>
            </a:r>
            <a:r>
              <a:rPr spc="-45" dirty="0"/>
              <a:t> </a:t>
            </a:r>
            <a:r>
              <a:rPr spc="-10" dirty="0"/>
              <a:t>T-</a:t>
            </a:r>
            <a:r>
              <a:rPr spc="-20" dirty="0"/>
              <a:t>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744" y="1098550"/>
            <a:ext cx="8021320" cy="24701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366395">
              <a:lnSpc>
                <a:spcPct val="99900"/>
              </a:lnSpc>
              <a:spcBef>
                <a:spcPts val="114"/>
              </a:spcBef>
            </a:pP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The</a:t>
            </a:r>
            <a:r>
              <a:rPr sz="2000" spc="-9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202020"/>
                </a:solidFill>
                <a:latin typeface="Trebuchet MS"/>
                <a:cs typeface="Trebuchet MS"/>
              </a:rPr>
              <a:t>paired</a:t>
            </a:r>
            <a:r>
              <a:rPr sz="2000" spc="-12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185" dirty="0">
                <a:solidFill>
                  <a:srgbClr val="202020"/>
                </a:solidFill>
                <a:latin typeface="Trebuchet MS"/>
                <a:cs typeface="Trebuchet MS"/>
              </a:rPr>
              <a:t>t-</a:t>
            </a:r>
            <a:r>
              <a:rPr sz="2000" spc="-20" dirty="0">
                <a:solidFill>
                  <a:srgbClr val="202020"/>
                </a:solidFill>
                <a:latin typeface="Trebuchet MS"/>
                <a:cs typeface="Trebuchet MS"/>
              </a:rPr>
              <a:t>test</a:t>
            </a:r>
            <a:r>
              <a:rPr sz="2000" spc="-8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202020"/>
                </a:solidFill>
                <a:latin typeface="Trebuchet MS"/>
                <a:cs typeface="Trebuchet MS"/>
              </a:rPr>
              <a:t>is</a:t>
            </a:r>
            <a:r>
              <a:rPr sz="2000" spc="-10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Trebuchet MS"/>
                <a:cs typeface="Trebuchet MS"/>
              </a:rPr>
              <a:t>performed</a:t>
            </a:r>
            <a:r>
              <a:rPr sz="2000" spc="-13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when</a:t>
            </a:r>
            <a:r>
              <a:rPr sz="2000" spc="-14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202020"/>
                </a:solidFill>
                <a:latin typeface="Trebuchet MS"/>
                <a:cs typeface="Trebuchet MS"/>
              </a:rPr>
              <a:t>the</a:t>
            </a:r>
            <a:r>
              <a:rPr sz="2000" spc="-9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202020"/>
                </a:solidFill>
                <a:latin typeface="Trebuchet MS"/>
                <a:cs typeface="Trebuchet MS"/>
              </a:rPr>
              <a:t>samples</a:t>
            </a:r>
            <a:r>
              <a:rPr sz="2000" spc="-10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202020"/>
                </a:solidFill>
                <a:latin typeface="Trebuchet MS"/>
                <a:cs typeface="Trebuchet MS"/>
              </a:rPr>
              <a:t>typically</a:t>
            </a:r>
            <a:r>
              <a:rPr sz="2000" spc="-13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202020"/>
                </a:solidFill>
                <a:latin typeface="Trebuchet MS"/>
                <a:cs typeface="Trebuchet MS"/>
              </a:rPr>
              <a:t>consist</a:t>
            </a:r>
            <a:r>
              <a:rPr sz="2000" spc="-15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Trebuchet MS"/>
                <a:cs typeface="Trebuchet MS"/>
              </a:rPr>
              <a:t>of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matched</a:t>
            </a:r>
            <a:r>
              <a:rPr sz="2000" spc="-13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pairs</a:t>
            </a:r>
            <a:r>
              <a:rPr sz="2000" spc="-6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of</a:t>
            </a:r>
            <a:r>
              <a:rPr sz="2000" spc="-8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similar</a:t>
            </a:r>
            <a:r>
              <a:rPr sz="2000" spc="-14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202020"/>
                </a:solidFill>
                <a:latin typeface="Trebuchet MS"/>
                <a:cs typeface="Trebuchet MS"/>
              </a:rPr>
              <a:t>units,</a:t>
            </a:r>
            <a:r>
              <a:rPr sz="2000" spc="-14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or</a:t>
            </a:r>
            <a:r>
              <a:rPr sz="2000" spc="-10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when</a:t>
            </a:r>
            <a:r>
              <a:rPr sz="2000" spc="-14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202020"/>
                </a:solidFill>
                <a:latin typeface="Trebuchet MS"/>
                <a:cs typeface="Trebuchet MS"/>
              </a:rPr>
              <a:t>there</a:t>
            </a:r>
            <a:r>
              <a:rPr sz="2000" spc="-13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Trebuchet MS"/>
                <a:cs typeface="Trebuchet MS"/>
              </a:rPr>
              <a:t>are</a:t>
            </a:r>
            <a:r>
              <a:rPr sz="2000" spc="-5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100" dirty="0">
                <a:solidFill>
                  <a:srgbClr val="202020"/>
                </a:solidFill>
                <a:latin typeface="Trebuchet MS"/>
                <a:cs typeface="Trebuchet MS"/>
              </a:rPr>
              <a:t>cases</a:t>
            </a:r>
            <a:r>
              <a:rPr sz="2000" spc="-10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of</a:t>
            </a:r>
            <a:r>
              <a:rPr sz="2000" spc="-8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rebuchet MS"/>
                <a:cs typeface="Trebuchet MS"/>
              </a:rPr>
              <a:t>repeated measures.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600"/>
              </a:lnSpc>
            </a:pP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For</a:t>
            </a:r>
            <a:r>
              <a:rPr sz="2000" spc="-7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202020"/>
                </a:solidFill>
                <a:latin typeface="Trebuchet MS"/>
                <a:cs typeface="Trebuchet MS"/>
              </a:rPr>
              <a:t>example,</a:t>
            </a:r>
            <a:r>
              <a:rPr sz="2000" spc="-114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202020"/>
                </a:solidFill>
                <a:latin typeface="Trebuchet MS"/>
                <a:cs typeface="Trebuchet MS"/>
              </a:rPr>
              <a:t>there</a:t>
            </a:r>
            <a:r>
              <a:rPr sz="2000" spc="-10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may</a:t>
            </a:r>
            <a:r>
              <a:rPr sz="2000" spc="-5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be</a:t>
            </a:r>
            <a:r>
              <a:rPr sz="2000" spc="-3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instances</a:t>
            </a:r>
            <a:r>
              <a:rPr sz="2000" spc="-11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of</a:t>
            </a:r>
            <a:r>
              <a:rPr sz="2000" spc="-5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202020"/>
                </a:solidFill>
                <a:latin typeface="Trebuchet MS"/>
                <a:cs typeface="Trebuchet MS"/>
              </a:rPr>
              <a:t>the</a:t>
            </a:r>
            <a:r>
              <a:rPr sz="2000" spc="-7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202020"/>
                </a:solidFill>
                <a:latin typeface="Trebuchet MS"/>
                <a:cs typeface="Trebuchet MS"/>
              </a:rPr>
              <a:t>same</a:t>
            </a:r>
            <a:r>
              <a:rPr sz="2000" spc="-7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Trebuchet MS"/>
                <a:cs typeface="Trebuchet MS"/>
              </a:rPr>
              <a:t>patients</a:t>
            </a:r>
            <a:r>
              <a:rPr sz="2000" spc="-7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being</a:t>
            </a:r>
            <a:r>
              <a:rPr sz="2000" spc="-9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rebuchet MS"/>
                <a:cs typeface="Trebuchet MS"/>
              </a:rPr>
              <a:t>tested </a:t>
            </a:r>
            <a:r>
              <a:rPr sz="2000" spc="-35" dirty="0">
                <a:solidFill>
                  <a:srgbClr val="202020"/>
                </a:solidFill>
                <a:latin typeface="Trebuchet MS"/>
                <a:cs typeface="Trebuchet MS"/>
              </a:rPr>
              <a:t>repeatedly—before</a:t>
            </a:r>
            <a:r>
              <a:rPr sz="2000" spc="-18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and</a:t>
            </a:r>
            <a:r>
              <a:rPr sz="2000" spc="-6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02020"/>
                </a:solidFill>
                <a:latin typeface="Trebuchet MS"/>
                <a:cs typeface="Trebuchet MS"/>
              </a:rPr>
              <a:t>after</a:t>
            </a:r>
            <a:r>
              <a:rPr sz="2000" spc="-3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Trebuchet MS"/>
                <a:cs typeface="Trebuchet MS"/>
              </a:rPr>
              <a:t>receiving</a:t>
            </a:r>
            <a:r>
              <a:rPr sz="2000" spc="-13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a</a:t>
            </a:r>
            <a:r>
              <a:rPr sz="2000" spc="-5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202020"/>
                </a:solidFill>
                <a:latin typeface="Trebuchet MS"/>
                <a:cs typeface="Trebuchet MS"/>
              </a:rPr>
              <a:t>particular</a:t>
            </a:r>
            <a:r>
              <a:rPr sz="2000" spc="-7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202020"/>
                </a:solidFill>
                <a:latin typeface="Trebuchet MS"/>
                <a:cs typeface="Trebuchet MS"/>
              </a:rPr>
              <a:t>treatment.</a:t>
            </a:r>
            <a:r>
              <a:rPr sz="2000" spc="-10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In</a:t>
            </a:r>
            <a:r>
              <a:rPr sz="2000" spc="-6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202020"/>
                </a:solidFill>
                <a:latin typeface="Trebuchet MS"/>
                <a:cs typeface="Trebuchet MS"/>
              </a:rPr>
              <a:t>such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cases,</a:t>
            </a:r>
            <a:r>
              <a:rPr sz="2000" spc="-6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each</a:t>
            </a:r>
            <a:r>
              <a:rPr sz="2000" spc="-3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202020"/>
                </a:solidFill>
                <a:latin typeface="Trebuchet MS"/>
                <a:cs typeface="Trebuchet MS"/>
              </a:rPr>
              <a:t>patient</a:t>
            </a:r>
            <a:r>
              <a:rPr sz="2000" spc="-7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202020"/>
                </a:solidFill>
                <a:latin typeface="Trebuchet MS"/>
                <a:cs typeface="Trebuchet MS"/>
              </a:rPr>
              <a:t>is</a:t>
            </a:r>
            <a:r>
              <a:rPr sz="2000" spc="-6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being</a:t>
            </a:r>
            <a:r>
              <a:rPr sz="2000" spc="-8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202020"/>
                </a:solidFill>
                <a:latin typeface="Trebuchet MS"/>
                <a:cs typeface="Trebuchet MS"/>
              </a:rPr>
              <a:t>used</a:t>
            </a:r>
            <a:r>
              <a:rPr sz="2000" spc="-9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120" dirty="0">
                <a:solidFill>
                  <a:srgbClr val="202020"/>
                </a:solidFill>
                <a:latin typeface="Trebuchet MS"/>
                <a:cs typeface="Trebuchet MS"/>
              </a:rPr>
              <a:t>as</a:t>
            </a:r>
            <a:r>
              <a:rPr sz="2000" spc="-2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a</a:t>
            </a:r>
            <a:r>
              <a:rPr sz="2000" spc="-5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202020"/>
                </a:solidFill>
                <a:latin typeface="Trebuchet MS"/>
                <a:cs typeface="Trebuchet MS"/>
              </a:rPr>
              <a:t>control</a:t>
            </a:r>
            <a:r>
              <a:rPr sz="2000" spc="-9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02020"/>
                </a:solidFill>
                <a:latin typeface="Trebuchet MS"/>
                <a:cs typeface="Trebuchet MS"/>
              </a:rPr>
              <a:t>sample</a:t>
            </a:r>
            <a:r>
              <a:rPr sz="2000" spc="-6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rebuchet MS"/>
                <a:cs typeface="Trebuchet MS"/>
              </a:rPr>
              <a:t>against themselves.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68" y="3799332"/>
            <a:ext cx="7306056" cy="8229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41859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One-</a:t>
            </a:r>
            <a:r>
              <a:rPr dirty="0"/>
              <a:t>Way</a:t>
            </a:r>
            <a:r>
              <a:rPr spc="10" dirty="0"/>
              <a:t> </a:t>
            </a:r>
            <a:r>
              <a:rPr spc="-20" dirty="0"/>
              <a:t>ANOVA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5724" y="877162"/>
            <a:ext cx="8308340" cy="12439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36300"/>
              </a:lnSpc>
              <a:spcBef>
                <a:spcPts val="120"/>
              </a:spcBef>
            </a:pPr>
            <a:r>
              <a:rPr sz="1950" dirty="0">
                <a:latin typeface="Calibri"/>
                <a:cs typeface="Calibri"/>
              </a:rPr>
              <a:t>The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one-</a:t>
            </a:r>
            <a:r>
              <a:rPr sz="1950" dirty="0">
                <a:latin typeface="Calibri"/>
                <a:cs typeface="Calibri"/>
              </a:rPr>
              <a:t>way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analysis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variance</a:t>
            </a:r>
            <a:r>
              <a:rPr sz="1950" spc="-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(ANOVA)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used</a:t>
            </a:r>
            <a:r>
              <a:rPr sz="1950" spc="-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-6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determine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whether</a:t>
            </a:r>
            <a:r>
              <a:rPr sz="1950" spc="-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there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are </a:t>
            </a:r>
            <a:r>
              <a:rPr sz="1950" dirty="0">
                <a:latin typeface="Calibri"/>
                <a:cs typeface="Calibri"/>
              </a:rPr>
              <a:t>any</a:t>
            </a:r>
            <a:r>
              <a:rPr sz="1950" spc="-8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statistically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significant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differences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between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-5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means</a:t>
            </a:r>
            <a:r>
              <a:rPr sz="1950" spc="-6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-7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three</a:t>
            </a:r>
            <a:r>
              <a:rPr sz="1950" spc="-5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or</a:t>
            </a:r>
            <a:r>
              <a:rPr sz="1950" spc="-8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more </a:t>
            </a:r>
            <a:r>
              <a:rPr sz="1950" spc="-10" dirty="0">
                <a:latin typeface="Calibri"/>
                <a:cs typeface="Calibri"/>
              </a:rPr>
              <a:t>independent </a:t>
            </a:r>
            <a:r>
              <a:rPr sz="1950" dirty="0">
                <a:latin typeface="Calibri"/>
                <a:cs typeface="Calibri"/>
              </a:rPr>
              <a:t>(unrelated)</a:t>
            </a:r>
            <a:r>
              <a:rPr sz="1950" spc="-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groups.</a:t>
            </a:r>
            <a:r>
              <a:rPr sz="1950" spc="-8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Eg.,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432304"/>
            <a:ext cx="5390388" cy="11887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9214" y="3839972"/>
            <a:ext cx="726630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Within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Variance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other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Variance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other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7976" y="1261694"/>
            <a:ext cx="7865745" cy="1735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8295" marR="5080" indent="-316230">
              <a:lnSpc>
                <a:spcPct val="100099"/>
              </a:lnSpc>
              <a:spcBef>
                <a:spcPts val="105"/>
              </a:spcBef>
              <a:buSzPct val="50000"/>
              <a:buFont typeface="Arial"/>
              <a:buChar char="•"/>
              <a:tabLst>
                <a:tab pos="328295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within-</a:t>
            </a:r>
            <a:r>
              <a:rPr sz="2800" dirty="0">
                <a:latin typeface="Calibri"/>
                <a:cs typeface="Calibri"/>
              </a:rPr>
              <a:t>group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variation 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less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between-</a:t>
            </a:r>
            <a:r>
              <a:rPr sz="2800" dirty="0">
                <a:latin typeface="Calibri"/>
                <a:cs typeface="Calibri"/>
              </a:rPr>
              <a:t>group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variation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feature </a:t>
            </a:r>
            <a:r>
              <a:rPr sz="2800" dirty="0">
                <a:latin typeface="Calibri"/>
                <a:cs typeface="Calibri"/>
              </a:rPr>
              <a:t>impacts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target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Hence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 feature.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141859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One-</a:t>
            </a:r>
            <a:r>
              <a:rPr dirty="0"/>
              <a:t>Way</a:t>
            </a:r>
            <a:r>
              <a:rPr spc="10" dirty="0"/>
              <a:t> </a:t>
            </a:r>
            <a:r>
              <a:rPr spc="-20" dirty="0"/>
              <a:t>ANOVA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6911E7-940F-9FC9-4F96-61A845BDD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724150"/>
            <a:ext cx="4942300" cy="157178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977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Chi-</a:t>
            </a:r>
            <a:r>
              <a:rPr dirty="0"/>
              <a:t>Square </a:t>
            </a:r>
            <a:r>
              <a:rPr spc="-20" dirty="0"/>
              <a:t>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44" y="3192348"/>
            <a:ext cx="8046084" cy="99695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550" dirty="0">
                <a:latin typeface="Calibri"/>
                <a:cs typeface="Calibri"/>
              </a:rPr>
              <a:t>Observed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frequency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=</a:t>
            </a:r>
            <a:r>
              <a:rPr sz="1550" spc="-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No.</a:t>
            </a:r>
            <a:r>
              <a:rPr sz="1550" spc="-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-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observations</a:t>
            </a:r>
            <a:r>
              <a:rPr sz="1550" spc="-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-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class</a:t>
            </a:r>
            <a:endParaRPr sz="155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45"/>
              </a:spcBef>
            </a:pPr>
            <a:r>
              <a:rPr sz="1550" dirty="0">
                <a:latin typeface="Calibri"/>
                <a:cs typeface="Calibri"/>
              </a:rPr>
              <a:t>Expected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frequency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=</a:t>
            </a:r>
            <a:r>
              <a:rPr sz="1550" spc="-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No.</a:t>
            </a:r>
            <a:r>
              <a:rPr sz="1550" spc="-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-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expected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observations</a:t>
            </a:r>
            <a:r>
              <a:rPr sz="1550" spc="-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class</a:t>
            </a:r>
            <a:r>
              <a:rPr sz="1550" spc="-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if</a:t>
            </a:r>
            <a:r>
              <a:rPr sz="1550" spc="-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there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was</a:t>
            </a:r>
            <a:r>
              <a:rPr sz="1550" spc="-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no</a:t>
            </a:r>
            <a:r>
              <a:rPr sz="1550" spc="-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relationship</a:t>
            </a:r>
            <a:r>
              <a:rPr sz="1550" spc="-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between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the </a:t>
            </a:r>
            <a:r>
              <a:rPr sz="1550" dirty="0">
                <a:latin typeface="Calibri"/>
                <a:cs typeface="Calibri"/>
              </a:rPr>
              <a:t>feature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-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target.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11111"/>
                </a:solidFill>
                <a:latin typeface="Calibri"/>
                <a:cs typeface="Calibri"/>
              </a:rPr>
              <a:t>Expected</a:t>
            </a:r>
            <a:r>
              <a:rPr sz="1550" spc="9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11111"/>
                </a:solidFill>
                <a:latin typeface="Calibri"/>
                <a:cs typeface="Calibri"/>
              </a:rPr>
              <a:t>Frequency</a:t>
            </a:r>
            <a:r>
              <a:rPr sz="1550" spc="10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11111"/>
                </a:solidFill>
                <a:latin typeface="Calibri"/>
                <a:cs typeface="Calibri"/>
              </a:rPr>
              <a:t>=</a:t>
            </a:r>
            <a:r>
              <a:rPr sz="1550" spc="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11111"/>
                </a:solidFill>
                <a:latin typeface="Calibri"/>
                <a:cs typeface="Calibri"/>
              </a:rPr>
              <a:t>(Row</a:t>
            </a:r>
            <a:r>
              <a:rPr sz="1550" spc="114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11111"/>
                </a:solidFill>
                <a:latin typeface="Calibri"/>
                <a:cs typeface="Calibri"/>
              </a:rPr>
              <a:t>Total</a:t>
            </a:r>
            <a:r>
              <a:rPr sz="1550" spc="5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11111"/>
                </a:solidFill>
                <a:latin typeface="Calibri"/>
                <a:cs typeface="Calibri"/>
              </a:rPr>
              <a:t>*</a:t>
            </a:r>
            <a:r>
              <a:rPr sz="1550" spc="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11111"/>
                </a:solidFill>
                <a:latin typeface="Calibri"/>
                <a:cs typeface="Calibri"/>
              </a:rPr>
              <a:t>Column</a:t>
            </a:r>
            <a:r>
              <a:rPr sz="1550" spc="1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11111"/>
                </a:solidFill>
                <a:latin typeface="Calibri"/>
                <a:cs typeface="Calibri"/>
              </a:rPr>
              <a:t>Total)/N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88" y="958418"/>
            <a:ext cx="8250555" cy="9994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75"/>
              </a:spcBef>
            </a:pPr>
            <a:r>
              <a:rPr sz="1550" spc="-25" dirty="0">
                <a:solidFill>
                  <a:srgbClr val="202020"/>
                </a:solidFill>
                <a:latin typeface="Trebuchet MS"/>
                <a:cs typeface="Trebuchet MS"/>
              </a:rPr>
              <a:t>Chi-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square</a:t>
            </a:r>
            <a:r>
              <a:rPr sz="1550" spc="1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test</a:t>
            </a:r>
            <a:r>
              <a:rPr sz="1550" spc="1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70" dirty="0">
                <a:solidFill>
                  <a:srgbClr val="202020"/>
                </a:solidFill>
                <a:latin typeface="Trebuchet MS"/>
                <a:cs typeface="Trebuchet MS"/>
              </a:rPr>
              <a:t>is</a:t>
            </a:r>
            <a:r>
              <a:rPr sz="1550" spc="-4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used</a:t>
            </a:r>
            <a:r>
              <a:rPr sz="1550" spc="-1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for</a:t>
            </a:r>
            <a:r>
              <a:rPr sz="1550" spc="-1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categorical</a:t>
            </a:r>
            <a:r>
              <a:rPr sz="1550" spc="3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features</a:t>
            </a:r>
            <a:r>
              <a:rPr sz="1550" spc="11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in</a:t>
            </a:r>
            <a:r>
              <a:rPr sz="1550" spc="-6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a</a:t>
            </a:r>
            <a:r>
              <a:rPr sz="1550" spc="-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202020"/>
                </a:solidFill>
                <a:latin typeface="Trebuchet MS"/>
                <a:cs typeface="Trebuchet MS"/>
              </a:rPr>
              <a:t>dataset.</a:t>
            </a:r>
            <a:r>
              <a:rPr sz="1550" spc="4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We</a:t>
            </a:r>
            <a:r>
              <a:rPr sz="1550" spc="-3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calculate</a:t>
            </a:r>
            <a:r>
              <a:rPr sz="1550" spc="5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202020"/>
                </a:solidFill>
                <a:latin typeface="Trebuchet MS"/>
                <a:cs typeface="Trebuchet MS"/>
              </a:rPr>
              <a:t>Chi-square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between</a:t>
            </a:r>
            <a:r>
              <a:rPr sz="1550" spc="4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each</a:t>
            </a:r>
            <a:r>
              <a:rPr sz="1550" spc="-5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202020"/>
                </a:solidFill>
                <a:latin typeface="Trebuchet MS"/>
                <a:cs typeface="Trebuchet MS"/>
              </a:rPr>
              <a:t>feature</a:t>
            </a:r>
            <a:r>
              <a:rPr sz="1550" spc="4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and</a:t>
            </a:r>
            <a:r>
              <a:rPr sz="1550" spc="-4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202020"/>
                </a:solidFill>
                <a:latin typeface="Trebuchet MS"/>
                <a:cs typeface="Trebuchet MS"/>
              </a:rPr>
              <a:t>the</a:t>
            </a:r>
            <a:r>
              <a:rPr sz="1550" spc="-3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202020"/>
                </a:solidFill>
                <a:latin typeface="Trebuchet MS"/>
                <a:cs typeface="Trebuchet MS"/>
              </a:rPr>
              <a:t>target</a:t>
            </a:r>
            <a:r>
              <a:rPr sz="1550" spc="-3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and</a:t>
            </a:r>
            <a:r>
              <a:rPr sz="1550" spc="-4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select</a:t>
            </a:r>
            <a:r>
              <a:rPr sz="1550" spc="-3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202020"/>
                </a:solidFill>
                <a:latin typeface="Trebuchet MS"/>
                <a:cs typeface="Trebuchet MS"/>
              </a:rPr>
              <a:t>the</a:t>
            </a:r>
            <a:r>
              <a:rPr sz="1550" spc="-2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desired</a:t>
            </a:r>
            <a:r>
              <a:rPr sz="1550" spc="-5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number</a:t>
            </a:r>
            <a:r>
              <a:rPr sz="1550" spc="-1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of</a:t>
            </a:r>
            <a:r>
              <a:rPr sz="1550" spc="-6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features</a:t>
            </a:r>
            <a:r>
              <a:rPr sz="1550" spc="2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202020"/>
                </a:solidFill>
                <a:latin typeface="Trebuchet MS"/>
                <a:cs typeface="Trebuchet MS"/>
              </a:rPr>
              <a:t>with</a:t>
            </a:r>
            <a:r>
              <a:rPr sz="1550" spc="-2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202020"/>
                </a:solidFill>
                <a:latin typeface="Trebuchet MS"/>
                <a:cs typeface="Trebuchet MS"/>
              </a:rPr>
              <a:t>best </a:t>
            </a:r>
            <a:r>
              <a:rPr sz="1550" spc="-25" dirty="0">
                <a:solidFill>
                  <a:srgbClr val="202020"/>
                </a:solidFill>
                <a:latin typeface="Trebuchet MS"/>
                <a:cs typeface="Trebuchet MS"/>
              </a:rPr>
              <a:t>Chi-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square</a:t>
            </a:r>
            <a:r>
              <a:rPr sz="1550" spc="6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scores.</a:t>
            </a:r>
            <a:r>
              <a:rPr sz="1550" spc="4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50" dirty="0">
                <a:solidFill>
                  <a:srgbClr val="202020"/>
                </a:solidFill>
                <a:latin typeface="Trebuchet MS"/>
                <a:cs typeface="Trebuchet MS"/>
              </a:rPr>
              <a:t>It</a:t>
            </a:r>
            <a:r>
              <a:rPr sz="1550" spc="1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determines</a:t>
            </a:r>
            <a:r>
              <a:rPr sz="1550" spc="12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45" dirty="0">
                <a:solidFill>
                  <a:srgbClr val="202020"/>
                </a:solidFill>
                <a:latin typeface="Trebuchet MS"/>
                <a:cs typeface="Trebuchet MS"/>
              </a:rPr>
              <a:t>if</a:t>
            </a:r>
            <a:r>
              <a:rPr sz="1550" spc="-2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202020"/>
                </a:solidFill>
                <a:latin typeface="Trebuchet MS"/>
                <a:cs typeface="Trebuchet MS"/>
              </a:rPr>
              <a:t>the</a:t>
            </a:r>
            <a:r>
              <a:rPr sz="1550" spc="6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association</a:t>
            </a:r>
            <a:r>
              <a:rPr sz="1550" spc="5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between</a:t>
            </a:r>
            <a:r>
              <a:rPr sz="1550" spc="14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two</a:t>
            </a:r>
            <a:r>
              <a:rPr sz="1550" spc="2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categorical</a:t>
            </a:r>
            <a:r>
              <a:rPr sz="1550" spc="12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variables</a:t>
            </a:r>
            <a:r>
              <a:rPr sz="1550" spc="4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of</a:t>
            </a:r>
            <a:r>
              <a:rPr sz="1550" spc="1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25" dirty="0">
                <a:solidFill>
                  <a:srgbClr val="202020"/>
                </a:solidFill>
                <a:latin typeface="Trebuchet MS"/>
                <a:cs typeface="Trebuchet MS"/>
              </a:rPr>
              <a:t>the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sample</a:t>
            </a:r>
            <a:r>
              <a:rPr sz="1550" spc="1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would</a:t>
            </a:r>
            <a:r>
              <a:rPr sz="1550" spc="3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35" dirty="0">
                <a:solidFill>
                  <a:srgbClr val="202020"/>
                </a:solidFill>
                <a:latin typeface="Trebuchet MS"/>
                <a:cs typeface="Trebuchet MS"/>
              </a:rPr>
              <a:t>reflect</a:t>
            </a:r>
            <a:r>
              <a:rPr sz="1550" spc="5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35" dirty="0">
                <a:solidFill>
                  <a:srgbClr val="202020"/>
                </a:solidFill>
                <a:latin typeface="Trebuchet MS"/>
                <a:cs typeface="Trebuchet MS"/>
              </a:rPr>
              <a:t>their</a:t>
            </a:r>
            <a:r>
              <a:rPr sz="1550" spc="7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202020"/>
                </a:solidFill>
                <a:latin typeface="Trebuchet MS"/>
                <a:cs typeface="Trebuchet MS"/>
              </a:rPr>
              <a:t>real</a:t>
            </a:r>
            <a:r>
              <a:rPr sz="1550" spc="4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association</a:t>
            </a:r>
            <a:r>
              <a:rPr sz="1550" spc="5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in</a:t>
            </a:r>
            <a:r>
              <a:rPr sz="1550" spc="-20" dirty="0">
                <a:solidFill>
                  <a:srgbClr val="202020"/>
                </a:solidFill>
                <a:latin typeface="Trebuchet MS"/>
                <a:cs typeface="Trebuchet MS"/>
              </a:rPr>
              <a:t> the</a:t>
            </a:r>
            <a:r>
              <a:rPr sz="1550" spc="5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202020"/>
                </a:solidFill>
                <a:latin typeface="Trebuchet MS"/>
                <a:cs typeface="Trebuchet MS"/>
              </a:rPr>
              <a:t>population.</a:t>
            </a:r>
            <a:r>
              <a:rPr sz="1550" spc="12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Chi-</a:t>
            </a:r>
            <a:r>
              <a:rPr sz="1550" spc="-2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square</a:t>
            </a:r>
            <a:r>
              <a:rPr sz="1550" spc="60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score</a:t>
            </a:r>
            <a:r>
              <a:rPr sz="1550" spc="1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70" dirty="0">
                <a:solidFill>
                  <a:srgbClr val="202020"/>
                </a:solidFill>
                <a:latin typeface="Trebuchet MS"/>
                <a:cs typeface="Trebuchet MS"/>
              </a:rPr>
              <a:t>is</a:t>
            </a:r>
            <a:r>
              <a:rPr sz="1550" dirty="0">
                <a:solidFill>
                  <a:srgbClr val="202020"/>
                </a:solidFill>
                <a:latin typeface="Trebuchet MS"/>
                <a:cs typeface="Trebuchet MS"/>
              </a:rPr>
              <a:t> given</a:t>
            </a:r>
            <a:r>
              <a:rPr sz="1550" spc="55" dirty="0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sz="1550" spc="-25" dirty="0">
                <a:solidFill>
                  <a:srgbClr val="202020"/>
                </a:solidFill>
                <a:latin typeface="Trebuchet MS"/>
                <a:cs typeface="Trebuchet MS"/>
              </a:rPr>
              <a:t>by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268" y="2338753"/>
            <a:ext cx="5201004" cy="56255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36" y="886967"/>
            <a:ext cx="1641348" cy="36255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1951" y="1197863"/>
            <a:ext cx="3392424" cy="630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46477" y="863549"/>
            <a:ext cx="15544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Contingency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Table: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10"/>
              </a:lnSpc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0530" y="4945176"/>
            <a:ext cx="3423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2784" y="4938242"/>
            <a:ext cx="173799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46477" y="2277236"/>
            <a:ext cx="57746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4151"/>
                </a:solidFill>
              </a:rPr>
              <a:t>The</a:t>
            </a:r>
            <a:r>
              <a:rPr sz="1800" spc="-25" dirty="0">
                <a:solidFill>
                  <a:srgbClr val="374151"/>
                </a:solidFill>
              </a:rPr>
              <a:t> chi-</a:t>
            </a:r>
            <a:r>
              <a:rPr sz="1800" dirty="0">
                <a:solidFill>
                  <a:srgbClr val="374151"/>
                </a:solidFill>
              </a:rPr>
              <a:t>squared</a:t>
            </a:r>
            <a:r>
              <a:rPr sz="1800" spc="30" dirty="0">
                <a:solidFill>
                  <a:srgbClr val="374151"/>
                </a:solidFill>
              </a:rPr>
              <a:t> </a:t>
            </a:r>
            <a:r>
              <a:rPr sz="1800" dirty="0">
                <a:solidFill>
                  <a:srgbClr val="374151"/>
                </a:solidFill>
              </a:rPr>
              <a:t>value</a:t>
            </a:r>
            <a:r>
              <a:rPr sz="1800" spc="-25" dirty="0">
                <a:solidFill>
                  <a:srgbClr val="374151"/>
                </a:solidFill>
              </a:rPr>
              <a:t> </a:t>
            </a:r>
            <a:r>
              <a:rPr sz="1800" dirty="0">
                <a:solidFill>
                  <a:srgbClr val="374151"/>
                </a:solidFill>
              </a:rPr>
              <a:t>for</a:t>
            </a:r>
            <a:r>
              <a:rPr sz="1800" spc="-40" dirty="0">
                <a:solidFill>
                  <a:srgbClr val="374151"/>
                </a:solidFill>
              </a:rPr>
              <a:t> </a:t>
            </a:r>
            <a:r>
              <a:rPr sz="1800" dirty="0">
                <a:solidFill>
                  <a:srgbClr val="374151"/>
                </a:solidFill>
              </a:rPr>
              <a:t>the</a:t>
            </a:r>
            <a:r>
              <a:rPr sz="1800" spc="-25" dirty="0">
                <a:solidFill>
                  <a:srgbClr val="374151"/>
                </a:solidFill>
              </a:rPr>
              <a:t> </a:t>
            </a:r>
            <a:r>
              <a:rPr sz="1800" dirty="0">
                <a:solidFill>
                  <a:srgbClr val="374151"/>
                </a:solidFill>
              </a:rPr>
              <a:t>given</a:t>
            </a:r>
            <a:r>
              <a:rPr sz="1800" spc="-60" dirty="0">
                <a:solidFill>
                  <a:srgbClr val="374151"/>
                </a:solidFill>
              </a:rPr>
              <a:t> </a:t>
            </a:r>
            <a:r>
              <a:rPr sz="1800" dirty="0">
                <a:solidFill>
                  <a:srgbClr val="374151"/>
                </a:solidFill>
              </a:rPr>
              <a:t>contingency</a:t>
            </a:r>
            <a:r>
              <a:rPr sz="1800" spc="15" dirty="0">
                <a:solidFill>
                  <a:srgbClr val="374151"/>
                </a:solidFill>
              </a:rPr>
              <a:t> </a:t>
            </a:r>
            <a:r>
              <a:rPr sz="1800" dirty="0">
                <a:solidFill>
                  <a:srgbClr val="374151"/>
                </a:solidFill>
              </a:rPr>
              <a:t>table</a:t>
            </a:r>
            <a:r>
              <a:rPr sz="1800" spc="-20" dirty="0">
                <a:solidFill>
                  <a:srgbClr val="374151"/>
                </a:solidFill>
              </a:rPr>
              <a:t> </a:t>
            </a:r>
            <a:r>
              <a:rPr sz="1800" dirty="0">
                <a:solidFill>
                  <a:srgbClr val="374151"/>
                </a:solidFill>
              </a:rPr>
              <a:t>is</a:t>
            </a:r>
            <a:r>
              <a:rPr sz="1800" spc="-45" dirty="0">
                <a:solidFill>
                  <a:srgbClr val="374151"/>
                </a:solidFill>
              </a:rPr>
              <a:t> </a:t>
            </a:r>
            <a:r>
              <a:rPr sz="1800" spc="-10" dirty="0">
                <a:solidFill>
                  <a:srgbClr val="374151"/>
                </a:solidFill>
              </a:rPr>
              <a:t>0.257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74151"/>
                </a:solidFill>
              </a:rPr>
              <a:t>Significance</a:t>
            </a:r>
            <a:r>
              <a:rPr sz="1800" spc="5" dirty="0">
                <a:solidFill>
                  <a:srgbClr val="374151"/>
                </a:solidFill>
              </a:rPr>
              <a:t> </a:t>
            </a:r>
            <a:r>
              <a:rPr sz="1800" dirty="0">
                <a:solidFill>
                  <a:srgbClr val="374151"/>
                </a:solidFill>
              </a:rPr>
              <a:t>level</a:t>
            </a:r>
            <a:r>
              <a:rPr sz="1800" spc="-65" dirty="0">
                <a:solidFill>
                  <a:srgbClr val="374151"/>
                </a:solidFill>
              </a:rPr>
              <a:t> </a:t>
            </a:r>
            <a:r>
              <a:rPr sz="1800" dirty="0">
                <a:solidFill>
                  <a:srgbClr val="374151"/>
                </a:solidFill>
              </a:rPr>
              <a:t>is</a:t>
            </a:r>
            <a:r>
              <a:rPr sz="1800" spc="-70" dirty="0">
                <a:solidFill>
                  <a:srgbClr val="374151"/>
                </a:solidFill>
              </a:rPr>
              <a:t> </a:t>
            </a:r>
            <a:r>
              <a:rPr sz="1800" spc="-20" dirty="0">
                <a:solidFill>
                  <a:srgbClr val="374151"/>
                </a:solidFill>
              </a:rPr>
              <a:t>0.05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2046477" y="2825953"/>
            <a:ext cx="483552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observed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p-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value</a:t>
            </a:r>
            <a:r>
              <a:rPr sz="1800" spc="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43541"/>
                </a:solidFill>
                <a:latin typeface="Calibri"/>
                <a:cs typeface="Calibri"/>
              </a:rPr>
              <a:t>0.967902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Since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p-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value</a:t>
            </a:r>
            <a:r>
              <a:rPr sz="1800" spc="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&gt;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0.05, we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accept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Null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hypothesis.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530" y="4913172"/>
            <a:ext cx="34232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0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DataMites™.</a:t>
            </a:r>
            <a:r>
              <a:rPr sz="1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Rights</a:t>
            </a:r>
            <a:r>
              <a:rPr sz="1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67177" y="2007514"/>
            <a:ext cx="2967990" cy="75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800" dirty="0">
                <a:solidFill>
                  <a:srgbClr val="000000"/>
                </a:solidFill>
                <a:latin typeface="Arial"/>
                <a:cs typeface="Arial"/>
              </a:rPr>
              <a:t>Thank</a:t>
            </a:r>
            <a:r>
              <a:rPr sz="480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800" spc="-25" dirty="0">
                <a:solidFill>
                  <a:srgbClr val="000000"/>
                </a:solidFill>
                <a:latin typeface="Arial"/>
                <a:cs typeface="Arial"/>
              </a:rPr>
              <a:t>You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5723" y="114300"/>
            <a:ext cx="1979676" cy="5166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867</TotalTime>
  <Words>5399</Words>
  <Application>Microsoft Office PowerPoint</Application>
  <PresentationFormat>On-screen Show (16:9)</PresentationFormat>
  <Paragraphs>617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2" baseType="lpstr">
      <vt:lpstr>Arial</vt:lpstr>
      <vt:lpstr>Calibri</vt:lpstr>
      <vt:lpstr>Cambria</vt:lpstr>
      <vt:lpstr>Century</vt:lpstr>
      <vt:lpstr>Georgia</vt:lpstr>
      <vt:lpstr>Trebuchet MS</vt:lpstr>
      <vt:lpstr>Office Theme</vt:lpstr>
      <vt:lpstr>Statistics Essentials</vt:lpstr>
      <vt:lpstr>PowerPoint Presentation</vt:lpstr>
      <vt:lpstr>Statistics for Data</vt:lpstr>
      <vt:lpstr>Descriptive Statistics</vt:lpstr>
      <vt:lpstr>Inferential Statistics</vt:lpstr>
      <vt:lpstr>Definition to Basic terms</vt:lpstr>
      <vt:lpstr>Definition to Basic terms</vt:lpstr>
      <vt:lpstr>Examples</vt:lpstr>
      <vt:lpstr>Types of Data</vt:lpstr>
      <vt:lpstr>Examples of variables</vt:lpstr>
      <vt:lpstr>Examples of variables…</vt:lpstr>
      <vt:lpstr>PowerPoint Presentation</vt:lpstr>
      <vt:lpstr>Steps Involved In Descriptive Statistics</vt:lpstr>
      <vt:lpstr>Making sense of the data</vt:lpstr>
      <vt:lpstr>Collecting The Data</vt:lpstr>
      <vt:lpstr>Methods Used To Collect Data</vt:lpstr>
      <vt:lpstr>Types Of Sampling</vt:lpstr>
      <vt:lpstr>Probability Sampling</vt:lpstr>
      <vt:lpstr>Sampling Example</vt:lpstr>
      <vt:lpstr>Sampling Error</vt:lpstr>
      <vt:lpstr>PowerPoint Presentation</vt:lpstr>
      <vt:lpstr>Measures of Central Tendencies</vt:lpstr>
      <vt:lpstr>Central Tendency</vt:lpstr>
      <vt:lpstr>PowerPoint Presentation</vt:lpstr>
      <vt:lpstr>Mean</vt:lpstr>
      <vt:lpstr>Median</vt:lpstr>
      <vt:lpstr>Mode</vt:lpstr>
      <vt:lpstr>Measure of Spread / Data Variability</vt:lpstr>
      <vt:lpstr>PowerPoint Presentation</vt:lpstr>
      <vt:lpstr>Interquartile Range (IQR)Range</vt:lpstr>
      <vt:lpstr>Standard Deviation (σ)</vt:lpstr>
      <vt:lpstr>Standard Deviation (σ)</vt:lpstr>
      <vt:lpstr>Variance(σ2)</vt:lpstr>
      <vt:lpstr>Percentile</vt:lpstr>
      <vt:lpstr>Distributions</vt:lpstr>
      <vt:lpstr>Types Of Distributions</vt:lpstr>
      <vt:lpstr>Normal Distribution</vt:lpstr>
      <vt:lpstr>Properties Of Normal Distribution</vt:lpstr>
      <vt:lpstr>Empirical Rule</vt:lpstr>
      <vt:lpstr>Distortion in Normal Distribution</vt:lpstr>
      <vt:lpstr>Skewness in Normal Distribution</vt:lpstr>
      <vt:lpstr>How much Skewness and Kurtosis</vt:lpstr>
      <vt:lpstr>Kurtosis in Normal Distribution</vt:lpstr>
      <vt:lpstr>PowerPoint Presentation</vt:lpstr>
      <vt:lpstr>Which is Best—the Mean, Median, or Mode?</vt:lpstr>
      <vt:lpstr>Outliers</vt:lpstr>
      <vt:lpstr>Central Limit Theorem</vt:lpstr>
      <vt:lpstr>Probability Density Function</vt:lpstr>
      <vt:lpstr>Q-Q Plots</vt:lpstr>
      <vt:lpstr>Standard Normal Distribution</vt:lpstr>
      <vt:lpstr>Z- Score / Z-Value/ Standard Score</vt:lpstr>
      <vt:lpstr>Calculating Z-Score</vt:lpstr>
      <vt:lpstr>Outliers</vt:lpstr>
      <vt:lpstr>Correcting Distortion in Normal Distribution</vt:lpstr>
      <vt:lpstr>PowerPoint Presentation</vt:lpstr>
      <vt:lpstr>Euclidean Distance</vt:lpstr>
      <vt:lpstr>Manhattan Distance</vt:lpstr>
      <vt:lpstr>Minkowski Distance</vt:lpstr>
      <vt:lpstr>Use of Distance Metrics</vt:lpstr>
      <vt:lpstr>Covariance</vt:lpstr>
      <vt:lpstr>Correlation</vt:lpstr>
      <vt:lpstr>Hypothesis Testing &amp;</vt:lpstr>
      <vt:lpstr>Hypothesis Testing</vt:lpstr>
      <vt:lpstr>Types of Hypothesis</vt:lpstr>
      <vt:lpstr>Null Hypothesis (H0)</vt:lpstr>
      <vt:lpstr>Alternate Hypothesis (HA)/(H1)</vt:lpstr>
      <vt:lpstr>Hypothesis Testing – Case Discussion</vt:lpstr>
      <vt:lpstr>Type I and Type II Error</vt:lpstr>
      <vt:lpstr>p –Value</vt:lpstr>
      <vt:lpstr>Critical Region</vt:lpstr>
      <vt:lpstr>Cases Of Critical Region</vt:lpstr>
      <vt:lpstr>Process of Hypothesis Testing</vt:lpstr>
      <vt:lpstr>Types of Hypothesis Tests</vt:lpstr>
      <vt:lpstr>Applications of Hypothesis Testing</vt:lpstr>
      <vt:lpstr>Hypothesis Tests:-Parametric</vt:lpstr>
      <vt:lpstr>Hypothesis Tests:-Non Parametric</vt:lpstr>
      <vt:lpstr>T-test</vt:lpstr>
      <vt:lpstr>T-test</vt:lpstr>
      <vt:lpstr>T-test</vt:lpstr>
      <vt:lpstr>Paired T-test</vt:lpstr>
      <vt:lpstr>One-Way ANOVA</vt:lpstr>
      <vt:lpstr>One-Way ANOVA</vt:lpstr>
      <vt:lpstr>Chi-Square Test</vt:lpstr>
      <vt:lpstr>The chi-squared value for the given contingency table is 0.257 Significance level is 0.05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Essentials</dc:title>
  <cp:lastModifiedBy>Tejashree Kumar</cp:lastModifiedBy>
  <cp:revision>4</cp:revision>
  <dcterms:created xsi:type="dcterms:W3CDTF">2026-06-01T08:22:06Z</dcterms:created>
  <dcterms:modified xsi:type="dcterms:W3CDTF">2026-06-04T11:13:49Z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2026-06-01T00:00:00Z</vt:filetime>
  </property>
  <property fmtid="{D5CDD505-2E9C-101B-9397-08002B2CF9AE}" pid="5" name="Producer">
    <vt:lpwstr>www.ilovepdf.com</vt:lpwstr>
  </property>
</Properties>
</file>